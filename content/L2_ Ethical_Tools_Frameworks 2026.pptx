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2"/>
  </p:notesMasterIdLst>
  <p:sldIdLst>
    <p:sldId id="256" r:id="rId2"/>
    <p:sldId id="305" r:id="rId3"/>
    <p:sldId id="395" r:id="rId4"/>
    <p:sldId id="347" r:id="rId5"/>
    <p:sldId id="389" r:id="rId6"/>
    <p:sldId id="391" r:id="rId7"/>
    <p:sldId id="392" r:id="rId8"/>
    <p:sldId id="350" r:id="rId9"/>
    <p:sldId id="354" r:id="rId10"/>
    <p:sldId id="355" r:id="rId11"/>
    <p:sldId id="356" r:id="rId12"/>
    <p:sldId id="357" r:id="rId13"/>
    <p:sldId id="377" r:id="rId14"/>
    <p:sldId id="358" r:id="rId15"/>
    <p:sldId id="360" r:id="rId16"/>
    <p:sldId id="393" r:id="rId17"/>
    <p:sldId id="361" r:id="rId18"/>
    <p:sldId id="397" r:id="rId19"/>
    <p:sldId id="362" r:id="rId20"/>
    <p:sldId id="365" r:id="rId21"/>
    <p:sldId id="366" r:id="rId22"/>
    <p:sldId id="363" r:id="rId23"/>
    <p:sldId id="364" r:id="rId24"/>
    <p:sldId id="349" r:id="rId25"/>
    <p:sldId id="351" r:id="rId26"/>
    <p:sldId id="394" r:id="rId27"/>
    <p:sldId id="352" r:id="rId28"/>
    <p:sldId id="353" r:id="rId29"/>
    <p:sldId id="367" r:id="rId30"/>
    <p:sldId id="368" r:id="rId31"/>
    <p:sldId id="369" r:id="rId32"/>
    <p:sldId id="370" r:id="rId33"/>
    <p:sldId id="396" r:id="rId34"/>
    <p:sldId id="400" r:id="rId35"/>
    <p:sldId id="401" r:id="rId36"/>
    <p:sldId id="402" r:id="rId37"/>
    <p:sldId id="375" r:id="rId38"/>
    <p:sldId id="387" r:id="rId39"/>
    <p:sldId id="403" r:id="rId40"/>
    <p:sldId id="299"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212121"/>
    <a:srgbClr val="424242"/>
    <a:srgbClr val="EBEBEB"/>
    <a:srgbClr val="A810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2955"/>
    <p:restoredTop sz="84665"/>
  </p:normalViewPr>
  <p:slideViewPr>
    <p:cSldViewPr snapToGrid="0" snapToObjects="1">
      <p:cViewPr varScale="1">
        <p:scale>
          <a:sx n="86" d="100"/>
          <a:sy n="86" d="100"/>
        </p:scale>
        <p:origin x="216"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04CC4-CA7B-CF47-B367-2DB2A964BE5A}" type="datetimeFigureOut">
              <a:rPr lang="en-IE" smtClean="0"/>
              <a:t>05/02/2026</a:t>
            </a:fld>
            <a:endParaRPr lang="en-I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ED25D2-51EC-3942-AF1A-495249E301F1}" type="slidenum">
              <a:rPr lang="en-IE" smtClean="0"/>
              <a:t>‹#›</a:t>
            </a:fld>
            <a:endParaRPr lang="en-IE"/>
          </a:p>
        </p:txBody>
      </p:sp>
    </p:spTree>
    <p:extLst>
      <p:ext uri="{BB962C8B-B14F-4D97-AF65-F5344CB8AC3E}">
        <p14:creationId xmlns:p14="http://schemas.microsoft.com/office/powerpoint/2010/main" val="1418397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ctr"/>
          <a:lstStyle>
            <a:lvl1pPr marL="11113" indent="0" algn="ctr">
              <a:tabLst/>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05/02/2026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9969896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50000"/>
            </a:schemeClr>
          </a:solidFill>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05/02/2026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8322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EE69FE-388F-5D4C-A4DC-9C723CDC16BB}" type="datetimeFigureOut">
              <a:rPr lang="en-IE" smtClean="0"/>
              <a:t>05/02/2026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633555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EE69FE-388F-5D4C-A4DC-9C723CDC16BB}" type="datetimeFigureOut">
              <a:rPr lang="en-IE" smtClean="0"/>
              <a:t>05/02/2026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949249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EE69FE-388F-5D4C-A4DC-9C723CDC16BB}" type="datetimeFigureOut">
              <a:rPr lang="en-IE" smtClean="0"/>
              <a:t>05/02/2026</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74013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EE69FE-388F-5D4C-A4DC-9C723CDC16BB}" type="datetimeFigureOut">
              <a:rPr lang="en-IE" smtClean="0"/>
              <a:t>05/02/2026</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60343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EE69FE-388F-5D4C-A4DC-9C723CDC16BB}" type="datetimeFigureOut">
              <a:rPr lang="en-IE" smtClean="0"/>
              <a:t>05/02/2026</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393790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EE69FE-388F-5D4C-A4DC-9C723CDC16BB}" type="datetimeFigureOut">
              <a:rPr lang="en-IE" smtClean="0"/>
              <a:t>05/02/2026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2041867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EE69FE-388F-5D4C-A4DC-9C723CDC16BB}" type="datetimeFigureOut">
              <a:rPr lang="en-IE" smtClean="0"/>
              <a:t>05/02/2026</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879183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05/02/2026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747391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EE69FE-388F-5D4C-A4DC-9C723CDC16BB}" type="datetimeFigureOut">
              <a:rPr lang="en-IE" smtClean="0"/>
              <a:t>05/02/2026</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88FC98B2-182F-0F4F-9C10-BF49F2475135}" type="slidenum">
              <a:rPr lang="en-IE" smtClean="0"/>
              <a:t>‹#›</a:t>
            </a:fld>
            <a:endParaRPr lang="en-IE"/>
          </a:p>
        </p:txBody>
      </p:sp>
    </p:spTree>
    <p:extLst>
      <p:ext uri="{BB962C8B-B14F-4D97-AF65-F5344CB8AC3E}">
        <p14:creationId xmlns:p14="http://schemas.microsoft.com/office/powerpoint/2010/main" val="1568773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1325563"/>
          </a:xfrm>
          <a:prstGeom prst="rect">
            <a:avLst/>
          </a:prstGeom>
          <a:solidFill>
            <a:srgbClr val="424242"/>
          </a:solidFill>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EE69FE-388F-5D4C-A4DC-9C723CDC16BB}" type="datetimeFigureOut">
              <a:rPr lang="en-IE" smtClean="0"/>
              <a:t>05/02/2026</a:t>
            </a:fld>
            <a:endParaRPr lang="en-IE"/>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FC98B2-182F-0F4F-9C10-BF49F2475135}" type="slidenum">
              <a:rPr lang="en-IE" smtClean="0"/>
              <a:t>‹#›</a:t>
            </a:fld>
            <a:endParaRPr lang="en-IE"/>
          </a:p>
        </p:txBody>
      </p:sp>
    </p:spTree>
    <p:extLst>
      <p:ext uri="{BB962C8B-B14F-4D97-AF65-F5344CB8AC3E}">
        <p14:creationId xmlns:p14="http://schemas.microsoft.com/office/powerpoint/2010/main" val="19878860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542925" indent="-7938" algn="l" defTabSz="914400" rtl="0" eaLnBrk="1" latinLnBrk="0" hangingPunct="1">
        <a:lnSpc>
          <a:spcPct val="90000"/>
        </a:lnSpc>
        <a:spcBef>
          <a:spcPct val="0"/>
        </a:spcBef>
        <a:buNone/>
        <a:tabLst/>
        <a:defRPr sz="4400" b="0" i="0" kern="1200">
          <a:solidFill>
            <a:srgbClr val="EBEBEB"/>
          </a:solidFill>
          <a:latin typeface="Helvetica Neue Medium" charset="0"/>
          <a:ea typeface="Helvetica Neue Medium" charset="0"/>
          <a:cs typeface="Helvetica Neue Medium" charset="0"/>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b="0" i="0" kern="1200">
          <a:solidFill>
            <a:srgbClr val="212121"/>
          </a:solidFill>
          <a:latin typeface="Helvetica Neue Thin" charset="0"/>
          <a:ea typeface="Helvetica Neue Thin" charset="0"/>
          <a:cs typeface="Helvetica Neue Thin" charset="0"/>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rgbClr val="212121"/>
          </a:solidFill>
          <a:latin typeface="Helvetica Neue Thin" charset="0"/>
          <a:ea typeface="Helvetica Neue Thin" charset="0"/>
          <a:cs typeface="Helvetica Neue Thin" charset="0"/>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rgbClr val="212121"/>
          </a:solidFill>
          <a:latin typeface="Helvetica Neue Thin" charset="0"/>
          <a:ea typeface="Helvetica Neue Thin" charset="0"/>
          <a:cs typeface="Helvetica Neue Thin" charset="0"/>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rgbClr val="212121"/>
          </a:solidFill>
          <a:latin typeface="Helvetica Neue Thin" charset="0"/>
          <a:ea typeface="Helvetica Neue Thin" charset="0"/>
          <a:cs typeface="Helvetica Neue Thin" charset="0"/>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rgbClr val="212121"/>
          </a:solidFill>
          <a:latin typeface="Helvetica Neue Thin" charset="0"/>
          <a:ea typeface="Helvetica Neue Thin" charset="0"/>
          <a:cs typeface="Helvetica Neue Thin"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linkedin.com/learning/ethics-and-law-in-data-analytics/ethical-foundations-part-3?u=56744273"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www.mccormick.northwestern.edu/research/engineering-education-research-center/"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bbc.com/reel/video/p0bqvs1f/the-philosophy-that-can-change-how-you-look-at-life"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ted.com/talks/eleanor_nelsen_would_you_sacrifice_one_person_to_save_five?language=en" TargetMode="External"/><Relationship Id="rId2" Type="http://schemas.openxmlformats.org/officeDocument/2006/relationships/hyperlink" Target="https://www.ted.com/talks/eleanor_nelsen_would_you_sacrifice_one_person_to_save_five?language=en#t-275041"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youtube.com/watch?v=HDfr8PvfoOw"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plato.stanford.edu/entries/kant-moral/" TargetMode="External"/><Relationship Id="rId2" Type="http://schemas.openxmlformats.org/officeDocument/2006/relationships/hyperlink" Target="https://www.soas.ac.uk/cedep-demos/000_P563_EED_K3736-Demo/module/pdfs/p563_unit_01.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solidFill>
            <a:schemeClr val="accent1">
              <a:lumMod val="50000"/>
            </a:schemeClr>
          </a:solidFill>
        </p:spPr>
        <p:txBody>
          <a:bodyPr>
            <a:normAutofit/>
          </a:bodyPr>
          <a:lstStyle/>
          <a:p>
            <a:pPr algn="l"/>
            <a:r>
              <a:rPr lang="en-US" dirty="0"/>
              <a:t>Data Management</a:t>
            </a:r>
            <a:br>
              <a:rPr lang="en-US" dirty="0"/>
            </a:br>
            <a:r>
              <a:rPr lang="en-US" sz="3600" dirty="0"/>
              <a:t>Ethical Theory and Frameworks</a:t>
            </a:r>
            <a:endParaRPr lang="en-IE" dirty="0"/>
          </a:p>
        </p:txBody>
      </p:sp>
      <p:sp>
        <p:nvSpPr>
          <p:cNvPr id="3" name="Subtitle 2"/>
          <p:cNvSpPr>
            <a:spLocks noGrp="1"/>
          </p:cNvSpPr>
          <p:nvPr>
            <p:ph type="subTitle" idx="1"/>
          </p:nvPr>
        </p:nvSpPr>
        <p:spPr>
          <a:xfrm>
            <a:off x="685800" y="4340352"/>
            <a:ext cx="6858000" cy="1719071"/>
          </a:xfrm>
        </p:spPr>
        <p:txBody>
          <a:bodyPr>
            <a:normAutofit/>
          </a:bodyPr>
          <a:lstStyle/>
          <a:p>
            <a:pPr algn="l"/>
            <a:r>
              <a:rPr lang="en-US" altLang="en-US" dirty="0"/>
              <a:t> </a:t>
            </a:r>
          </a:p>
          <a:p>
            <a:pPr algn="l"/>
            <a:r>
              <a:rPr lang="en-IE" dirty="0"/>
              <a:t>Dr Emma Murphy</a:t>
            </a:r>
          </a:p>
          <a:p>
            <a:pPr algn="l"/>
            <a:r>
              <a:rPr lang="en-IE" dirty="0"/>
              <a:t>Week 2/3, January 2026</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2959" y="4092689"/>
            <a:ext cx="2539314" cy="1398322"/>
          </a:xfrm>
          <a:prstGeom prst="rect">
            <a:avLst/>
          </a:prstGeom>
        </p:spPr>
      </p:pic>
    </p:spTree>
    <p:extLst>
      <p:ext uri="{BB962C8B-B14F-4D97-AF65-F5344CB8AC3E}">
        <p14:creationId xmlns:p14="http://schemas.microsoft.com/office/powerpoint/2010/main" val="255036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24A8C-9961-3840-B968-5A3B82AB1A35}"/>
              </a:ext>
            </a:extLst>
          </p:cNvPr>
          <p:cNvSpPr>
            <a:spLocks noGrp="1"/>
          </p:cNvSpPr>
          <p:nvPr>
            <p:ph type="title"/>
          </p:nvPr>
        </p:nvSpPr>
        <p:spPr/>
        <p:txBody>
          <a:bodyPr/>
          <a:lstStyle/>
          <a:p>
            <a:r>
              <a:rPr lang="en-US" dirty="0"/>
              <a:t>Data Ethics</a:t>
            </a:r>
          </a:p>
        </p:txBody>
      </p:sp>
      <p:sp>
        <p:nvSpPr>
          <p:cNvPr id="3" name="Content Placeholder 2">
            <a:extLst>
              <a:ext uri="{FF2B5EF4-FFF2-40B4-BE49-F238E27FC236}">
                <a16:creationId xmlns:a16="http://schemas.microsoft.com/office/drawing/2014/main" id="{E1D4F1C1-829C-DA4E-8026-FFF6D7C60082}"/>
              </a:ext>
            </a:extLst>
          </p:cNvPr>
          <p:cNvSpPr>
            <a:spLocks noGrp="1"/>
          </p:cNvSpPr>
          <p:nvPr>
            <p:ph idx="1"/>
          </p:nvPr>
        </p:nvSpPr>
        <p:spPr/>
        <p:txBody>
          <a:bodyPr/>
          <a:lstStyle/>
          <a:p>
            <a:r>
              <a:rPr lang="en-US" dirty="0"/>
              <a:t>Ethics = the study of human well-being</a:t>
            </a:r>
          </a:p>
          <a:p>
            <a:endParaRPr lang="en-US" dirty="0"/>
          </a:p>
          <a:p>
            <a:r>
              <a:rPr lang="en-US" dirty="0"/>
              <a:t>Data ethics  = the study of how data affects human well-being (positive and negative)</a:t>
            </a:r>
          </a:p>
          <a:p>
            <a:endParaRPr lang="en-US" dirty="0"/>
          </a:p>
          <a:p>
            <a:r>
              <a:rPr lang="en-IE" dirty="0"/>
              <a:t>(</a:t>
            </a:r>
            <a:r>
              <a:rPr lang="en-IE" dirty="0" err="1"/>
              <a:t>Coloner</a:t>
            </a:r>
            <a:r>
              <a:rPr lang="en-IE" dirty="0"/>
              <a:t>, 2019)</a:t>
            </a:r>
            <a:endParaRPr lang="en-US" dirty="0"/>
          </a:p>
        </p:txBody>
      </p:sp>
      <p:sp>
        <p:nvSpPr>
          <p:cNvPr id="4" name="TextBox 3">
            <a:extLst>
              <a:ext uri="{FF2B5EF4-FFF2-40B4-BE49-F238E27FC236}">
                <a16:creationId xmlns:a16="http://schemas.microsoft.com/office/drawing/2014/main" id="{D54E8A1C-2F99-7D4D-A6F7-72B9B86844B9}"/>
              </a:ext>
            </a:extLst>
          </p:cNvPr>
          <p:cNvSpPr txBox="1"/>
          <p:nvPr/>
        </p:nvSpPr>
        <p:spPr>
          <a:xfrm>
            <a:off x="2159011" y="6400026"/>
            <a:ext cx="6984989" cy="276999"/>
          </a:xfrm>
          <a:prstGeom prst="rect">
            <a:avLst/>
          </a:prstGeom>
          <a:noFill/>
        </p:spPr>
        <p:txBody>
          <a:bodyPr wrap="none" rtlCol="0">
            <a:spAutoFit/>
          </a:bodyPr>
          <a:lstStyle/>
          <a:p>
            <a:r>
              <a:rPr lang="en-IE" sz="1200" dirty="0">
                <a:hlinkClick r:id="rId2"/>
              </a:rPr>
              <a:t>https://www.linkedin.com/learning/ethics-and-law-in-data-analytics/ethical-foundations-part-3?u=56744273</a:t>
            </a:r>
            <a:endParaRPr lang="en-US" sz="1200" dirty="0"/>
          </a:p>
        </p:txBody>
      </p:sp>
    </p:spTree>
    <p:extLst>
      <p:ext uri="{BB962C8B-B14F-4D97-AF65-F5344CB8AC3E}">
        <p14:creationId xmlns:p14="http://schemas.microsoft.com/office/powerpoint/2010/main" val="3964116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E6CF-77EA-45AC-8105-36CE9B9D5CA8}"/>
              </a:ext>
            </a:extLst>
          </p:cNvPr>
          <p:cNvSpPr>
            <a:spLocks noGrp="1"/>
          </p:cNvSpPr>
          <p:nvPr>
            <p:ph type="title"/>
          </p:nvPr>
        </p:nvSpPr>
        <p:spPr/>
        <p:txBody>
          <a:bodyPr/>
          <a:lstStyle/>
          <a:p>
            <a:r>
              <a:rPr lang="en-US" dirty="0"/>
              <a:t>Data Ethics</a:t>
            </a:r>
          </a:p>
        </p:txBody>
      </p:sp>
      <p:sp>
        <p:nvSpPr>
          <p:cNvPr id="3" name="Content Placeholder 2">
            <a:extLst>
              <a:ext uri="{FF2B5EF4-FFF2-40B4-BE49-F238E27FC236}">
                <a16:creationId xmlns:a16="http://schemas.microsoft.com/office/drawing/2014/main" id="{9A27FA6D-6DAE-BEBD-BF18-F2EC92C95A58}"/>
              </a:ext>
            </a:extLst>
          </p:cNvPr>
          <p:cNvSpPr>
            <a:spLocks noGrp="1"/>
          </p:cNvSpPr>
          <p:nvPr>
            <p:ph idx="1"/>
          </p:nvPr>
        </p:nvSpPr>
        <p:spPr/>
        <p:txBody>
          <a:bodyPr>
            <a:normAutofit/>
          </a:bodyPr>
          <a:lstStyle/>
          <a:p>
            <a:endParaRPr lang="en-US" dirty="0"/>
          </a:p>
          <a:p>
            <a:r>
              <a:rPr lang="en-US" dirty="0"/>
              <a:t>Data Impacts People – while certain data is highly personal or sensitive it is hard to think of examples of ANY data that does not impact people in some way.</a:t>
            </a:r>
          </a:p>
          <a:p>
            <a:endParaRPr lang="en-US" dirty="0"/>
          </a:p>
          <a:p>
            <a:endParaRPr lang="en-US" dirty="0"/>
          </a:p>
          <a:p>
            <a:endParaRPr lang="en-US" dirty="0"/>
          </a:p>
        </p:txBody>
      </p:sp>
    </p:spTree>
    <p:extLst>
      <p:ext uri="{BB962C8B-B14F-4D97-AF65-F5344CB8AC3E}">
        <p14:creationId xmlns:p14="http://schemas.microsoft.com/office/powerpoint/2010/main" val="16762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2491A-BFD6-1B42-A4CB-85389F5C58A7}"/>
              </a:ext>
            </a:extLst>
          </p:cNvPr>
          <p:cNvSpPr>
            <a:spLocks noGrp="1"/>
          </p:cNvSpPr>
          <p:nvPr>
            <p:ph type="title"/>
          </p:nvPr>
        </p:nvSpPr>
        <p:spPr/>
        <p:txBody>
          <a:bodyPr/>
          <a:lstStyle/>
          <a:p>
            <a:r>
              <a:rPr lang="en-US" dirty="0"/>
              <a:t>Ethics</a:t>
            </a:r>
          </a:p>
        </p:txBody>
      </p:sp>
      <p:sp>
        <p:nvSpPr>
          <p:cNvPr id="3" name="Content Placeholder 2">
            <a:extLst>
              <a:ext uri="{FF2B5EF4-FFF2-40B4-BE49-F238E27FC236}">
                <a16:creationId xmlns:a16="http://schemas.microsoft.com/office/drawing/2014/main" id="{06955901-B7FF-FB40-8343-BE30B4FD615C}"/>
              </a:ext>
            </a:extLst>
          </p:cNvPr>
          <p:cNvSpPr>
            <a:spLocks noGrp="1"/>
          </p:cNvSpPr>
          <p:nvPr>
            <p:ph idx="1"/>
          </p:nvPr>
        </p:nvSpPr>
        <p:spPr/>
        <p:txBody>
          <a:bodyPr/>
          <a:lstStyle/>
          <a:p>
            <a:r>
              <a:rPr lang="en-US" dirty="0"/>
              <a:t>﻿Ethics is concerned with describing or defining the ‘good’ and understanding how do we decide what is ‘good’.</a:t>
            </a:r>
          </a:p>
          <a:p>
            <a:endParaRPr lang="en-US" dirty="0"/>
          </a:p>
          <a:p>
            <a:pPr marL="0" indent="0">
              <a:buNone/>
            </a:pPr>
            <a:r>
              <a:rPr lang="en-US" dirty="0"/>
              <a:t>(O'Keefe and O’Brien, 2018) </a:t>
            </a:r>
          </a:p>
        </p:txBody>
      </p:sp>
    </p:spTree>
    <p:extLst>
      <p:ext uri="{BB962C8B-B14F-4D97-AF65-F5344CB8AC3E}">
        <p14:creationId xmlns:p14="http://schemas.microsoft.com/office/powerpoint/2010/main" val="3907839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ED950-BE6D-D548-AD0D-1DE2A8890749}"/>
              </a:ext>
            </a:extLst>
          </p:cNvPr>
          <p:cNvSpPr>
            <a:spLocks noGrp="1"/>
          </p:cNvSpPr>
          <p:nvPr>
            <p:ph type="title"/>
          </p:nvPr>
        </p:nvSpPr>
        <p:spPr/>
        <p:txBody>
          <a:bodyPr/>
          <a:lstStyle/>
          <a:p>
            <a:r>
              <a:rPr lang="en-US" dirty="0"/>
              <a:t>Ethical Theory</a:t>
            </a:r>
          </a:p>
        </p:txBody>
      </p:sp>
      <p:sp>
        <p:nvSpPr>
          <p:cNvPr id="3" name="Content Placeholder 2">
            <a:extLst>
              <a:ext uri="{FF2B5EF4-FFF2-40B4-BE49-F238E27FC236}">
                <a16:creationId xmlns:a16="http://schemas.microsoft.com/office/drawing/2014/main" id="{AC8DDCDF-8715-7A48-B2FA-E49584677A7A}"/>
              </a:ext>
            </a:extLst>
          </p:cNvPr>
          <p:cNvSpPr>
            <a:spLocks noGrp="1"/>
          </p:cNvSpPr>
          <p:nvPr>
            <p:ph idx="1"/>
          </p:nvPr>
        </p:nvSpPr>
        <p:spPr/>
        <p:txBody>
          <a:bodyPr>
            <a:normAutofit fontScale="92500" lnSpcReduction="10000"/>
          </a:bodyPr>
          <a:lstStyle/>
          <a:p>
            <a:r>
              <a:rPr lang="en-US"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rPr>
              <a:t>Questions we might want an ethical theory to answer for us:</a:t>
            </a:r>
          </a:p>
          <a:p>
            <a:pPr lvl="1"/>
            <a:r>
              <a:rPr lang="en-US"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rPr>
              <a:t>Which acts are right and which are wrong? Which acts “ought”(morally) we to perform</a:t>
            </a:r>
          </a:p>
          <a:p>
            <a:pPr lvl="1"/>
            <a:r>
              <a:rPr lang="en-US"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rPr>
              <a:t>Who is part of our moral community? Towards whom (or what) do we have moral 	duties and obligations? (Some/all other humans? Animals? Ecological systems? Androids/computers?)</a:t>
            </a:r>
          </a:p>
          <a:p>
            <a:pPr lvl="1"/>
            <a:r>
              <a:rPr lang="en-US"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rPr>
              <a:t>How do moral ‘</a:t>
            </a:r>
            <a:r>
              <a:rPr lang="en-US" dirty="0" err="1">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rPr>
              <a:t>oughts</a:t>
            </a:r>
            <a:r>
              <a:rPr lang="en-US"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rPr>
              <a:t>’ interact with other reasons for action? Do they always “trump” other reasons?</a:t>
            </a:r>
            <a:endParaRPr lang="en-US" sz="3200"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endParaRPr>
          </a:p>
          <a:p>
            <a:pPr lvl="1"/>
            <a:endParaRPr lang="en-IE" sz="1600"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endParaRPr>
          </a:p>
          <a:p>
            <a:endParaRPr lang="en-IE" sz="2000"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endParaRPr>
          </a:p>
          <a:p>
            <a:endParaRPr lang="en-IE" sz="2000"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endParaRPr>
          </a:p>
          <a:p>
            <a:endParaRPr lang="en-US" dirty="0">
              <a:solidFill>
                <a:schemeClr val="tx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3119672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73BC-9603-B54D-9B0B-2BE02EB3D36B}"/>
              </a:ext>
            </a:extLst>
          </p:cNvPr>
          <p:cNvSpPr>
            <a:spLocks noGrp="1"/>
          </p:cNvSpPr>
          <p:nvPr>
            <p:ph type="title"/>
          </p:nvPr>
        </p:nvSpPr>
        <p:spPr/>
        <p:txBody>
          <a:bodyPr/>
          <a:lstStyle/>
          <a:p>
            <a:r>
              <a:rPr lang="en-US" dirty="0"/>
              <a:t>Ethical Theory</a:t>
            </a:r>
          </a:p>
        </p:txBody>
      </p:sp>
      <p:sp>
        <p:nvSpPr>
          <p:cNvPr id="3" name="Content Placeholder 2">
            <a:extLst>
              <a:ext uri="{FF2B5EF4-FFF2-40B4-BE49-F238E27FC236}">
                <a16:creationId xmlns:a16="http://schemas.microsoft.com/office/drawing/2014/main" id="{A02DEA27-A033-D144-AF93-226A209D2830}"/>
              </a:ext>
            </a:extLst>
          </p:cNvPr>
          <p:cNvSpPr>
            <a:spLocks noGrp="1"/>
          </p:cNvSpPr>
          <p:nvPr>
            <p:ph idx="1"/>
          </p:nvPr>
        </p:nvSpPr>
        <p:spPr/>
        <p:txBody>
          <a:bodyPr>
            <a:normAutofit/>
          </a:bodyPr>
          <a:lstStyle/>
          <a:p>
            <a:r>
              <a:rPr lang="en-US" dirty="0"/>
              <a:t>What makes a particular action right or wrong? </a:t>
            </a:r>
          </a:p>
          <a:p>
            <a:endParaRPr lang="en-US" dirty="0"/>
          </a:p>
          <a:p>
            <a:r>
              <a:rPr lang="en-US" dirty="0"/>
              <a:t>What is it about the action that determines its moral status?</a:t>
            </a:r>
          </a:p>
          <a:p>
            <a:r>
              <a:rPr lang="en-US" dirty="0"/>
              <a:t>How do we know what is right and wrong?</a:t>
            </a:r>
          </a:p>
          <a:p>
            <a:r>
              <a:rPr lang="en-US" dirty="0"/>
              <a:t>What, if anything, motivates us to do what is right?</a:t>
            </a:r>
          </a:p>
          <a:p>
            <a:endParaRPr lang="en-US" dirty="0"/>
          </a:p>
          <a:p>
            <a:endParaRPr lang="en-US" dirty="0"/>
          </a:p>
        </p:txBody>
      </p:sp>
      <p:sp>
        <p:nvSpPr>
          <p:cNvPr id="4" name="TextBox 3">
            <a:extLst>
              <a:ext uri="{FF2B5EF4-FFF2-40B4-BE49-F238E27FC236}">
                <a16:creationId xmlns:a16="http://schemas.microsoft.com/office/drawing/2014/main" id="{63EA1EEE-BDCB-E941-B769-5C04A9A62DE8}"/>
              </a:ext>
            </a:extLst>
          </p:cNvPr>
          <p:cNvSpPr txBox="1"/>
          <p:nvPr/>
        </p:nvSpPr>
        <p:spPr>
          <a:xfrm>
            <a:off x="628650" y="6176963"/>
            <a:ext cx="8488349" cy="646331"/>
          </a:xfrm>
          <a:prstGeom prst="rect">
            <a:avLst/>
          </a:prstGeom>
          <a:noFill/>
        </p:spPr>
        <p:txBody>
          <a:bodyPr wrap="square" rtlCol="0">
            <a:spAutoFit/>
          </a:bodyPr>
          <a:lstStyle/>
          <a:p>
            <a:r>
              <a:rPr lang="en-IE" sz="1200" dirty="0">
                <a:latin typeface="Courier New" panose="02070309020205020404" pitchFamily="49" charset="0"/>
                <a:cs typeface="Courier New" panose="02070309020205020404" pitchFamily="49" charset="0"/>
              </a:rPr>
              <a:t>Sources: </a:t>
            </a:r>
          </a:p>
          <a:p>
            <a:r>
              <a:rPr lang="en-IE" sz="1200" dirty="0" err="1"/>
              <a:t>Haslanger</a:t>
            </a:r>
            <a:r>
              <a:rPr lang="en-IE" sz="1200" dirty="0"/>
              <a:t>, S. (2012). 24.03 Good Food: The Ethics and Politics of Food Choices, Fall 2012.</a:t>
            </a:r>
          </a:p>
          <a:p>
            <a:endParaRPr lang="en-US" sz="1200" dirty="0"/>
          </a:p>
        </p:txBody>
      </p:sp>
    </p:spTree>
    <p:extLst>
      <p:ext uri="{BB962C8B-B14F-4D97-AF65-F5344CB8AC3E}">
        <p14:creationId xmlns:p14="http://schemas.microsoft.com/office/powerpoint/2010/main" val="3692178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DF4ED-B479-E84B-A25E-F95FEB06FD99}"/>
              </a:ext>
            </a:extLst>
          </p:cNvPr>
          <p:cNvSpPr>
            <a:spLocks noGrp="1"/>
          </p:cNvSpPr>
          <p:nvPr>
            <p:ph type="title"/>
          </p:nvPr>
        </p:nvSpPr>
        <p:spPr/>
        <p:txBody>
          <a:bodyPr/>
          <a:lstStyle/>
          <a:p>
            <a:r>
              <a:rPr lang="en-US" dirty="0"/>
              <a:t>Normative Ethics</a:t>
            </a:r>
          </a:p>
        </p:txBody>
      </p:sp>
      <p:sp>
        <p:nvSpPr>
          <p:cNvPr id="3" name="Content Placeholder 2">
            <a:extLst>
              <a:ext uri="{FF2B5EF4-FFF2-40B4-BE49-F238E27FC236}">
                <a16:creationId xmlns:a16="http://schemas.microsoft.com/office/drawing/2014/main" id="{A487B2D3-3D54-CD4E-BC85-4A0B9B219499}"/>
              </a:ext>
            </a:extLst>
          </p:cNvPr>
          <p:cNvSpPr>
            <a:spLocks noGrp="1"/>
          </p:cNvSpPr>
          <p:nvPr>
            <p:ph idx="1"/>
          </p:nvPr>
        </p:nvSpPr>
        <p:spPr/>
        <p:txBody>
          <a:bodyPr/>
          <a:lstStyle/>
          <a:p>
            <a:r>
              <a:rPr lang="en-US" dirty="0"/>
              <a:t>Normative ethics seeks to set norms or standards for conduct about what one ought to do, questions about what morality requires/permits us to do, and what is morally valuable and it has been a central part of Western ethics since ancient times.</a:t>
            </a:r>
          </a:p>
          <a:p>
            <a:endParaRPr lang="en-US" dirty="0"/>
          </a:p>
          <a:p>
            <a:endParaRPr lang="en-US" dirty="0"/>
          </a:p>
        </p:txBody>
      </p:sp>
    </p:spTree>
    <p:extLst>
      <p:ext uri="{BB962C8B-B14F-4D97-AF65-F5344CB8AC3E}">
        <p14:creationId xmlns:p14="http://schemas.microsoft.com/office/powerpoint/2010/main" val="2917630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9944-29D8-124C-B84C-17CCAB7B21A6}"/>
              </a:ext>
            </a:extLst>
          </p:cNvPr>
          <p:cNvSpPr>
            <a:spLocks noGrp="1"/>
          </p:cNvSpPr>
          <p:nvPr>
            <p:ph type="title"/>
          </p:nvPr>
        </p:nvSpPr>
        <p:spPr/>
        <p:txBody>
          <a:bodyPr/>
          <a:lstStyle/>
          <a:p>
            <a:r>
              <a:rPr lang="en-IE" dirty="0"/>
              <a:t>Deontological ethics</a:t>
            </a:r>
            <a:endParaRPr lang="en-US" dirty="0"/>
          </a:p>
        </p:txBody>
      </p:sp>
      <p:sp>
        <p:nvSpPr>
          <p:cNvPr id="3" name="Content Placeholder 2">
            <a:extLst>
              <a:ext uri="{FF2B5EF4-FFF2-40B4-BE49-F238E27FC236}">
                <a16:creationId xmlns:a16="http://schemas.microsoft.com/office/drawing/2014/main" id="{D82BCE50-E542-9E40-BA25-0237F34A6A0B}"/>
              </a:ext>
            </a:extLst>
          </p:cNvPr>
          <p:cNvSpPr>
            <a:spLocks noGrp="1"/>
          </p:cNvSpPr>
          <p:nvPr>
            <p:ph idx="1"/>
          </p:nvPr>
        </p:nvSpPr>
        <p:spPr/>
        <p:txBody>
          <a:bodyPr>
            <a:normAutofit/>
          </a:bodyPr>
          <a:lstStyle/>
          <a:p>
            <a:r>
              <a:rPr lang="en-US" dirty="0"/>
              <a:t>The word deontological is derived from the Greek word </a:t>
            </a:r>
            <a:r>
              <a:rPr lang="en-US" dirty="0" err="1"/>
              <a:t>deon</a:t>
            </a:r>
            <a:r>
              <a:rPr lang="en-US" dirty="0"/>
              <a:t>, meaning ‘duty’. It is concerned with right action – in other words, with doing the right thing simply because it is the right thing to do. Deontological theories focus on whether ethical decisions per se are right or wrong, regardless of the consequences or intentions of those ethical decisions. (SOAS, 2015).</a:t>
            </a:r>
          </a:p>
        </p:txBody>
      </p:sp>
    </p:spTree>
    <p:extLst>
      <p:ext uri="{BB962C8B-B14F-4D97-AF65-F5344CB8AC3E}">
        <p14:creationId xmlns:p14="http://schemas.microsoft.com/office/powerpoint/2010/main" val="2268913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CEA9B-4F5F-6E4F-ACA4-7EAA33FAC0AE}"/>
              </a:ext>
            </a:extLst>
          </p:cNvPr>
          <p:cNvSpPr>
            <a:spLocks noGrp="1"/>
          </p:cNvSpPr>
          <p:nvPr>
            <p:ph type="title"/>
          </p:nvPr>
        </p:nvSpPr>
        <p:spPr/>
        <p:txBody>
          <a:bodyPr/>
          <a:lstStyle/>
          <a:p>
            <a:r>
              <a:rPr lang="en-IE" dirty="0"/>
              <a:t>Deontological ethics</a:t>
            </a:r>
            <a:endParaRPr lang="en-US" dirty="0"/>
          </a:p>
        </p:txBody>
      </p:sp>
      <p:sp>
        <p:nvSpPr>
          <p:cNvPr id="3" name="Content Placeholder 2">
            <a:extLst>
              <a:ext uri="{FF2B5EF4-FFF2-40B4-BE49-F238E27FC236}">
                <a16:creationId xmlns:a16="http://schemas.microsoft.com/office/drawing/2014/main" id="{C2CCF88D-0D80-F149-83F4-244AECCFB2C1}"/>
              </a:ext>
            </a:extLst>
          </p:cNvPr>
          <p:cNvSpPr>
            <a:spLocks noGrp="1"/>
          </p:cNvSpPr>
          <p:nvPr>
            <p:ph idx="1"/>
          </p:nvPr>
        </p:nvSpPr>
        <p:spPr/>
        <p:txBody>
          <a:bodyPr>
            <a:normAutofit fontScale="92500"/>
          </a:bodyPr>
          <a:lstStyle/>
          <a:p>
            <a:r>
              <a:rPr lang="en-US" dirty="0"/>
              <a:t>This reasoning is founded on the desirability of principle (usually duties or rights) to act in a given </a:t>
            </a:r>
          </a:p>
          <a:p>
            <a:pPr marL="0" indent="0">
              <a:buNone/>
            </a:pPr>
            <a:r>
              <a:rPr lang="en-US" dirty="0"/>
              <a:t>situation. The two main non-consequentialist theories are </a:t>
            </a:r>
            <a:r>
              <a:rPr lang="en-US" b="1" dirty="0"/>
              <a:t>ethics of duties </a:t>
            </a:r>
            <a:r>
              <a:rPr lang="en-US" dirty="0"/>
              <a:t>and </a:t>
            </a:r>
            <a:r>
              <a:rPr lang="en-US" b="1" dirty="0"/>
              <a:t>ethics of rights and justice</a:t>
            </a:r>
            <a:r>
              <a:rPr lang="en-US" dirty="0"/>
              <a:t>. Both of these are rooted in assumptions about universal rights and wrongs and responsibilities.</a:t>
            </a:r>
          </a:p>
          <a:p>
            <a:endParaRPr lang="en-US" dirty="0"/>
          </a:p>
          <a:p>
            <a:r>
              <a:rPr lang="en-US" dirty="0"/>
              <a:t>(SOAS, 2015) </a:t>
            </a:r>
          </a:p>
        </p:txBody>
      </p:sp>
    </p:spTree>
    <p:extLst>
      <p:ext uri="{BB962C8B-B14F-4D97-AF65-F5344CB8AC3E}">
        <p14:creationId xmlns:p14="http://schemas.microsoft.com/office/powerpoint/2010/main" val="818541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7C83C-AF79-BF47-805C-E2685E30FAEB}"/>
              </a:ext>
            </a:extLst>
          </p:cNvPr>
          <p:cNvSpPr>
            <a:spLocks noGrp="1"/>
          </p:cNvSpPr>
          <p:nvPr>
            <p:ph type="title"/>
          </p:nvPr>
        </p:nvSpPr>
        <p:spPr/>
        <p:txBody>
          <a:bodyPr/>
          <a:lstStyle/>
          <a:p>
            <a:r>
              <a:rPr lang="en-IE" dirty="0"/>
              <a:t>Deontological ethics</a:t>
            </a:r>
            <a:endParaRPr lang="en-US" dirty="0"/>
          </a:p>
        </p:txBody>
      </p:sp>
      <p:sp>
        <p:nvSpPr>
          <p:cNvPr id="3" name="Content Placeholder 2">
            <a:extLst>
              <a:ext uri="{FF2B5EF4-FFF2-40B4-BE49-F238E27FC236}">
                <a16:creationId xmlns:a16="http://schemas.microsoft.com/office/drawing/2014/main" id="{D1AEA0A2-8778-2842-B615-E68EC73C0C02}"/>
              </a:ext>
            </a:extLst>
          </p:cNvPr>
          <p:cNvSpPr>
            <a:spLocks noGrp="1"/>
          </p:cNvSpPr>
          <p:nvPr>
            <p:ph idx="1"/>
          </p:nvPr>
        </p:nvSpPr>
        <p:spPr/>
        <p:txBody>
          <a:bodyPr/>
          <a:lstStyle/>
          <a:p>
            <a:r>
              <a:rPr lang="en-IE" dirty="0"/>
              <a:t>This means that people who promote these types of ethical principles usually believe that they should be applied to everyone, everywhere in the world. If a child in one country has a right to an education, then this means that all children, everyone in the world, should have a right to an education</a:t>
            </a:r>
          </a:p>
          <a:p>
            <a:r>
              <a:rPr lang="en-US" dirty="0"/>
              <a:t>(SOAS, 2015) </a:t>
            </a:r>
          </a:p>
          <a:p>
            <a:endParaRPr lang="en-US" dirty="0"/>
          </a:p>
        </p:txBody>
      </p:sp>
    </p:spTree>
    <p:extLst>
      <p:ext uri="{BB962C8B-B14F-4D97-AF65-F5344CB8AC3E}">
        <p14:creationId xmlns:p14="http://schemas.microsoft.com/office/powerpoint/2010/main" val="3913538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FCFDC-0F00-A247-BF27-7813A5F0B33A}"/>
              </a:ext>
            </a:extLst>
          </p:cNvPr>
          <p:cNvSpPr>
            <a:spLocks noGrp="1"/>
          </p:cNvSpPr>
          <p:nvPr>
            <p:ph type="title"/>
          </p:nvPr>
        </p:nvSpPr>
        <p:spPr/>
        <p:txBody>
          <a:bodyPr/>
          <a:lstStyle/>
          <a:p>
            <a:r>
              <a:rPr lang="en-US" dirty="0"/>
              <a:t>The Universal Declaration of Human Rights</a:t>
            </a:r>
          </a:p>
        </p:txBody>
      </p:sp>
      <p:sp>
        <p:nvSpPr>
          <p:cNvPr id="3" name="Content Placeholder 2">
            <a:extLst>
              <a:ext uri="{FF2B5EF4-FFF2-40B4-BE49-F238E27FC236}">
                <a16:creationId xmlns:a16="http://schemas.microsoft.com/office/drawing/2014/main" id="{83FBE75C-45AA-BD42-BDB5-67DFD7A6889F}"/>
              </a:ext>
            </a:extLst>
          </p:cNvPr>
          <p:cNvSpPr>
            <a:spLocks noGrp="1"/>
          </p:cNvSpPr>
          <p:nvPr>
            <p:ph idx="1"/>
          </p:nvPr>
        </p:nvSpPr>
        <p:spPr/>
        <p:txBody>
          <a:bodyPr>
            <a:noAutofit/>
          </a:bodyPr>
          <a:lstStyle/>
          <a:p>
            <a:r>
              <a:rPr lang="en-US" sz="2400" dirty="0"/>
              <a:t>Article 2: The Universal Declaration of Human Rights ‘Everyone is entitled to all the rights and freedoms set forth in this Declaration, without distinction of any kind, such as race, </a:t>
            </a:r>
            <a:r>
              <a:rPr lang="en-US" sz="2400" dirty="0" err="1"/>
              <a:t>colour</a:t>
            </a:r>
            <a:r>
              <a:rPr lang="en-US" sz="2400" dirty="0"/>
              <a:t>, sex, language, religion, political or other opinion, national or social origin, property, birth or other status. Furthermore, no distinction shall be made on the basis of the political, jurisdictional or international status of the country or territory to which a person belongs, whether it be independent, trust, non-self-governing or under any other limitation of sovereignty.’</a:t>
            </a:r>
          </a:p>
        </p:txBody>
      </p:sp>
    </p:spTree>
    <p:extLst>
      <p:ext uri="{BB962C8B-B14F-4D97-AF65-F5344CB8AC3E}">
        <p14:creationId xmlns:p14="http://schemas.microsoft.com/office/powerpoint/2010/main" val="1114338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8C62A-187C-004B-9A3B-3604B7D1EB76}"/>
              </a:ext>
            </a:extLst>
          </p:cNvPr>
          <p:cNvSpPr>
            <a:spLocks noGrp="1"/>
          </p:cNvSpPr>
          <p:nvPr>
            <p:ph type="title"/>
          </p:nvPr>
        </p:nvSpPr>
        <p:spPr/>
        <p:txBody>
          <a:bodyPr/>
          <a:lstStyle/>
          <a:p>
            <a:r>
              <a:rPr lang="en-IE" dirty="0"/>
              <a:t>Deontological ethics - </a:t>
            </a:r>
            <a:r>
              <a:rPr lang="en-US" dirty="0"/>
              <a:t>Duties</a:t>
            </a:r>
          </a:p>
        </p:txBody>
      </p:sp>
      <p:sp>
        <p:nvSpPr>
          <p:cNvPr id="3" name="Content Placeholder 2">
            <a:extLst>
              <a:ext uri="{FF2B5EF4-FFF2-40B4-BE49-F238E27FC236}">
                <a16:creationId xmlns:a16="http://schemas.microsoft.com/office/drawing/2014/main" id="{00E5AA10-8D1C-EC46-8D84-1D9EC7341DCB}"/>
              </a:ext>
            </a:extLst>
          </p:cNvPr>
          <p:cNvSpPr>
            <a:spLocks noGrp="1"/>
          </p:cNvSpPr>
          <p:nvPr>
            <p:ph idx="1"/>
          </p:nvPr>
        </p:nvSpPr>
        <p:spPr/>
        <p:txBody>
          <a:bodyPr>
            <a:noAutofit/>
          </a:bodyPr>
          <a:lstStyle/>
          <a:p>
            <a:r>
              <a:rPr lang="en-IE" sz="2000" dirty="0"/>
              <a:t>Most people believe that all human beings have some duties to other human beings.</a:t>
            </a:r>
          </a:p>
          <a:p>
            <a:r>
              <a:rPr lang="en-US" sz="2000" dirty="0"/>
              <a:t>The foundation of theories of duties is the theory developed by the German philosopher, Immanuel Kant (1724–1804). Rather than relying on religion to tell us what our duties are, Kant believed that we can rely on our powers of reason to do so. (SOAS, 2015)</a:t>
            </a:r>
          </a:p>
          <a:p>
            <a:pPr marL="0" indent="0">
              <a:buNone/>
            </a:pPr>
            <a:endParaRPr lang="en-US" sz="2400" dirty="0"/>
          </a:p>
        </p:txBody>
      </p:sp>
    </p:spTree>
    <p:extLst>
      <p:ext uri="{BB962C8B-B14F-4D97-AF65-F5344CB8AC3E}">
        <p14:creationId xmlns:p14="http://schemas.microsoft.com/office/powerpoint/2010/main" val="545565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C56A8-D2F5-8447-B1F9-BA0E563BED71}"/>
              </a:ext>
            </a:extLst>
          </p:cNvPr>
          <p:cNvSpPr>
            <a:spLocks noGrp="1"/>
          </p:cNvSpPr>
          <p:nvPr>
            <p:ph type="title"/>
          </p:nvPr>
        </p:nvSpPr>
        <p:spPr/>
        <p:txBody>
          <a:bodyPr/>
          <a:lstStyle/>
          <a:p>
            <a:r>
              <a:rPr lang="en-US" dirty="0"/>
              <a:t>Kant – Categorical Imperative</a:t>
            </a:r>
          </a:p>
        </p:txBody>
      </p:sp>
      <p:sp>
        <p:nvSpPr>
          <p:cNvPr id="6" name="TextBox 5">
            <a:extLst>
              <a:ext uri="{FF2B5EF4-FFF2-40B4-BE49-F238E27FC236}">
                <a16:creationId xmlns:a16="http://schemas.microsoft.com/office/drawing/2014/main" id="{1693E58A-EB54-934D-9014-E3B33CFED7BE}"/>
              </a:ext>
            </a:extLst>
          </p:cNvPr>
          <p:cNvSpPr txBox="1"/>
          <p:nvPr/>
        </p:nvSpPr>
        <p:spPr>
          <a:xfrm>
            <a:off x="4550735" y="5624623"/>
            <a:ext cx="1677062" cy="369332"/>
          </a:xfrm>
          <a:prstGeom prst="rect">
            <a:avLst/>
          </a:prstGeom>
          <a:noFill/>
        </p:spPr>
        <p:txBody>
          <a:bodyPr wrap="none" rtlCol="0">
            <a:spAutoFit/>
          </a:bodyPr>
          <a:lstStyle/>
          <a:p>
            <a:r>
              <a:rPr lang="en-US" dirty="0"/>
              <a:t>(Johnson, 2016)</a:t>
            </a:r>
          </a:p>
        </p:txBody>
      </p:sp>
      <p:sp>
        <p:nvSpPr>
          <p:cNvPr id="3" name="TextBox 2">
            <a:extLst>
              <a:ext uri="{FF2B5EF4-FFF2-40B4-BE49-F238E27FC236}">
                <a16:creationId xmlns:a16="http://schemas.microsoft.com/office/drawing/2014/main" id="{CC98C6A2-1797-BA49-BB19-715CBFD38888}"/>
              </a:ext>
            </a:extLst>
          </p:cNvPr>
          <p:cNvSpPr txBox="1"/>
          <p:nvPr/>
        </p:nvSpPr>
        <p:spPr>
          <a:xfrm>
            <a:off x="5389266" y="1888314"/>
            <a:ext cx="2600696" cy="1477328"/>
          </a:xfrm>
          <a:prstGeom prst="rect">
            <a:avLst/>
          </a:prstGeom>
          <a:noFill/>
        </p:spPr>
        <p:txBody>
          <a:bodyPr wrap="square" rtlCol="0">
            <a:spAutoFit/>
          </a:bodyPr>
          <a:lstStyle/>
          <a:p>
            <a:r>
              <a:rPr lang="en-US" dirty="0"/>
              <a:t>Act only on that maxim by which you can at the same time will that it should become a universal law</a:t>
            </a:r>
          </a:p>
        </p:txBody>
      </p:sp>
      <p:sp>
        <p:nvSpPr>
          <p:cNvPr id="4" name="TextBox 3">
            <a:extLst>
              <a:ext uri="{FF2B5EF4-FFF2-40B4-BE49-F238E27FC236}">
                <a16:creationId xmlns:a16="http://schemas.microsoft.com/office/drawing/2014/main" id="{B712656B-950B-1E4E-AE98-36975C826201}"/>
              </a:ext>
            </a:extLst>
          </p:cNvPr>
          <p:cNvSpPr txBox="1"/>
          <p:nvPr/>
        </p:nvSpPr>
        <p:spPr>
          <a:xfrm>
            <a:off x="5389266" y="3758904"/>
            <a:ext cx="3331476" cy="1477328"/>
          </a:xfrm>
          <a:prstGeom prst="rect">
            <a:avLst/>
          </a:prstGeom>
          <a:noFill/>
        </p:spPr>
        <p:txBody>
          <a:bodyPr wrap="square" rtlCol="0">
            <a:spAutoFit/>
          </a:bodyPr>
          <a:lstStyle/>
          <a:p>
            <a:r>
              <a:rPr lang="en-US" dirty="0"/>
              <a:t>So act as to treat humanity both in your own person and in the person of every other, always at the same time</a:t>
            </a:r>
          </a:p>
          <a:p>
            <a:r>
              <a:rPr lang="en-US" dirty="0"/>
              <a:t>Never simply as a means</a:t>
            </a:r>
          </a:p>
        </p:txBody>
      </p:sp>
      <p:pic>
        <p:nvPicPr>
          <p:cNvPr id="8" name="Picture 7" descr="A person wearing a suit and tie&#10;&#10;Description automatically generated">
            <a:extLst>
              <a:ext uri="{FF2B5EF4-FFF2-40B4-BE49-F238E27FC236}">
                <a16:creationId xmlns:a16="http://schemas.microsoft.com/office/drawing/2014/main" id="{9445A3FD-4D06-724C-A661-BE2AC218781B}"/>
              </a:ext>
            </a:extLst>
          </p:cNvPr>
          <p:cNvPicPr>
            <a:picLocks noChangeAspect="1"/>
          </p:cNvPicPr>
          <p:nvPr/>
        </p:nvPicPr>
        <p:blipFill>
          <a:blip r:embed="rId2"/>
          <a:stretch>
            <a:fillRect/>
          </a:stretch>
        </p:blipFill>
        <p:spPr>
          <a:xfrm>
            <a:off x="568615" y="1543792"/>
            <a:ext cx="3687278" cy="4868883"/>
          </a:xfrm>
          <a:prstGeom prst="rect">
            <a:avLst/>
          </a:prstGeom>
        </p:spPr>
      </p:pic>
    </p:spTree>
    <p:extLst>
      <p:ext uri="{BB962C8B-B14F-4D97-AF65-F5344CB8AC3E}">
        <p14:creationId xmlns:p14="http://schemas.microsoft.com/office/powerpoint/2010/main" val="3376116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CA520-481D-3B4E-B0BF-7029A2424848}"/>
              </a:ext>
            </a:extLst>
          </p:cNvPr>
          <p:cNvSpPr>
            <a:spLocks noGrp="1"/>
          </p:cNvSpPr>
          <p:nvPr>
            <p:ph type="title"/>
          </p:nvPr>
        </p:nvSpPr>
        <p:spPr/>
        <p:txBody>
          <a:bodyPr/>
          <a:lstStyle/>
          <a:p>
            <a:r>
              <a:rPr lang="en-IE" dirty="0"/>
              <a:t>Deontological ethics -</a:t>
            </a:r>
            <a:r>
              <a:rPr lang="en-US" dirty="0"/>
              <a:t>Rights</a:t>
            </a:r>
          </a:p>
        </p:txBody>
      </p:sp>
      <p:sp>
        <p:nvSpPr>
          <p:cNvPr id="3" name="Content Placeholder 2">
            <a:extLst>
              <a:ext uri="{FF2B5EF4-FFF2-40B4-BE49-F238E27FC236}">
                <a16:creationId xmlns:a16="http://schemas.microsoft.com/office/drawing/2014/main" id="{8BA81A84-FE2B-7C47-816B-DAE2EFE798A7}"/>
              </a:ext>
            </a:extLst>
          </p:cNvPr>
          <p:cNvSpPr>
            <a:spLocks noGrp="1"/>
          </p:cNvSpPr>
          <p:nvPr>
            <p:ph idx="1"/>
          </p:nvPr>
        </p:nvSpPr>
        <p:spPr/>
        <p:txBody>
          <a:bodyPr>
            <a:noAutofit/>
          </a:bodyPr>
          <a:lstStyle/>
          <a:p>
            <a:r>
              <a:rPr lang="en-US" sz="2400" dirty="0"/>
              <a:t>A right is a justified claim against another person’s </a:t>
            </a:r>
            <a:r>
              <a:rPr lang="en-US" sz="2400" dirty="0" err="1"/>
              <a:t>behaviour</a:t>
            </a:r>
            <a:r>
              <a:rPr lang="en-US" sz="2400" dirty="0"/>
              <a:t>. </a:t>
            </a:r>
          </a:p>
          <a:p>
            <a:r>
              <a:rPr lang="en-US" sz="2400" dirty="0"/>
              <a:t>So rights and duties are related in that the rights of one person imply the duty of someone else to uphold that right. </a:t>
            </a:r>
          </a:p>
          <a:p>
            <a:r>
              <a:rPr lang="en-US" sz="2400" dirty="0"/>
              <a:t>According to Kant we have a duty to treat every person as an end, and not as a means to our ends, because every person is autonomous and rational, and has intrinsic worth (SOAS, 2015)</a:t>
            </a:r>
          </a:p>
        </p:txBody>
      </p:sp>
    </p:spTree>
    <p:extLst>
      <p:ext uri="{BB962C8B-B14F-4D97-AF65-F5344CB8AC3E}">
        <p14:creationId xmlns:p14="http://schemas.microsoft.com/office/powerpoint/2010/main" val="4244377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6D297-D3FE-DF4E-A519-3DF9D40751F0}"/>
              </a:ext>
            </a:extLst>
          </p:cNvPr>
          <p:cNvSpPr>
            <a:spLocks noGrp="1"/>
          </p:cNvSpPr>
          <p:nvPr>
            <p:ph type="title"/>
          </p:nvPr>
        </p:nvSpPr>
        <p:spPr/>
        <p:txBody>
          <a:bodyPr/>
          <a:lstStyle/>
          <a:p>
            <a:r>
              <a:rPr lang="en-IE" dirty="0"/>
              <a:t>The Universal Declaration of Human Rights</a:t>
            </a:r>
            <a:endParaRPr lang="en-US" dirty="0"/>
          </a:p>
        </p:txBody>
      </p:sp>
      <p:sp>
        <p:nvSpPr>
          <p:cNvPr id="3" name="Content Placeholder 2">
            <a:extLst>
              <a:ext uri="{FF2B5EF4-FFF2-40B4-BE49-F238E27FC236}">
                <a16:creationId xmlns:a16="http://schemas.microsoft.com/office/drawing/2014/main" id="{4CAFFC3F-B7FF-ED48-8722-70F23184AF79}"/>
              </a:ext>
            </a:extLst>
          </p:cNvPr>
          <p:cNvSpPr>
            <a:spLocks noGrp="1"/>
          </p:cNvSpPr>
          <p:nvPr>
            <p:ph idx="1"/>
          </p:nvPr>
        </p:nvSpPr>
        <p:spPr/>
        <p:txBody>
          <a:bodyPr>
            <a:noAutofit/>
          </a:bodyPr>
          <a:lstStyle/>
          <a:p>
            <a:r>
              <a:rPr lang="en-IE" sz="2000" dirty="0"/>
              <a:t>Article 18 </a:t>
            </a:r>
          </a:p>
          <a:p>
            <a:r>
              <a:rPr lang="en-IE" sz="2000" dirty="0"/>
              <a:t>“Everyone has the right to freedom of thought, conscience and religion; this right includes freedom to change his [sic] religion or belief, and freedom, either alone or in community with others and in public or private, to manifest his religion or belief in teaching, practice, worship and observance. </a:t>
            </a:r>
          </a:p>
          <a:p>
            <a:r>
              <a:rPr lang="en-IE" sz="2000" dirty="0"/>
              <a:t>Article 19 </a:t>
            </a:r>
          </a:p>
          <a:p>
            <a:r>
              <a:rPr lang="en-IE" sz="2000" dirty="0"/>
              <a:t>“Everyone has the right to freedom of opinion and expression; this right includes freedom to hold opinions without interference and to seek, receive and impart information and ideas through any media and regardless of frontiers.”</a:t>
            </a:r>
            <a:endParaRPr lang="en-US" sz="2000" dirty="0"/>
          </a:p>
        </p:txBody>
      </p:sp>
    </p:spTree>
    <p:extLst>
      <p:ext uri="{BB962C8B-B14F-4D97-AF65-F5344CB8AC3E}">
        <p14:creationId xmlns:p14="http://schemas.microsoft.com/office/powerpoint/2010/main" val="74430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2CDD-3F56-C64D-9BB3-BFF75047EB18}"/>
              </a:ext>
            </a:extLst>
          </p:cNvPr>
          <p:cNvSpPr>
            <a:spLocks noGrp="1"/>
          </p:cNvSpPr>
          <p:nvPr>
            <p:ph type="title"/>
          </p:nvPr>
        </p:nvSpPr>
        <p:spPr/>
        <p:txBody>
          <a:bodyPr/>
          <a:lstStyle/>
          <a:p>
            <a:r>
              <a:rPr lang="en-US" dirty="0"/>
              <a:t>Deontology</a:t>
            </a:r>
          </a:p>
        </p:txBody>
      </p:sp>
      <p:sp>
        <p:nvSpPr>
          <p:cNvPr id="3" name="Content Placeholder 2">
            <a:extLst>
              <a:ext uri="{FF2B5EF4-FFF2-40B4-BE49-F238E27FC236}">
                <a16:creationId xmlns:a16="http://schemas.microsoft.com/office/drawing/2014/main" id="{04864E36-5D41-B546-8878-9E2D716D7F11}"/>
              </a:ext>
            </a:extLst>
          </p:cNvPr>
          <p:cNvSpPr>
            <a:spLocks noGrp="1"/>
          </p:cNvSpPr>
          <p:nvPr>
            <p:ph idx="1"/>
          </p:nvPr>
        </p:nvSpPr>
        <p:spPr/>
        <p:txBody>
          <a:bodyPr>
            <a:normAutofit fontScale="70000" lnSpcReduction="20000"/>
          </a:bodyPr>
          <a:lstStyle/>
          <a:p>
            <a:r>
              <a:rPr lang="en-US" dirty="0"/>
              <a:t>You are No Exception Principle (YANEP): "…in whatever you do, you should act for reasons that could serve as acceptable reasons for everyone." </a:t>
            </a:r>
          </a:p>
          <a:p>
            <a:pPr marL="0" indent="0">
              <a:buNone/>
            </a:pPr>
            <a:endParaRPr lang="en-US" dirty="0"/>
          </a:p>
          <a:p>
            <a:r>
              <a:rPr lang="en-US" dirty="0"/>
              <a:t>Respect for Persons Principle (RPP): In all action one should respect others as sources of value and never merely as an instrument for one’s own purposes. </a:t>
            </a:r>
          </a:p>
          <a:p>
            <a:pPr marL="0" indent="0">
              <a:buNone/>
            </a:pPr>
            <a:endParaRPr lang="en-US" dirty="0"/>
          </a:p>
          <a:p>
            <a:r>
              <a:rPr lang="en-US" dirty="0"/>
              <a:t>What makes a choice right is its conformity with a moral norm.</a:t>
            </a:r>
          </a:p>
          <a:p>
            <a:r>
              <a:rPr lang="en-US" dirty="0"/>
              <a:t>The Right is said to have priority over the Good (regardless how much ‘Good’ can be produced).</a:t>
            </a:r>
          </a:p>
          <a:p>
            <a:endParaRPr lang="en-US" dirty="0"/>
          </a:p>
          <a:p>
            <a:endParaRPr lang="en-US" dirty="0"/>
          </a:p>
        </p:txBody>
      </p:sp>
      <p:sp>
        <p:nvSpPr>
          <p:cNvPr id="4" name="TextBox 3">
            <a:extLst>
              <a:ext uri="{FF2B5EF4-FFF2-40B4-BE49-F238E27FC236}">
                <a16:creationId xmlns:a16="http://schemas.microsoft.com/office/drawing/2014/main" id="{E2DD5402-E1C9-564E-BEC5-2097DE935B7D}"/>
              </a:ext>
            </a:extLst>
          </p:cNvPr>
          <p:cNvSpPr txBox="1"/>
          <p:nvPr/>
        </p:nvSpPr>
        <p:spPr>
          <a:xfrm>
            <a:off x="5899759" y="6176963"/>
            <a:ext cx="1247265" cy="276999"/>
          </a:xfrm>
          <a:prstGeom prst="rect">
            <a:avLst/>
          </a:prstGeom>
          <a:noFill/>
        </p:spPr>
        <p:txBody>
          <a:bodyPr wrap="none" rtlCol="0">
            <a:spAutoFit/>
          </a:bodyPr>
          <a:lstStyle/>
          <a:p>
            <a:r>
              <a:rPr lang="en-US" sz="1200" dirty="0"/>
              <a:t>Ethics4EU (2020)</a:t>
            </a:r>
          </a:p>
        </p:txBody>
      </p:sp>
    </p:spTree>
    <p:extLst>
      <p:ext uri="{BB962C8B-B14F-4D97-AF65-F5344CB8AC3E}">
        <p14:creationId xmlns:p14="http://schemas.microsoft.com/office/powerpoint/2010/main" val="304142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524ED-7E65-CB45-B2FE-B99D72107F70}"/>
              </a:ext>
            </a:extLst>
          </p:cNvPr>
          <p:cNvSpPr>
            <a:spLocks noGrp="1"/>
          </p:cNvSpPr>
          <p:nvPr>
            <p:ph type="title"/>
          </p:nvPr>
        </p:nvSpPr>
        <p:spPr/>
        <p:txBody>
          <a:bodyPr/>
          <a:lstStyle/>
          <a:p>
            <a:r>
              <a:rPr lang="en-IE" dirty="0"/>
              <a:t>Critique of Deontological ethics</a:t>
            </a:r>
            <a:endParaRPr lang="en-US" dirty="0"/>
          </a:p>
        </p:txBody>
      </p:sp>
      <p:sp>
        <p:nvSpPr>
          <p:cNvPr id="3" name="Content Placeholder 2">
            <a:extLst>
              <a:ext uri="{FF2B5EF4-FFF2-40B4-BE49-F238E27FC236}">
                <a16:creationId xmlns:a16="http://schemas.microsoft.com/office/drawing/2014/main" id="{60126859-7693-6E40-A9C1-8EDAE7CC2C62}"/>
              </a:ext>
            </a:extLst>
          </p:cNvPr>
          <p:cNvSpPr>
            <a:spLocks noGrp="1"/>
          </p:cNvSpPr>
          <p:nvPr>
            <p:ph idx="1"/>
          </p:nvPr>
        </p:nvSpPr>
        <p:spPr/>
        <p:txBody>
          <a:bodyPr>
            <a:noAutofit/>
          </a:bodyPr>
          <a:lstStyle/>
          <a:p>
            <a:r>
              <a:rPr lang="en-US" sz="2400" dirty="0"/>
              <a:t>﻿Deontological ethical frameworks primarily focus on ethics in the intent behind action or the ‘rightness of an act’ rather than the outcomes of an act.</a:t>
            </a:r>
          </a:p>
          <a:p>
            <a:r>
              <a:rPr lang="en-US" sz="2400" dirty="0"/>
              <a:t>﻿But ethical intent is only part of the equation. It is also extremely important to consider the consequences of an action or designed process, whether the consequences (or outcomes) in question are intended or unintended.</a:t>
            </a:r>
          </a:p>
          <a:p>
            <a:pPr marL="0" indent="0">
              <a:buNone/>
            </a:pPr>
            <a:r>
              <a:rPr lang="en-US" sz="2400" dirty="0"/>
              <a:t>(O’ Keefe and O’Brien)</a:t>
            </a:r>
          </a:p>
        </p:txBody>
      </p:sp>
    </p:spTree>
    <p:extLst>
      <p:ext uri="{BB962C8B-B14F-4D97-AF65-F5344CB8AC3E}">
        <p14:creationId xmlns:p14="http://schemas.microsoft.com/office/powerpoint/2010/main" val="443000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5E59F-A475-5085-DB3C-A0FC0DFCF774}"/>
              </a:ext>
            </a:extLst>
          </p:cNvPr>
          <p:cNvSpPr>
            <a:spLocks noGrp="1"/>
          </p:cNvSpPr>
          <p:nvPr>
            <p:ph type="title"/>
          </p:nvPr>
        </p:nvSpPr>
        <p:spPr/>
        <p:txBody>
          <a:bodyPr/>
          <a:lstStyle/>
          <a:p>
            <a:r>
              <a:rPr lang="en-US" dirty="0"/>
              <a:t>Deontology</a:t>
            </a:r>
          </a:p>
        </p:txBody>
      </p:sp>
      <p:sp>
        <p:nvSpPr>
          <p:cNvPr id="3" name="Content Placeholder 2">
            <a:extLst>
              <a:ext uri="{FF2B5EF4-FFF2-40B4-BE49-F238E27FC236}">
                <a16:creationId xmlns:a16="http://schemas.microsoft.com/office/drawing/2014/main" id="{C1913C10-FE85-0D94-1E75-509A0F253F42}"/>
              </a:ext>
            </a:extLst>
          </p:cNvPr>
          <p:cNvSpPr>
            <a:spLocks noGrp="1"/>
          </p:cNvSpPr>
          <p:nvPr>
            <p:ph idx="1"/>
          </p:nvPr>
        </p:nvSpPr>
        <p:spPr/>
        <p:txBody>
          <a:bodyPr/>
          <a:lstStyle/>
          <a:p>
            <a:r>
              <a:rPr lang="en-US" dirty="0"/>
              <a:t>Is deontology possible? Does everyone agree on the right actions? </a:t>
            </a:r>
          </a:p>
          <a:p>
            <a:endParaRPr lang="en-US" dirty="0"/>
          </a:p>
        </p:txBody>
      </p:sp>
    </p:spTree>
    <p:extLst>
      <p:ext uri="{BB962C8B-B14F-4D97-AF65-F5344CB8AC3E}">
        <p14:creationId xmlns:p14="http://schemas.microsoft.com/office/powerpoint/2010/main" val="810013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08D5F-1961-7443-84F9-57784D6E0429}"/>
              </a:ext>
            </a:extLst>
          </p:cNvPr>
          <p:cNvSpPr>
            <a:spLocks noGrp="1"/>
          </p:cNvSpPr>
          <p:nvPr>
            <p:ph type="title"/>
          </p:nvPr>
        </p:nvSpPr>
        <p:spPr/>
        <p:txBody>
          <a:bodyPr/>
          <a:lstStyle/>
          <a:p>
            <a:r>
              <a:rPr lang="en-IE" dirty="0"/>
              <a:t>Consequentialist theories</a:t>
            </a:r>
            <a:endParaRPr lang="en-US" dirty="0"/>
          </a:p>
        </p:txBody>
      </p:sp>
      <p:sp>
        <p:nvSpPr>
          <p:cNvPr id="3" name="Content Placeholder 2">
            <a:extLst>
              <a:ext uri="{FF2B5EF4-FFF2-40B4-BE49-F238E27FC236}">
                <a16:creationId xmlns:a16="http://schemas.microsoft.com/office/drawing/2014/main" id="{87492360-5A76-2A4A-89E5-FE4FA9079B8F}"/>
              </a:ext>
            </a:extLst>
          </p:cNvPr>
          <p:cNvSpPr>
            <a:spLocks noGrp="1"/>
          </p:cNvSpPr>
          <p:nvPr>
            <p:ph idx="1"/>
          </p:nvPr>
        </p:nvSpPr>
        <p:spPr/>
        <p:txBody>
          <a:bodyPr>
            <a:noAutofit/>
          </a:bodyPr>
          <a:lstStyle/>
          <a:p>
            <a:r>
              <a:rPr lang="en-IE" sz="2000" dirty="0"/>
              <a:t>Consequentialist theories are those that base moral judgements on the outcomes of a decision or an action. If the outcomes of an action are considered to be positive, or to give rise to benefits, then that action is held to be morally right. </a:t>
            </a:r>
          </a:p>
          <a:p>
            <a:r>
              <a:rPr lang="en-IE" sz="2000" dirty="0"/>
              <a:t>Conversely, if the outcome causes harm, then the action is held to be morally wrong. The judgement of right or wrong depends on the consequences of the decision or action. The two main consequentialist theories considered here are egoism and utilitarianism.</a:t>
            </a:r>
          </a:p>
          <a:p>
            <a:r>
              <a:rPr lang="en-IE" sz="2000" dirty="0"/>
              <a:t>(SOAS, 2015)</a:t>
            </a:r>
            <a:endParaRPr lang="en-US" sz="2000" dirty="0"/>
          </a:p>
        </p:txBody>
      </p:sp>
    </p:spTree>
    <p:extLst>
      <p:ext uri="{BB962C8B-B14F-4D97-AF65-F5344CB8AC3E}">
        <p14:creationId xmlns:p14="http://schemas.microsoft.com/office/powerpoint/2010/main" val="20425116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1E6B-6195-0744-952A-CF4B33A4D8F3}"/>
              </a:ext>
            </a:extLst>
          </p:cNvPr>
          <p:cNvSpPr>
            <a:spLocks noGrp="1"/>
          </p:cNvSpPr>
          <p:nvPr>
            <p:ph type="title"/>
          </p:nvPr>
        </p:nvSpPr>
        <p:spPr/>
        <p:txBody>
          <a:bodyPr/>
          <a:lstStyle/>
          <a:p>
            <a:r>
              <a:rPr lang="en-US" dirty="0"/>
              <a:t>Utilitarianism</a:t>
            </a:r>
          </a:p>
        </p:txBody>
      </p:sp>
      <p:sp>
        <p:nvSpPr>
          <p:cNvPr id="3" name="Content Placeholder 2">
            <a:extLst>
              <a:ext uri="{FF2B5EF4-FFF2-40B4-BE49-F238E27FC236}">
                <a16:creationId xmlns:a16="http://schemas.microsoft.com/office/drawing/2014/main" id="{9A83A19C-BAFE-BB40-B501-7033D20D2F06}"/>
              </a:ext>
            </a:extLst>
          </p:cNvPr>
          <p:cNvSpPr>
            <a:spLocks noGrp="1"/>
          </p:cNvSpPr>
          <p:nvPr>
            <p:ph idx="1"/>
          </p:nvPr>
        </p:nvSpPr>
        <p:spPr/>
        <p:txBody>
          <a:bodyPr>
            <a:noAutofit/>
          </a:bodyPr>
          <a:lstStyle/>
          <a:p>
            <a:r>
              <a:rPr lang="en-US" sz="1600" dirty="0"/>
              <a:t>The modern form of the consequentialist theory of utilitarianism derives from 19</a:t>
            </a:r>
            <a:r>
              <a:rPr lang="en-US" sz="1600" baseline="30000" dirty="0"/>
              <a:t>th</a:t>
            </a:r>
            <a:r>
              <a:rPr lang="en-US" sz="1600" dirty="0"/>
              <a:t> century British philosophers such as Jeremy Bentham and John Stuart Mill, </a:t>
            </a:r>
          </a:p>
          <a:p>
            <a:r>
              <a:rPr lang="en-US" sz="1600" dirty="0"/>
              <a:t>Rather than </a:t>
            </a:r>
            <a:r>
              <a:rPr lang="en-US" sz="1600" dirty="0" err="1"/>
              <a:t>maximise</a:t>
            </a:r>
            <a:r>
              <a:rPr lang="en-US" sz="1600" dirty="0"/>
              <a:t> individual welfare, utilitarianism focuses on collective welfare and it identifies goodness with the greatest amount of good for the greatest number of people: the ‘greatest happiness principle’. </a:t>
            </a:r>
          </a:p>
          <a:p>
            <a:r>
              <a:rPr lang="en-US" sz="1600" dirty="0"/>
              <a:t>So </a:t>
            </a:r>
            <a:r>
              <a:rPr lang="en-US" sz="1600" dirty="0" err="1"/>
              <a:t>maximising</a:t>
            </a:r>
            <a:r>
              <a:rPr lang="en-US" sz="1600" dirty="0"/>
              <a:t> benefits for the greatest number of people involves net assessments of benefit: utility is the net result of benefits and ‘disbenefits’ – or costs. Utility has entered modern economics as a key quantitative concept. The concept of trade-offs is specifically embraced and social and environmental cost–benefit analyses are explicit utilitarian tools for assessing the goodness of an action. </a:t>
            </a:r>
          </a:p>
          <a:p>
            <a:r>
              <a:rPr lang="en-US" sz="1600" dirty="0"/>
              <a:t>A simple balance sheet of costs and benefits can be drawn up to assess the overall utility of a decision.</a:t>
            </a:r>
          </a:p>
        </p:txBody>
      </p:sp>
      <p:sp>
        <p:nvSpPr>
          <p:cNvPr id="4" name="TextBox 3">
            <a:extLst>
              <a:ext uri="{FF2B5EF4-FFF2-40B4-BE49-F238E27FC236}">
                <a16:creationId xmlns:a16="http://schemas.microsoft.com/office/drawing/2014/main" id="{6D86B3B4-5E4D-014E-93BA-B5EFF49D91BB}"/>
              </a:ext>
            </a:extLst>
          </p:cNvPr>
          <p:cNvSpPr txBox="1"/>
          <p:nvPr/>
        </p:nvSpPr>
        <p:spPr>
          <a:xfrm>
            <a:off x="6624085" y="5807631"/>
            <a:ext cx="1398781" cy="369332"/>
          </a:xfrm>
          <a:prstGeom prst="rect">
            <a:avLst/>
          </a:prstGeom>
          <a:noFill/>
        </p:spPr>
        <p:txBody>
          <a:bodyPr wrap="none" rtlCol="0">
            <a:spAutoFit/>
          </a:bodyPr>
          <a:lstStyle/>
          <a:p>
            <a:r>
              <a:rPr lang="en-US" dirty="0"/>
              <a:t>(SOAS, 2015)</a:t>
            </a:r>
          </a:p>
        </p:txBody>
      </p:sp>
    </p:spTree>
    <p:extLst>
      <p:ext uri="{BB962C8B-B14F-4D97-AF65-F5344CB8AC3E}">
        <p14:creationId xmlns:p14="http://schemas.microsoft.com/office/powerpoint/2010/main" val="90506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08DA7-3DBA-9C4D-B94A-BF08E169C10F}"/>
              </a:ext>
            </a:extLst>
          </p:cNvPr>
          <p:cNvSpPr>
            <a:spLocks noGrp="1"/>
          </p:cNvSpPr>
          <p:nvPr>
            <p:ph type="title"/>
          </p:nvPr>
        </p:nvSpPr>
        <p:spPr/>
        <p:txBody>
          <a:bodyPr/>
          <a:lstStyle/>
          <a:p>
            <a:r>
              <a:rPr lang="en-US" dirty="0"/>
              <a:t>Critique of Utilitarianism</a:t>
            </a:r>
          </a:p>
        </p:txBody>
      </p:sp>
      <p:sp>
        <p:nvSpPr>
          <p:cNvPr id="3" name="Content Placeholder 2">
            <a:extLst>
              <a:ext uri="{FF2B5EF4-FFF2-40B4-BE49-F238E27FC236}">
                <a16:creationId xmlns:a16="http://schemas.microsoft.com/office/drawing/2014/main" id="{519F625A-36EA-174D-B06E-272A5B7F3CF6}"/>
              </a:ext>
            </a:extLst>
          </p:cNvPr>
          <p:cNvSpPr>
            <a:spLocks noGrp="1"/>
          </p:cNvSpPr>
          <p:nvPr>
            <p:ph idx="1"/>
          </p:nvPr>
        </p:nvSpPr>
        <p:spPr/>
        <p:txBody>
          <a:bodyPr>
            <a:noAutofit/>
          </a:bodyPr>
          <a:lstStyle/>
          <a:p>
            <a:r>
              <a:rPr lang="en-US" sz="2400" dirty="0"/>
              <a:t>﻿if the outcomes of an action are what counts, a consequentialist framework would allow clearly unethical or immoral acts up to and including murder, if the benefit was great enough.</a:t>
            </a:r>
          </a:p>
          <a:p>
            <a:r>
              <a:rPr lang="en-US" sz="2400" dirty="0"/>
              <a:t>﻿Another problem with utilitarianism as an ethical framework is that the argument of ‘maximizing benefit and minimizing harm’ doesn’t necessarily mean that benefit and harm are evenly spread. What if the ‘maximized benefit’ benefits only a few?</a:t>
            </a:r>
          </a:p>
          <a:p>
            <a:r>
              <a:rPr lang="en-US" sz="2400" dirty="0"/>
              <a:t>(O’Keefe and O’Brien, 2018)</a:t>
            </a:r>
          </a:p>
        </p:txBody>
      </p:sp>
    </p:spTree>
    <p:extLst>
      <p:ext uri="{BB962C8B-B14F-4D97-AF65-F5344CB8AC3E}">
        <p14:creationId xmlns:p14="http://schemas.microsoft.com/office/powerpoint/2010/main" val="311633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A7342-7E49-F94D-83BE-1873EE4E6FF3}"/>
              </a:ext>
            </a:extLst>
          </p:cNvPr>
          <p:cNvSpPr>
            <a:spLocks noGrp="1"/>
          </p:cNvSpPr>
          <p:nvPr>
            <p:ph type="title"/>
          </p:nvPr>
        </p:nvSpPr>
        <p:spPr/>
        <p:txBody>
          <a:bodyPr/>
          <a:lstStyle/>
          <a:p>
            <a:r>
              <a:rPr lang="en-US" dirty="0"/>
              <a:t>Consequentialist ethics vs </a:t>
            </a:r>
            <a:r>
              <a:rPr lang="en-IE" dirty="0"/>
              <a:t>Deontological ethics </a:t>
            </a:r>
            <a:endParaRPr lang="en-US" dirty="0"/>
          </a:p>
        </p:txBody>
      </p:sp>
      <p:sp>
        <p:nvSpPr>
          <p:cNvPr id="3" name="Content Placeholder 2">
            <a:extLst>
              <a:ext uri="{FF2B5EF4-FFF2-40B4-BE49-F238E27FC236}">
                <a16:creationId xmlns:a16="http://schemas.microsoft.com/office/drawing/2014/main" id="{06E869C7-FC0A-A442-803E-84B03C0DF521}"/>
              </a:ext>
            </a:extLst>
          </p:cNvPr>
          <p:cNvSpPr>
            <a:spLocks noGrp="1"/>
          </p:cNvSpPr>
          <p:nvPr>
            <p:ph idx="1"/>
          </p:nvPr>
        </p:nvSpPr>
        <p:spPr/>
        <p:txBody>
          <a:bodyPr/>
          <a:lstStyle/>
          <a:p>
            <a:r>
              <a:rPr lang="en-IE" dirty="0"/>
              <a:t>Consequentialist ethics judge an action as right or wrong on the basis of the outcome of an action. </a:t>
            </a:r>
          </a:p>
          <a:p>
            <a:r>
              <a:rPr lang="en-IE" dirty="0"/>
              <a:t>Deontological ethics hold that that action itself is right or wrong, regardless of the outcome.</a:t>
            </a:r>
          </a:p>
          <a:p>
            <a:endParaRPr lang="en-IE" dirty="0"/>
          </a:p>
          <a:p>
            <a:r>
              <a:rPr lang="en-IE" dirty="0"/>
              <a:t>(SOAS, 2015)</a:t>
            </a:r>
            <a:endParaRPr lang="en-US" dirty="0"/>
          </a:p>
        </p:txBody>
      </p:sp>
    </p:spTree>
    <p:extLst>
      <p:ext uri="{BB962C8B-B14F-4D97-AF65-F5344CB8AC3E}">
        <p14:creationId xmlns:p14="http://schemas.microsoft.com/office/powerpoint/2010/main" val="1230860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4B811-E945-8949-8E42-53CBB61CFC3D}"/>
              </a:ext>
            </a:extLst>
          </p:cNvPr>
          <p:cNvSpPr>
            <a:spLocks noGrp="1"/>
          </p:cNvSpPr>
          <p:nvPr>
            <p:ph type="title"/>
          </p:nvPr>
        </p:nvSpPr>
        <p:spPr/>
        <p:txBody>
          <a:bodyPr/>
          <a:lstStyle/>
          <a:p>
            <a:r>
              <a:rPr lang="en-US" dirty="0"/>
              <a:t>Egoism</a:t>
            </a:r>
          </a:p>
        </p:txBody>
      </p:sp>
      <p:sp>
        <p:nvSpPr>
          <p:cNvPr id="3" name="Content Placeholder 2">
            <a:extLst>
              <a:ext uri="{FF2B5EF4-FFF2-40B4-BE49-F238E27FC236}">
                <a16:creationId xmlns:a16="http://schemas.microsoft.com/office/drawing/2014/main" id="{2D9E734D-48C7-F84E-9967-F9685F72CC13}"/>
              </a:ext>
            </a:extLst>
          </p:cNvPr>
          <p:cNvSpPr>
            <a:spLocks noGrp="1"/>
          </p:cNvSpPr>
          <p:nvPr>
            <p:ph idx="1"/>
          </p:nvPr>
        </p:nvSpPr>
        <p:spPr/>
        <p:txBody>
          <a:bodyPr>
            <a:noAutofit/>
          </a:bodyPr>
          <a:lstStyle/>
          <a:p>
            <a:r>
              <a:rPr lang="en-US" sz="1600" dirty="0"/>
              <a:t>Egoism is the theory that one’s self is, or should be, the motivation for all of our actions. In its strongest form, it argues that individuals only ever act in their own self-interest. Even where they appear to be acting in others’ interests, descriptive egoism explains that the person is really motivated by their own self-interest disguised by arguments (</a:t>
            </a:r>
            <a:r>
              <a:rPr lang="en-US" sz="1600" dirty="0" err="1"/>
              <a:t>rationalisations</a:t>
            </a:r>
            <a:r>
              <a:rPr lang="en-US" sz="1600" dirty="0"/>
              <a:t>) of ‘doing one’s duty’ or ‘helping others’. </a:t>
            </a:r>
          </a:p>
          <a:p>
            <a:r>
              <a:rPr lang="en-US" sz="1600" dirty="0"/>
              <a:t>In fact, our motivation behind doing ‘good deeds’ may be to make ourselves feel good; to make ourselves look good in the eyes of others; or because we believe that, by helping others, others will help us. Even if we donate money to charity anonymously, we may still only really do this because it makes us feel good about ourselves. </a:t>
            </a:r>
          </a:p>
          <a:p>
            <a:r>
              <a:rPr lang="en-IE" sz="1600" dirty="0"/>
              <a:t>The theory of egoism is at the heart of capitalist arguments that a corporation’s sole responsibility is to its shareholders. </a:t>
            </a:r>
            <a:endParaRPr lang="en-US" sz="1600" dirty="0"/>
          </a:p>
        </p:txBody>
      </p:sp>
      <p:sp>
        <p:nvSpPr>
          <p:cNvPr id="4" name="TextBox 3">
            <a:extLst>
              <a:ext uri="{FF2B5EF4-FFF2-40B4-BE49-F238E27FC236}">
                <a16:creationId xmlns:a16="http://schemas.microsoft.com/office/drawing/2014/main" id="{5C98BBA4-CCA1-2144-9042-957FBA836359}"/>
              </a:ext>
            </a:extLst>
          </p:cNvPr>
          <p:cNvSpPr txBox="1"/>
          <p:nvPr/>
        </p:nvSpPr>
        <p:spPr>
          <a:xfrm>
            <a:off x="5507665" y="5807631"/>
            <a:ext cx="1398781" cy="369332"/>
          </a:xfrm>
          <a:prstGeom prst="rect">
            <a:avLst/>
          </a:prstGeom>
          <a:noFill/>
        </p:spPr>
        <p:txBody>
          <a:bodyPr wrap="none" rtlCol="0">
            <a:spAutoFit/>
          </a:bodyPr>
          <a:lstStyle/>
          <a:p>
            <a:r>
              <a:rPr lang="en-US" dirty="0"/>
              <a:t>(SOAS, 2015)</a:t>
            </a:r>
          </a:p>
        </p:txBody>
      </p:sp>
    </p:spTree>
    <p:extLst>
      <p:ext uri="{BB962C8B-B14F-4D97-AF65-F5344CB8AC3E}">
        <p14:creationId xmlns:p14="http://schemas.microsoft.com/office/powerpoint/2010/main" val="35123006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D838D-406B-614B-AF20-6169A8A44E1B}"/>
              </a:ext>
            </a:extLst>
          </p:cNvPr>
          <p:cNvSpPr>
            <a:spLocks noGrp="1"/>
          </p:cNvSpPr>
          <p:nvPr>
            <p:ph type="title"/>
          </p:nvPr>
        </p:nvSpPr>
        <p:spPr/>
        <p:txBody>
          <a:bodyPr/>
          <a:lstStyle/>
          <a:p>
            <a:r>
              <a:rPr lang="en-US" dirty="0"/>
              <a:t>Virtue Ethics</a:t>
            </a:r>
          </a:p>
        </p:txBody>
      </p:sp>
      <p:sp>
        <p:nvSpPr>
          <p:cNvPr id="3" name="Content Placeholder 2">
            <a:extLst>
              <a:ext uri="{FF2B5EF4-FFF2-40B4-BE49-F238E27FC236}">
                <a16:creationId xmlns:a16="http://schemas.microsoft.com/office/drawing/2014/main" id="{D92D3E69-88E2-9042-843B-D787A474D5C4}"/>
              </a:ext>
            </a:extLst>
          </p:cNvPr>
          <p:cNvSpPr>
            <a:spLocks noGrp="1"/>
          </p:cNvSpPr>
          <p:nvPr>
            <p:ph idx="1"/>
          </p:nvPr>
        </p:nvSpPr>
        <p:spPr/>
        <p:txBody>
          <a:bodyPr/>
          <a:lstStyle/>
          <a:p>
            <a:r>
              <a:rPr lang="en-US" dirty="0"/>
              <a:t>﻿In Western philosophy, the ancient Greek philosophers Plato and Aristotle are seen as the founders of virtue ethics.</a:t>
            </a:r>
          </a:p>
          <a:p>
            <a:r>
              <a:rPr lang="en-US" dirty="0"/>
              <a:t>﻿approaches ethics through the lens of self-improvement, virtues being desirable or ‘good’ character attributes.</a:t>
            </a:r>
          </a:p>
          <a:p>
            <a:pPr marL="0" indent="0">
              <a:buNone/>
            </a:pPr>
            <a:r>
              <a:rPr lang="en-US" dirty="0"/>
              <a:t>(O'Keefe and O’Brien, 2018) </a:t>
            </a:r>
          </a:p>
        </p:txBody>
      </p:sp>
    </p:spTree>
    <p:extLst>
      <p:ext uri="{BB962C8B-B14F-4D97-AF65-F5344CB8AC3E}">
        <p14:creationId xmlns:p14="http://schemas.microsoft.com/office/powerpoint/2010/main" val="38313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26D42-6EC4-6D4B-9355-B1329D60ADE6}"/>
              </a:ext>
            </a:extLst>
          </p:cNvPr>
          <p:cNvSpPr>
            <a:spLocks noGrp="1"/>
          </p:cNvSpPr>
          <p:nvPr>
            <p:ph type="title"/>
          </p:nvPr>
        </p:nvSpPr>
        <p:spPr/>
        <p:txBody>
          <a:bodyPr/>
          <a:lstStyle/>
          <a:p>
            <a:r>
              <a:rPr lang="en-US" dirty="0"/>
              <a:t>Virtue Ethics</a:t>
            </a:r>
          </a:p>
        </p:txBody>
      </p:sp>
      <p:sp>
        <p:nvSpPr>
          <p:cNvPr id="3" name="Content Placeholder 2">
            <a:extLst>
              <a:ext uri="{FF2B5EF4-FFF2-40B4-BE49-F238E27FC236}">
                <a16:creationId xmlns:a16="http://schemas.microsoft.com/office/drawing/2014/main" id="{552EF8A2-69AB-A74E-B556-17005E57A28E}"/>
              </a:ext>
            </a:extLst>
          </p:cNvPr>
          <p:cNvSpPr>
            <a:spLocks noGrp="1"/>
          </p:cNvSpPr>
          <p:nvPr>
            <p:ph idx="1"/>
          </p:nvPr>
        </p:nvSpPr>
        <p:spPr/>
        <p:txBody>
          <a:bodyPr>
            <a:normAutofit fontScale="92500"/>
          </a:bodyPr>
          <a:lstStyle/>
          <a:p>
            <a:r>
              <a:rPr lang="en-US" dirty="0"/>
              <a:t>﻿The aim of virtue ethics is to embody or live in harmony with the moral virtues valued by a culture or society. </a:t>
            </a:r>
          </a:p>
          <a:p>
            <a:r>
              <a:rPr lang="en-US" dirty="0"/>
              <a:t>An ethical person acts in a way that makes them a better person. </a:t>
            </a:r>
          </a:p>
          <a:p>
            <a:r>
              <a:rPr lang="en-US" dirty="0"/>
              <a:t>According to Aristotle, acting in accordance with virtue results in a well-lived life, ‘Eudaimonia’, or ‘happiness’.</a:t>
            </a:r>
          </a:p>
          <a:p>
            <a:r>
              <a:rPr lang="en-US" dirty="0"/>
              <a:t>(O'Keefe and O’Brien, 2018) </a:t>
            </a:r>
          </a:p>
          <a:p>
            <a:endParaRPr lang="en-US" dirty="0"/>
          </a:p>
        </p:txBody>
      </p:sp>
    </p:spTree>
    <p:extLst>
      <p:ext uri="{BB962C8B-B14F-4D97-AF65-F5344CB8AC3E}">
        <p14:creationId xmlns:p14="http://schemas.microsoft.com/office/powerpoint/2010/main" val="1890902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7EEAF-1B69-4D41-AB3D-5D42B02B18FE}"/>
              </a:ext>
            </a:extLst>
          </p:cNvPr>
          <p:cNvSpPr>
            <a:spLocks noGrp="1"/>
          </p:cNvSpPr>
          <p:nvPr>
            <p:ph type="title"/>
          </p:nvPr>
        </p:nvSpPr>
        <p:spPr/>
        <p:txBody>
          <a:bodyPr/>
          <a:lstStyle/>
          <a:p>
            <a:r>
              <a:rPr lang="en-US" dirty="0"/>
              <a:t>Virtue Ethics</a:t>
            </a:r>
          </a:p>
        </p:txBody>
      </p:sp>
      <p:sp>
        <p:nvSpPr>
          <p:cNvPr id="3" name="Content Placeholder 2">
            <a:extLst>
              <a:ext uri="{FF2B5EF4-FFF2-40B4-BE49-F238E27FC236}">
                <a16:creationId xmlns:a16="http://schemas.microsoft.com/office/drawing/2014/main" id="{12EAE8DB-F889-DF40-8052-C9024D55DF60}"/>
              </a:ext>
            </a:extLst>
          </p:cNvPr>
          <p:cNvSpPr>
            <a:spLocks noGrp="1"/>
          </p:cNvSpPr>
          <p:nvPr>
            <p:ph idx="1"/>
          </p:nvPr>
        </p:nvSpPr>
        <p:spPr/>
        <p:txBody>
          <a:bodyPr>
            <a:normAutofit fontScale="85000" lnSpcReduction="20000"/>
          </a:bodyPr>
          <a:lstStyle/>
          <a:p>
            <a:pPr marL="0" indent="0">
              <a:buNone/>
            </a:pPr>
            <a:endParaRPr lang="en-US" dirty="0"/>
          </a:p>
          <a:p>
            <a:r>
              <a:rPr lang="en-US" dirty="0"/>
              <a:t>Focus is on the development of moral character</a:t>
            </a:r>
            <a:br>
              <a:rPr lang="en-US" dirty="0"/>
            </a:br>
            <a:endParaRPr lang="en-US" dirty="0"/>
          </a:p>
          <a:p>
            <a:r>
              <a:rPr lang="en-US" dirty="0"/>
              <a:t>An action is right insofar as it is the manifestation of a virtuous character trait, where virtuous character traits are those that are present in the fully flourishing human being. </a:t>
            </a:r>
          </a:p>
          <a:p>
            <a:r>
              <a:rPr lang="en-US" dirty="0"/>
              <a:t>A virtue is an excellent trait of character. It is a disposition, well entrenched in its possessor to notice, expect, value, feel, desire, choose, act, and react in certain characteristic ways.</a:t>
            </a:r>
          </a:p>
          <a:p>
            <a:pPr marL="0" indent="0">
              <a:buNone/>
            </a:pPr>
            <a:endParaRPr lang="en-US" dirty="0"/>
          </a:p>
        </p:txBody>
      </p:sp>
      <p:sp>
        <p:nvSpPr>
          <p:cNvPr id="4" name="TextBox 3">
            <a:extLst>
              <a:ext uri="{FF2B5EF4-FFF2-40B4-BE49-F238E27FC236}">
                <a16:creationId xmlns:a16="http://schemas.microsoft.com/office/drawing/2014/main" id="{D825DAEF-18F0-054B-91F4-D597CE5A047D}"/>
              </a:ext>
            </a:extLst>
          </p:cNvPr>
          <p:cNvSpPr txBox="1"/>
          <p:nvPr/>
        </p:nvSpPr>
        <p:spPr>
          <a:xfrm>
            <a:off x="5899759" y="6176963"/>
            <a:ext cx="1247265" cy="276999"/>
          </a:xfrm>
          <a:prstGeom prst="rect">
            <a:avLst/>
          </a:prstGeom>
          <a:noFill/>
        </p:spPr>
        <p:txBody>
          <a:bodyPr wrap="none" rtlCol="0">
            <a:spAutoFit/>
          </a:bodyPr>
          <a:lstStyle/>
          <a:p>
            <a:r>
              <a:rPr lang="en-US" sz="1200" dirty="0"/>
              <a:t>Ethics4EU (2020)</a:t>
            </a:r>
          </a:p>
        </p:txBody>
      </p:sp>
    </p:spTree>
    <p:extLst>
      <p:ext uri="{BB962C8B-B14F-4D97-AF65-F5344CB8AC3E}">
        <p14:creationId xmlns:p14="http://schemas.microsoft.com/office/powerpoint/2010/main" val="314475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E4817-E61F-F84E-A1CC-1C0F378B652B}"/>
              </a:ext>
            </a:extLst>
          </p:cNvPr>
          <p:cNvSpPr>
            <a:spLocks noGrp="1"/>
          </p:cNvSpPr>
          <p:nvPr>
            <p:ph type="title"/>
          </p:nvPr>
        </p:nvSpPr>
        <p:spPr/>
        <p:txBody>
          <a:bodyPr/>
          <a:lstStyle/>
          <a:p>
            <a:r>
              <a:rPr lang="en-US" dirty="0"/>
              <a:t>Critique of Virtue Ethics</a:t>
            </a:r>
          </a:p>
        </p:txBody>
      </p:sp>
      <p:sp>
        <p:nvSpPr>
          <p:cNvPr id="3" name="Content Placeholder 2">
            <a:extLst>
              <a:ext uri="{FF2B5EF4-FFF2-40B4-BE49-F238E27FC236}">
                <a16:creationId xmlns:a16="http://schemas.microsoft.com/office/drawing/2014/main" id="{7CBB7082-4137-5144-BDC2-A1D4F697C7AF}"/>
              </a:ext>
            </a:extLst>
          </p:cNvPr>
          <p:cNvSpPr>
            <a:spLocks noGrp="1"/>
          </p:cNvSpPr>
          <p:nvPr>
            <p:ph idx="1"/>
          </p:nvPr>
        </p:nvSpPr>
        <p:spPr/>
        <p:txBody>
          <a:bodyPr>
            <a:normAutofit lnSpcReduction="10000"/>
          </a:bodyPr>
          <a:lstStyle/>
          <a:p>
            <a:r>
              <a:rPr lang="en-US" sz="2400" dirty="0"/>
              <a:t>﻿One criticism of virtue ethics is that our values and understandings of ‘virtues’ are culturally bound.</a:t>
            </a:r>
          </a:p>
          <a:p>
            <a:r>
              <a:rPr lang="en-US" sz="2400" dirty="0"/>
              <a:t>Different cultures have different focuses on what they consider to be moral goods or virtuous conduct. </a:t>
            </a:r>
          </a:p>
          <a:p>
            <a:r>
              <a:rPr lang="en-US" sz="2400" dirty="0"/>
              <a:t>Which ‘virtues’ are valued over others may be different in different times, cultures and subcultures, so a focus on virtue ethics in a global context may need to engage with the relativist aspect of what is considered ‘virtuous’.</a:t>
            </a:r>
          </a:p>
          <a:p>
            <a:r>
              <a:rPr lang="en-US" sz="2400" dirty="0"/>
              <a:t>(O'Keefe and O’Brien, 2018)</a:t>
            </a:r>
          </a:p>
        </p:txBody>
      </p:sp>
    </p:spTree>
    <p:extLst>
      <p:ext uri="{BB962C8B-B14F-4D97-AF65-F5344CB8AC3E}">
        <p14:creationId xmlns:p14="http://schemas.microsoft.com/office/powerpoint/2010/main" val="4021279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E502B-D1F5-D746-808C-0B85F042694C}"/>
              </a:ext>
            </a:extLst>
          </p:cNvPr>
          <p:cNvSpPr>
            <a:spLocks noGrp="1"/>
          </p:cNvSpPr>
          <p:nvPr>
            <p:ph type="title"/>
          </p:nvPr>
        </p:nvSpPr>
        <p:spPr/>
        <p:txBody>
          <a:bodyPr/>
          <a:lstStyle/>
          <a:p>
            <a:r>
              <a:rPr lang="en-US" dirty="0"/>
              <a:t>Virtue Ethics</a:t>
            </a:r>
          </a:p>
        </p:txBody>
      </p:sp>
      <p:sp>
        <p:nvSpPr>
          <p:cNvPr id="3" name="Content Placeholder 2">
            <a:extLst>
              <a:ext uri="{FF2B5EF4-FFF2-40B4-BE49-F238E27FC236}">
                <a16:creationId xmlns:a16="http://schemas.microsoft.com/office/drawing/2014/main" id="{96D1304F-F6AF-0448-A9EA-7F5505AB2718}"/>
              </a:ext>
            </a:extLst>
          </p:cNvPr>
          <p:cNvSpPr>
            <a:spLocks noGrp="1"/>
          </p:cNvSpPr>
          <p:nvPr>
            <p:ph idx="1"/>
          </p:nvPr>
        </p:nvSpPr>
        <p:spPr/>
        <p:txBody>
          <a:bodyPr>
            <a:normAutofit fontScale="92500"/>
          </a:bodyPr>
          <a:lstStyle/>
          <a:p>
            <a:r>
              <a:rPr lang="en-US" dirty="0"/>
              <a:t>﻿These cultural differences obviously exist between different countries and ethnic cultures. </a:t>
            </a:r>
          </a:p>
          <a:p>
            <a:r>
              <a:rPr lang="en-US" dirty="0"/>
              <a:t>However, they can equally arise in the context of the cultural frame of an industry or social subculture.</a:t>
            </a:r>
          </a:p>
          <a:p>
            <a:r>
              <a:rPr lang="en-US" dirty="0"/>
              <a:t> For example, the virtue perspective of a technology-focused person might ﻿differ from that of a more human rights-focused individual.</a:t>
            </a:r>
          </a:p>
          <a:p>
            <a:r>
              <a:rPr lang="en-US" dirty="0"/>
              <a:t>(O'Keefe and O’Brien, 2018)</a:t>
            </a:r>
          </a:p>
          <a:p>
            <a:endParaRPr lang="en-US" dirty="0"/>
          </a:p>
        </p:txBody>
      </p:sp>
    </p:spTree>
    <p:extLst>
      <p:ext uri="{BB962C8B-B14F-4D97-AF65-F5344CB8AC3E}">
        <p14:creationId xmlns:p14="http://schemas.microsoft.com/office/powerpoint/2010/main" val="1629811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D1EB-8CE4-2A44-82C6-77F645E5088B}"/>
              </a:ext>
            </a:extLst>
          </p:cNvPr>
          <p:cNvSpPr>
            <a:spLocks noGrp="1"/>
          </p:cNvSpPr>
          <p:nvPr>
            <p:ph type="title"/>
          </p:nvPr>
        </p:nvSpPr>
        <p:spPr/>
        <p:txBody>
          <a:bodyPr/>
          <a:lstStyle/>
          <a:p>
            <a:r>
              <a:rPr lang="en-US" dirty="0"/>
              <a:t>Which ethical theory?</a:t>
            </a:r>
          </a:p>
        </p:txBody>
      </p:sp>
      <p:sp>
        <p:nvSpPr>
          <p:cNvPr id="3" name="Content Placeholder 2">
            <a:extLst>
              <a:ext uri="{FF2B5EF4-FFF2-40B4-BE49-F238E27FC236}">
                <a16:creationId xmlns:a16="http://schemas.microsoft.com/office/drawing/2014/main" id="{137629E6-F2EF-7E47-A162-D506BA3FF85B}"/>
              </a:ext>
            </a:extLst>
          </p:cNvPr>
          <p:cNvSpPr>
            <a:spLocks noGrp="1"/>
          </p:cNvSpPr>
          <p:nvPr>
            <p:ph idx="1"/>
          </p:nvPr>
        </p:nvSpPr>
        <p:spPr/>
        <p:txBody>
          <a:bodyPr>
            <a:noAutofit/>
          </a:bodyPr>
          <a:lstStyle/>
          <a:p>
            <a:endParaRPr lang="en-US" sz="1800" dirty="0"/>
          </a:p>
          <a:p>
            <a:r>
              <a:rPr lang="en-US" sz="1800" dirty="0"/>
              <a:t>Perhaps you believe that that individuals only ever act in their own self-interest (egoism)</a:t>
            </a:r>
          </a:p>
          <a:p>
            <a:r>
              <a:rPr lang="en-US" sz="1800" dirty="0"/>
              <a:t>You believe it sensible to to take a decision that has the best possible outcome for all concerned (utilitarianism).</a:t>
            </a:r>
          </a:p>
          <a:p>
            <a:r>
              <a:rPr lang="en-US" sz="1800" dirty="0"/>
              <a:t>Or you may believe that there are some universal rights which all humans have (deontology). </a:t>
            </a:r>
          </a:p>
          <a:p>
            <a:r>
              <a:rPr lang="en-US" sz="1800" dirty="0"/>
              <a:t>Or perhaps you do things each day because you think it makes you a good person and not because of any duty or consequences that this action might have (virtue ethics). </a:t>
            </a:r>
          </a:p>
          <a:p>
            <a:endParaRPr lang="en-US" sz="1800" dirty="0"/>
          </a:p>
          <a:p>
            <a:r>
              <a:rPr lang="en-US" sz="1800" dirty="0"/>
              <a:t>(SOAS, 2015)</a:t>
            </a:r>
          </a:p>
        </p:txBody>
      </p:sp>
    </p:spTree>
    <p:extLst>
      <p:ext uri="{BB962C8B-B14F-4D97-AF65-F5344CB8AC3E}">
        <p14:creationId xmlns:p14="http://schemas.microsoft.com/office/powerpoint/2010/main" val="3010005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3F062-F452-1149-851B-BC7FA9A8B74F}"/>
              </a:ext>
            </a:extLst>
          </p:cNvPr>
          <p:cNvSpPr>
            <a:spLocks noGrp="1"/>
          </p:cNvSpPr>
          <p:nvPr>
            <p:ph type="title"/>
          </p:nvPr>
        </p:nvSpPr>
        <p:spPr/>
        <p:txBody>
          <a:bodyPr/>
          <a:lstStyle/>
          <a:p>
            <a:r>
              <a:rPr lang="en-US" dirty="0"/>
              <a:t>Monism vs. Relativism</a:t>
            </a:r>
          </a:p>
        </p:txBody>
      </p:sp>
      <p:sp>
        <p:nvSpPr>
          <p:cNvPr id="3" name="Content Placeholder 2">
            <a:extLst>
              <a:ext uri="{FF2B5EF4-FFF2-40B4-BE49-F238E27FC236}">
                <a16:creationId xmlns:a16="http://schemas.microsoft.com/office/drawing/2014/main" id="{D40C1756-6C4D-EC4E-AFC7-3EFB852A3888}"/>
              </a:ext>
            </a:extLst>
          </p:cNvPr>
          <p:cNvSpPr>
            <a:spLocks noGrp="1"/>
          </p:cNvSpPr>
          <p:nvPr>
            <p:ph idx="1"/>
          </p:nvPr>
        </p:nvSpPr>
        <p:spPr/>
        <p:txBody>
          <a:bodyPr>
            <a:noAutofit/>
          </a:bodyPr>
          <a:lstStyle/>
          <a:p>
            <a:r>
              <a:rPr lang="en-IE" sz="1800" dirty="0"/>
              <a:t>Some philosophers argue that it is possible to make objective decisions about our ethics and that identifying one, valid ethical theory should be the main task of philosophers. This position is called </a:t>
            </a:r>
            <a:r>
              <a:rPr lang="en-IE" sz="1800" b="1" dirty="0"/>
              <a:t>ethical monism</a:t>
            </a:r>
            <a:r>
              <a:rPr lang="en-IE" sz="1800" dirty="0"/>
              <a:t>.</a:t>
            </a:r>
          </a:p>
          <a:p>
            <a:r>
              <a:rPr lang="en-IE" sz="1800" dirty="0"/>
              <a:t>Others philosophers, in contrast, believe that it is impossible to make such objective ethical judgements and that any decision about which particular ethical approach is ‘right’ is nothing more than a personal preference, and will depend on people’s individual feelings, their cultural and religious background, etc. This position is called </a:t>
            </a:r>
            <a:r>
              <a:rPr lang="en-IE" sz="1800" b="1" dirty="0"/>
              <a:t>ethical relativism</a:t>
            </a:r>
            <a:r>
              <a:rPr lang="en-IE" sz="1800" dirty="0"/>
              <a:t>.</a:t>
            </a:r>
          </a:p>
          <a:p>
            <a:endParaRPr lang="en-IE" sz="1800" dirty="0"/>
          </a:p>
          <a:p>
            <a:endParaRPr lang="en-IE" sz="1800" dirty="0"/>
          </a:p>
          <a:p>
            <a:endParaRPr lang="en-IE" sz="1800" dirty="0"/>
          </a:p>
          <a:p>
            <a:r>
              <a:rPr lang="en-IE" sz="1800" dirty="0"/>
              <a:t>(SOAS, 2015)</a:t>
            </a:r>
            <a:endParaRPr lang="en-US" sz="1800" dirty="0"/>
          </a:p>
        </p:txBody>
      </p:sp>
    </p:spTree>
    <p:extLst>
      <p:ext uri="{BB962C8B-B14F-4D97-AF65-F5344CB8AC3E}">
        <p14:creationId xmlns:p14="http://schemas.microsoft.com/office/powerpoint/2010/main" val="2176333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FF857-0A40-8148-BABF-53A2FC983626}"/>
              </a:ext>
            </a:extLst>
          </p:cNvPr>
          <p:cNvSpPr>
            <a:spLocks noGrp="1"/>
          </p:cNvSpPr>
          <p:nvPr>
            <p:ph type="title"/>
          </p:nvPr>
        </p:nvSpPr>
        <p:spPr/>
        <p:txBody>
          <a:bodyPr/>
          <a:lstStyle/>
          <a:p>
            <a:r>
              <a:rPr lang="en-US" dirty="0"/>
              <a:t>Ethical Pluralism</a:t>
            </a:r>
          </a:p>
        </p:txBody>
      </p:sp>
      <p:sp>
        <p:nvSpPr>
          <p:cNvPr id="3" name="Content Placeholder 2">
            <a:extLst>
              <a:ext uri="{FF2B5EF4-FFF2-40B4-BE49-F238E27FC236}">
                <a16:creationId xmlns:a16="http://schemas.microsoft.com/office/drawing/2014/main" id="{52B0B79F-CD41-8B49-964A-B7AE49F26F8D}"/>
              </a:ext>
            </a:extLst>
          </p:cNvPr>
          <p:cNvSpPr>
            <a:spLocks noGrp="1"/>
          </p:cNvSpPr>
          <p:nvPr>
            <p:ph idx="1"/>
          </p:nvPr>
        </p:nvSpPr>
        <p:spPr/>
        <p:txBody>
          <a:bodyPr>
            <a:normAutofit lnSpcReduction="10000"/>
          </a:bodyPr>
          <a:lstStyle/>
          <a:p>
            <a:r>
              <a:rPr lang="en-IE" dirty="0"/>
              <a:t>Ethical pluralism is the acceptance that there may be more than one correct moral framework that we can use. However, it differs from relativism in that it does not accept that all frameworks are equal – morality, according to a pluralist, does not simply come down to personal preference. It is possible to make rational judgements between various frameworks and to judge some to be better than others.</a:t>
            </a:r>
            <a:endParaRPr lang="en-US" dirty="0"/>
          </a:p>
        </p:txBody>
      </p:sp>
      <p:sp>
        <p:nvSpPr>
          <p:cNvPr id="4" name="TextBox 3">
            <a:extLst>
              <a:ext uri="{FF2B5EF4-FFF2-40B4-BE49-F238E27FC236}">
                <a16:creationId xmlns:a16="http://schemas.microsoft.com/office/drawing/2014/main" id="{4A049969-05DD-8747-84E2-EB3DA092B37D}"/>
              </a:ext>
            </a:extLst>
          </p:cNvPr>
          <p:cNvSpPr txBox="1"/>
          <p:nvPr/>
        </p:nvSpPr>
        <p:spPr>
          <a:xfrm>
            <a:off x="3147237" y="6507126"/>
            <a:ext cx="1451679" cy="369332"/>
          </a:xfrm>
          <a:prstGeom prst="rect">
            <a:avLst/>
          </a:prstGeom>
          <a:noFill/>
        </p:spPr>
        <p:txBody>
          <a:bodyPr wrap="none" rtlCol="0">
            <a:spAutoFit/>
          </a:bodyPr>
          <a:lstStyle/>
          <a:p>
            <a:r>
              <a:rPr lang="en-US" dirty="0"/>
              <a:t>(SOAS,  2015)</a:t>
            </a:r>
          </a:p>
        </p:txBody>
      </p:sp>
    </p:spTree>
    <p:extLst>
      <p:ext uri="{BB962C8B-B14F-4D97-AF65-F5344CB8AC3E}">
        <p14:creationId xmlns:p14="http://schemas.microsoft.com/office/powerpoint/2010/main" val="3190582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EA433-D246-9D45-8334-329F60703A02}"/>
              </a:ext>
            </a:extLst>
          </p:cNvPr>
          <p:cNvSpPr>
            <a:spLocks noGrp="1"/>
          </p:cNvSpPr>
          <p:nvPr>
            <p:ph type="title"/>
          </p:nvPr>
        </p:nvSpPr>
        <p:spPr/>
        <p:txBody>
          <a:bodyPr/>
          <a:lstStyle/>
          <a:p>
            <a:r>
              <a:rPr lang="en-US" dirty="0"/>
              <a:t>Current Ethics</a:t>
            </a:r>
          </a:p>
        </p:txBody>
      </p:sp>
      <p:sp>
        <p:nvSpPr>
          <p:cNvPr id="3" name="Content Placeholder 2">
            <a:extLst>
              <a:ext uri="{FF2B5EF4-FFF2-40B4-BE49-F238E27FC236}">
                <a16:creationId xmlns:a16="http://schemas.microsoft.com/office/drawing/2014/main" id="{40D250C0-144E-8445-9C70-6BEF4B0F24A0}"/>
              </a:ext>
            </a:extLst>
          </p:cNvPr>
          <p:cNvSpPr>
            <a:spLocks noGrp="1"/>
          </p:cNvSpPr>
          <p:nvPr>
            <p:ph idx="1"/>
          </p:nvPr>
        </p:nvSpPr>
        <p:spPr/>
        <p:txBody>
          <a:bodyPr>
            <a:noAutofit/>
          </a:bodyPr>
          <a:lstStyle/>
          <a:p>
            <a:r>
              <a:rPr lang="en-IE" sz="2000" dirty="0"/>
              <a:t>Generally, in Western countries, at least, there are trends away from absolutism and towards flexibility and subjectivity, perhaps towards a more modern – or post-modern – personalised, individualist, and situational ethics. </a:t>
            </a:r>
          </a:p>
          <a:p>
            <a:r>
              <a:rPr lang="en-IE" sz="2000" dirty="0"/>
              <a:t>Alternative cultural paradigms are likely to contribute new insights that may not replace the evolutionary pathway of philosophy started by the ancient Greeks around 2500 years ago, but are likely to influence the patterns of behaviour within international institutions, organisations, and business throughout this century.”</a:t>
            </a:r>
          </a:p>
          <a:p>
            <a:r>
              <a:rPr lang="en-IE" sz="2000" dirty="0"/>
              <a:t>(SOAS, 2015)</a:t>
            </a:r>
            <a:endParaRPr lang="en-US" sz="2000" dirty="0"/>
          </a:p>
        </p:txBody>
      </p:sp>
    </p:spTree>
    <p:extLst>
      <p:ext uri="{BB962C8B-B14F-4D97-AF65-F5344CB8AC3E}">
        <p14:creationId xmlns:p14="http://schemas.microsoft.com/office/powerpoint/2010/main" val="4087313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3F5D0-62D8-DAE1-796B-1F89B3B39BA8}"/>
              </a:ext>
            </a:extLst>
          </p:cNvPr>
          <p:cNvSpPr>
            <a:spLocks noGrp="1"/>
          </p:cNvSpPr>
          <p:nvPr>
            <p:ph type="title"/>
          </p:nvPr>
        </p:nvSpPr>
        <p:spPr/>
        <p:txBody>
          <a:bodyPr/>
          <a:lstStyle/>
          <a:p>
            <a:r>
              <a:rPr lang="en-US" dirty="0"/>
              <a:t>Principle Ethics</a:t>
            </a:r>
          </a:p>
        </p:txBody>
      </p:sp>
      <p:sp>
        <p:nvSpPr>
          <p:cNvPr id="3" name="Content Placeholder 2">
            <a:extLst>
              <a:ext uri="{FF2B5EF4-FFF2-40B4-BE49-F238E27FC236}">
                <a16:creationId xmlns:a16="http://schemas.microsoft.com/office/drawing/2014/main" id="{E06CB6B1-785C-8F55-290D-E72B8219F445}"/>
              </a:ext>
            </a:extLst>
          </p:cNvPr>
          <p:cNvSpPr>
            <a:spLocks noGrp="1"/>
          </p:cNvSpPr>
          <p:nvPr>
            <p:ph idx="1"/>
          </p:nvPr>
        </p:nvSpPr>
        <p:spPr/>
        <p:txBody>
          <a:bodyPr>
            <a:normAutofit/>
          </a:bodyPr>
          <a:lstStyle/>
          <a:p>
            <a:pPr marL="0" indent="0">
              <a:buNone/>
            </a:pPr>
            <a:r>
              <a:rPr lang="en-US" sz="1600" dirty="0"/>
              <a:t>Instead of being a hard line deontologist or consequentialist, an option is to avoid absolutism and recognize that there are several ethical principles to consider and balance.</a:t>
            </a:r>
          </a:p>
          <a:p>
            <a:pPr marL="0" indent="0">
              <a:buNone/>
            </a:pPr>
            <a:r>
              <a:rPr lang="en-US" sz="1600" dirty="0"/>
              <a:t>Example principles:</a:t>
            </a:r>
          </a:p>
          <a:p>
            <a:pPr marL="0" indent="0">
              <a:buNone/>
            </a:pPr>
            <a:r>
              <a:rPr lang="en-US" sz="1600" dirty="0"/>
              <a:t>(1) Beneficence – promoting the welfare of others</a:t>
            </a:r>
          </a:p>
          <a:p>
            <a:pPr marL="0" indent="0">
              <a:buNone/>
            </a:pPr>
            <a:r>
              <a:rPr lang="en-US" sz="1600" dirty="0"/>
              <a:t>(2) Nonmaleficence – avoiding actions that cause harm and preventing harm</a:t>
            </a:r>
          </a:p>
          <a:p>
            <a:pPr marL="0" indent="0">
              <a:buNone/>
            </a:pPr>
            <a:r>
              <a:rPr lang="en-US" sz="1600" dirty="0"/>
              <a:t>(3) Autonomy – fostering the right of others to make decisions on their own behalf</a:t>
            </a:r>
          </a:p>
          <a:p>
            <a:pPr marL="0" indent="0">
              <a:buNone/>
            </a:pPr>
            <a:r>
              <a:rPr lang="en-US" sz="1600" dirty="0"/>
              <a:t>(4) Justice –distributing benefits and burden equally;</a:t>
            </a:r>
          </a:p>
          <a:p>
            <a:pPr marL="0" indent="0">
              <a:buNone/>
            </a:pPr>
            <a:r>
              <a:rPr lang="en-US" sz="1600" dirty="0"/>
              <a:t>(5) Fidelity – honoring commitments and keeping promises, both stated and</a:t>
            </a:r>
          </a:p>
          <a:p>
            <a:pPr marL="0" indent="0">
              <a:buNone/>
            </a:pPr>
            <a:r>
              <a:rPr lang="en-US" sz="1600" dirty="0"/>
              <a:t>implied;</a:t>
            </a:r>
          </a:p>
          <a:p>
            <a:pPr marL="0" indent="0">
              <a:buNone/>
            </a:pPr>
            <a:r>
              <a:rPr lang="en-US" sz="1600" dirty="0"/>
              <a:t>(6) Veracity – being honest and telling the truth.</a:t>
            </a:r>
          </a:p>
        </p:txBody>
      </p:sp>
      <p:sp>
        <p:nvSpPr>
          <p:cNvPr id="4" name="TextBox 3">
            <a:extLst>
              <a:ext uri="{FF2B5EF4-FFF2-40B4-BE49-F238E27FC236}">
                <a16:creationId xmlns:a16="http://schemas.microsoft.com/office/drawing/2014/main" id="{61700C63-2F52-8F6D-CB51-2737072566DC}"/>
              </a:ext>
            </a:extLst>
          </p:cNvPr>
          <p:cNvSpPr txBox="1"/>
          <p:nvPr/>
        </p:nvSpPr>
        <p:spPr>
          <a:xfrm>
            <a:off x="3121582" y="6446192"/>
            <a:ext cx="6022418" cy="461665"/>
          </a:xfrm>
          <a:prstGeom prst="rect">
            <a:avLst/>
          </a:prstGeom>
          <a:noFill/>
        </p:spPr>
        <p:txBody>
          <a:bodyPr wrap="none" rtlCol="0">
            <a:spAutoFit/>
          </a:bodyPr>
          <a:lstStyle/>
          <a:p>
            <a:r>
              <a:rPr lang="en-US" sz="1200" dirty="0">
                <a:hlinkClick r:id="rId2"/>
              </a:rPr>
              <a:t>https://www.mccormick.northwestern.edu/research/engineering-education-research-center/</a:t>
            </a:r>
            <a:endParaRPr lang="en-US" sz="1200" dirty="0"/>
          </a:p>
          <a:p>
            <a:r>
              <a:rPr lang="en-US" sz="1200" dirty="0"/>
              <a:t>documents/events/insight-xiii/ethics-frameworks-and-philosophies-</a:t>
            </a:r>
            <a:r>
              <a:rPr lang="en-US" sz="1200" dirty="0" err="1"/>
              <a:t>edit.pdf</a:t>
            </a:r>
            <a:endParaRPr lang="en-US" sz="1200" dirty="0"/>
          </a:p>
        </p:txBody>
      </p:sp>
    </p:spTree>
    <p:extLst>
      <p:ext uri="{BB962C8B-B14F-4D97-AF65-F5344CB8AC3E}">
        <p14:creationId xmlns:p14="http://schemas.microsoft.com/office/powerpoint/2010/main" val="3850929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A67EF-E0FF-AED0-F0D3-E5437B13EF1A}"/>
              </a:ext>
            </a:extLst>
          </p:cNvPr>
          <p:cNvSpPr>
            <a:spLocks noGrp="1"/>
          </p:cNvSpPr>
          <p:nvPr>
            <p:ph type="title"/>
          </p:nvPr>
        </p:nvSpPr>
        <p:spPr/>
        <p:txBody>
          <a:bodyPr/>
          <a:lstStyle/>
          <a:p>
            <a:r>
              <a:rPr lang="en-US" dirty="0"/>
              <a:t>Beyond Europe</a:t>
            </a:r>
          </a:p>
        </p:txBody>
      </p:sp>
      <p:sp>
        <p:nvSpPr>
          <p:cNvPr id="3" name="Content Placeholder 2">
            <a:extLst>
              <a:ext uri="{FF2B5EF4-FFF2-40B4-BE49-F238E27FC236}">
                <a16:creationId xmlns:a16="http://schemas.microsoft.com/office/drawing/2014/main" id="{59B224AA-DB1A-9253-3C90-7939C87FECDD}"/>
              </a:ext>
            </a:extLst>
          </p:cNvPr>
          <p:cNvSpPr>
            <a:spLocks noGrp="1"/>
          </p:cNvSpPr>
          <p:nvPr>
            <p:ph idx="1"/>
          </p:nvPr>
        </p:nvSpPr>
        <p:spPr/>
        <p:txBody>
          <a:bodyPr/>
          <a:lstStyle/>
          <a:p>
            <a:r>
              <a:rPr lang="en-GB" sz="1800" dirty="0">
                <a:effectLst/>
                <a:latin typeface="SabonLTStd"/>
              </a:rPr>
              <a:t>Western academia tends to follow European traditions. Researchers and philosophers have identified this as limiting when trying to consider ‘universal’ ethical principles to guide technological development and AI, and other sociotechnical systems that are deployed globally and will interact with different ‘ethics of society’ and different social and cultural contexts. </a:t>
            </a:r>
            <a:endParaRPr lang="en-GB" sz="1200" dirty="0"/>
          </a:p>
          <a:p>
            <a:endParaRPr lang="en-GB" sz="1800" dirty="0">
              <a:effectLst/>
              <a:latin typeface="SabonLTStd"/>
            </a:endParaRPr>
          </a:p>
          <a:p>
            <a:r>
              <a:rPr lang="en-GB" sz="1800" dirty="0">
                <a:effectLst/>
                <a:latin typeface="SabonLTStd"/>
              </a:rPr>
              <a:t>European philosophical traditions tent to emphasize rationalism, assumptions of fixed conceptual dichotomies such as ‘good’ and ‘bad’, ‘emotion’ versus ‘reason’, or ‘ethical’ versus ‘scientific’ (O’Keefe and O’Brien, 2023)</a:t>
            </a:r>
          </a:p>
          <a:p>
            <a:pPr marL="0" indent="0">
              <a:buNone/>
            </a:pPr>
            <a:endParaRPr lang="en-GB" dirty="0"/>
          </a:p>
          <a:p>
            <a:endParaRPr lang="en-US" dirty="0"/>
          </a:p>
        </p:txBody>
      </p:sp>
    </p:spTree>
    <p:extLst>
      <p:ext uri="{BB962C8B-B14F-4D97-AF65-F5344CB8AC3E}">
        <p14:creationId xmlns:p14="http://schemas.microsoft.com/office/powerpoint/2010/main" val="4285143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94894-0AB8-670E-7A02-A500106FD9D6}"/>
              </a:ext>
            </a:extLst>
          </p:cNvPr>
          <p:cNvSpPr>
            <a:spLocks noGrp="1"/>
          </p:cNvSpPr>
          <p:nvPr>
            <p:ph type="title"/>
          </p:nvPr>
        </p:nvSpPr>
        <p:spPr/>
        <p:txBody>
          <a:bodyPr/>
          <a:lstStyle/>
          <a:p>
            <a:r>
              <a:rPr lang="en-US" dirty="0"/>
              <a:t>Non Western Philosophy</a:t>
            </a:r>
          </a:p>
        </p:txBody>
      </p:sp>
      <p:sp>
        <p:nvSpPr>
          <p:cNvPr id="3" name="Content Placeholder 2">
            <a:extLst>
              <a:ext uri="{FF2B5EF4-FFF2-40B4-BE49-F238E27FC236}">
                <a16:creationId xmlns:a16="http://schemas.microsoft.com/office/drawing/2014/main" id="{83851716-9342-A43C-2CD0-23EE0BCA3740}"/>
              </a:ext>
            </a:extLst>
          </p:cNvPr>
          <p:cNvSpPr>
            <a:spLocks noGrp="1"/>
          </p:cNvSpPr>
          <p:nvPr>
            <p:ph idx="1"/>
          </p:nvPr>
        </p:nvSpPr>
        <p:spPr/>
        <p:txBody>
          <a:bodyPr/>
          <a:lstStyle/>
          <a:p>
            <a:r>
              <a:rPr lang="en-US" dirty="0"/>
              <a:t>Ubuntu - ubuntu ethics (Africa) is defined as a set of values central among which are reciprocity, common good, peaceful relations, emphasis on human dignity, and the value of human life as well as consensus, tolerance, and mutual respect. </a:t>
            </a:r>
          </a:p>
          <a:p>
            <a:endParaRPr lang="en-US" dirty="0"/>
          </a:p>
          <a:p>
            <a:endParaRPr lang="en-US" dirty="0"/>
          </a:p>
        </p:txBody>
      </p:sp>
      <p:sp>
        <p:nvSpPr>
          <p:cNvPr id="4" name="TextBox 3">
            <a:extLst>
              <a:ext uri="{FF2B5EF4-FFF2-40B4-BE49-F238E27FC236}">
                <a16:creationId xmlns:a16="http://schemas.microsoft.com/office/drawing/2014/main" id="{DE4B03F1-A5B2-195C-1CE1-9D4077C3AD04}"/>
              </a:ext>
            </a:extLst>
          </p:cNvPr>
          <p:cNvSpPr txBox="1"/>
          <p:nvPr/>
        </p:nvSpPr>
        <p:spPr>
          <a:xfrm>
            <a:off x="506627" y="5239265"/>
            <a:ext cx="8008723" cy="646331"/>
          </a:xfrm>
          <a:prstGeom prst="rect">
            <a:avLst/>
          </a:prstGeom>
          <a:noFill/>
        </p:spPr>
        <p:txBody>
          <a:bodyPr wrap="square" rtlCol="0">
            <a:spAutoFit/>
          </a:bodyPr>
          <a:lstStyle/>
          <a:p>
            <a:r>
              <a:rPr lang="en-US" dirty="0">
                <a:hlinkClick r:id="rId2"/>
              </a:rPr>
              <a:t>https://www.bbc.com/reel/video/p0bqvs1f/the-philosophy-that-can-change-how-you-look-at-life</a:t>
            </a:r>
            <a:r>
              <a:rPr lang="en-US" dirty="0"/>
              <a:t> </a:t>
            </a:r>
          </a:p>
        </p:txBody>
      </p:sp>
    </p:spTree>
    <p:extLst>
      <p:ext uri="{BB962C8B-B14F-4D97-AF65-F5344CB8AC3E}">
        <p14:creationId xmlns:p14="http://schemas.microsoft.com/office/powerpoint/2010/main" val="6533776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5239D-2F0E-C7E4-A5AD-65AC706600B8}"/>
              </a:ext>
            </a:extLst>
          </p:cNvPr>
          <p:cNvSpPr>
            <a:spLocks noGrp="1"/>
          </p:cNvSpPr>
          <p:nvPr>
            <p:ph type="title"/>
          </p:nvPr>
        </p:nvSpPr>
        <p:spPr/>
        <p:txBody>
          <a:bodyPr/>
          <a:lstStyle/>
          <a:p>
            <a:r>
              <a:rPr lang="en-US" dirty="0"/>
              <a:t>Non Western philosophy</a:t>
            </a:r>
          </a:p>
        </p:txBody>
      </p:sp>
      <p:sp>
        <p:nvSpPr>
          <p:cNvPr id="3" name="Content Placeholder 2">
            <a:extLst>
              <a:ext uri="{FF2B5EF4-FFF2-40B4-BE49-F238E27FC236}">
                <a16:creationId xmlns:a16="http://schemas.microsoft.com/office/drawing/2014/main" id="{3D8E75E8-8C87-0638-7D18-5DEE102A16F8}"/>
              </a:ext>
            </a:extLst>
          </p:cNvPr>
          <p:cNvSpPr>
            <a:spLocks noGrp="1"/>
          </p:cNvSpPr>
          <p:nvPr>
            <p:ph idx="1"/>
          </p:nvPr>
        </p:nvSpPr>
        <p:spPr/>
        <p:txBody>
          <a:bodyPr>
            <a:normAutofit fontScale="85000" lnSpcReduction="10000"/>
          </a:bodyPr>
          <a:lstStyle/>
          <a:p>
            <a:r>
              <a:rPr lang="en-GB" dirty="0"/>
              <a:t>Māori ethics - </a:t>
            </a:r>
            <a:r>
              <a:rPr lang="en-US" dirty="0"/>
              <a:t>An example of philosophical world views that are not well described by fixed dichotomous binary ‘good/bad’ classifications are various </a:t>
            </a:r>
            <a:r>
              <a:rPr lang="en-GB" dirty="0"/>
              <a:t>Māori</a:t>
            </a:r>
            <a:r>
              <a:rPr lang="en-US" dirty="0"/>
              <a:t> traditions and values. </a:t>
            </a:r>
            <a:r>
              <a:rPr lang="en-GB" dirty="0"/>
              <a:t>Māori </a:t>
            </a:r>
            <a:r>
              <a:rPr lang="en-US" dirty="0"/>
              <a:t>ethical values and practices, as understood to have developed pre-European contact, are described in terms of the sacredness of an interconnected world in which understanding your kinship, following the example of the ancestors, connection and being in accord with the nature of things are ways to guide right action.</a:t>
            </a:r>
          </a:p>
        </p:txBody>
      </p:sp>
    </p:spTree>
    <p:extLst>
      <p:ext uri="{BB962C8B-B14F-4D97-AF65-F5344CB8AC3E}">
        <p14:creationId xmlns:p14="http://schemas.microsoft.com/office/powerpoint/2010/main" val="519965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2B9F9-38C7-DC43-B128-01EA2AF7DA98}"/>
              </a:ext>
            </a:extLst>
          </p:cNvPr>
          <p:cNvSpPr>
            <a:spLocks noGrp="1"/>
          </p:cNvSpPr>
          <p:nvPr>
            <p:ph type="title"/>
          </p:nvPr>
        </p:nvSpPr>
        <p:spPr/>
        <p:txBody>
          <a:bodyPr/>
          <a:lstStyle/>
          <a:p>
            <a:r>
              <a:rPr lang="en-US" dirty="0"/>
              <a:t>So what does this have to do with technology?</a:t>
            </a:r>
          </a:p>
        </p:txBody>
      </p:sp>
      <p:sp>
        <p:nvSpPr>
          <p:cNvPr id="3" name="Content Placeholder 2">
            <a:extLst>
              <a:ext uri="{FF2B5EF4-FFF2-40B4-BE49-F238E27FC236}">
                <a16:creationId xmlns:a16="http://schemas.microsoft.com/office/drawing/2014/main" id="{7A92B014-6A19-CA4F-9422-14CD7BF1893B}"/>
              </a:ext>
            </a:extLst>
          </p:cNvPr>
          <p:cNvSpPr>
            <a:spLocks noGrp="1"/>
          </p:cNvSpPr>
          <p:nvPr>
            <p:ph idx="1"/>
          </p:nvPr>
        </p:nvSpPr>
        <p:spPr/>
        <p:txBody>
          <a:bodyPr/>
          <a:lstStyle/>
          <a:p>
            <a:r>
              <a:rPr lang="en-IE" dirty="0"/>
              <a:t>Watch this video on ethics and the design of autonomous systems</a:t>
            </a:r>
            <a:endParaRPr lang="en-US" dirty="0"/>
          </a:p>
          <a:p>
            <a:endParaRPr lang="en-IE" dirty="0">
              <a:hlinkClick r:id="rId2"/>
            </a:endParaRPr>
          </a:p>
          <a:p>
            <a:r>
              <a:rPr lang="en-IE" dirty="0">
                <a:hlinkClick r:id="rId3"/>
              </a:rPr>
              <a:t>https://www.ted.com/talks/eleanor_nelsen_would_you_sacrifice_one_person_to_save_five?language=en</a:t>
            </a:r>
            <a:r>
              <a:rPr lang="en-IE" dirty="0"/>
              <a:t> </a:t>
            </a:r>
          </a:p>
        </p:txBody>
      </p:sp>
    </p:spTree>
    <p:extLst>
      <p:ext uri="{BB962C8B-B14F-4D97-AF65-F5344CB8AC3E}">
        <p14:creationId xmlns:p14="http://schemas.microsoft.com/office/powerpoint/2010/main" val="3832642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D61C3-C80B-D54F-A678-5315B606C286}"/>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B04E93C9-C979-304D-80C4-3F5ED4AD9BD9}"/>
              </a:ext>
            </a:extLst>
          </p:cNvPr>
          <p:cNvSpPr>
            <a:spLocks noGrp="1"/>
          </p:cNvSpPr>
          <p:nvPr>
            <p:ph idx="1"/>
          </p:nvPr>
        </p:nvSpPr>
        <p:spPr/>
        <p:txBody>
          <a:bodyPr>
            <a:normAutofit fontScale="92500" lnSpcReduction="10000"/>
          </a:bodyPr>
          <a:lstStyle/>
          <a:p>
            <a:r>
              <a:rPr lang="en-US" dirty="0"/>
              <a:t>Had you heard of “the trolley problem </a:t>
            </a:r>
            <a:r>
              <a:rPr lang="en-US"/>
              <a:t>before”?</a:t>
            </a:r>
          </a:p>
          <a:p>
            <a:pPr marL="0" indent="0">
              <a:buNone/>
            </a:pPr>
            <a:endParaRPr lang="en-US" dirty="0"/>
          </a:p>
          <a:p>
            <a:r>
              <a:rPr lang="en-IE" dirty="0"/>
              <a:t>Is it even possible to encode these types of ethical decisions into autonomous systems?</a:t>
            </a:r>
            <a:endParaRPr lang="en-US" dirty="0"/>
          </a:p>
          <a:p>
            <a:endParaRPr lang="en-US" dirty="0"/>
          </a:p>
          <a:p>
            <a:r>
              <a:rPr lang="en-US" dirty="0"/>
              <a:t>In the examples of autonomous vehicles or military drones who do you think should make these ethical decisions in the design of these systems?</a:t>
            </a:r>
          </a:p>
        </p:txBody>
      </p:sp>
    </p:spTree>
    <p:extLst>
      <p:ext uri="{BB962C8B-B14F-4D97-AF65-F5344CB8AC3E}">
        <p14:creationId xmlns:p14="http://schemas.microsoft.com/office/powerpoint/2010/main" val="35472776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45705-527C-0106-B959-E6A55E88702F}"/>
              </a:ext>
            </a:extLst>
          </p:cNvPr>
          <p:cNvSpPr>
            <a:spLocks noGrp="1"/>
          </p:cNvSpPr>
          <p:nvPr>
            <p:ph type="title"/>
          </p:nvPr>
        </p:nvSpPr>
        <p:spPr/>
        <p:txBody>
          <a:bodyPr/>
          <a:lstStyle/>
          <a:p>
            <a:r>
              <a:rPr lang="en-US" dirty="0"/>
              <a:t>Anthropic’ Claude Case Study</a:t>
            </a:r>
          </a:p>
        </p:txBody>
      </p:sp>
      <p:sp>
        <p:nvSpPr>
          <p:cNvPr id="3" name="Content Placeholder 2">
            <a:extLst>
              <a:ext uri="{FF2B5EF4-FFF2-40B4-BE49-F238E27FC236}">
                <a16:creationId xmlns:a16="http://schemas.microsoft.com/office/drawing/2014/main" id="{C2D299F0-8AB1-4F10-8ED3-08127302F06F}"/>
              </a:ext>
            </a:extLst>
          </p:cNvPr>
          <p:cNvSpPr>
            <a:spLocks noGrp="1"/>
          </p:cNvSpPr>
          <p:nvPr>
            <p:ph idx="1"/>
          </p:nvPr>
        </p:nvSpPr>
        <p:spPr/>
        <p:txBody>
          <a:bodyPr/>
          <a:lstStyle/>
          <a:p>
            <a:r>
              <a:rPr lang="en-US" dirty="0">
                <a:hlinkClick r:id="rId2"/>
              </a:rPr>
              <a:t>https://www.youtube.com/watch?v=HDfr8PvfoOw</a:t>
            </a:r>
            <a:endParaRPr lang="en-US" dirty="0"/>
          </a:p>
          <a:p>
            <a:endParaRPr lang="en-US" dirty="0"/>
          </a:p>
          <a:p>
            <a:r>
              <a:rPr lang="en-US" dirty="0"/>
              <a:t> </a:t>
            </a:r>
          </a:p>
        </p:txBody>
      </p:sp>
      <p:pic>
        <p:nvPicPr>
          <p:cNvPr id="5" name="Picture 4" descr="A person speaking into a microphone&#10;&#10;AI-generated content may be incorrect.">
            <a:extLst>
              <a:ext uri="{FF2B5EF4-FFF2-40B4-BE49-F238E27FC236}">
                <a16:creationId xmlns:a16="http://schemas.microsoft.com/office/drawing/2014/main" id="{3115AA7A-25E6-46F9-C74D-4B8D11506F5C}"/>
              </a:ext>
            </a:extLst>
          </p:cNvPr>
          <p:cNvPicPr>
            <a:picLocks noChangeAspect="1"/>
          </p:cNvPicPr>
          <p:nvPr/>
        </p:nvPicPr>
        <p:blipFill>
          <a:blip r:embed="rId3"/>
          <a:stretch>
            <a:fillRect/>
          </a:stretch>
        </p:blipFill>
        <p:spPr>
          <a:xfrm>
            <a:off x="2106065" y="2752124"/>
            <a:ext cx="4931870" cy="3543745"/>
          </a:xfrm>
          <a:prstGeom prst="rect">
            <a:avLst/>
          </a:prstGeom>
        </p:spPr>
      </p:pic>
    </p:spTree>
    <p:extLst>
      <p:ext uri="{BB962C8B-B14F-4D97-AF65-F5344CB8AC3E}">
        <p14:creationId xmlns:p14="http://schemas.microsoft.com/office/powerpoint/2010/main" val="2308758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0B4F-0393-6843-B5DF-FA32B347C0C2}"/>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D821418-1BD7-1A45-B750-3901255EA6F4}"/>
              </a:ext>
            </a:extLst>
          </p:cNvPr>
          <p:cNvSpPr>
            <a:spLocks noGrp="1"/>
          </p:cNvSpPr>
          <p:nvPr>
            <p:ph idx="1"/>
          </p:nvPr>
        </p:nvSpPr>
        <p:spPr/>
        <p:txBody>
          <a:bodyPr>
            <a:noAutofit/>
          </a:bodyPr>
          <a:lstStyle/>
          <a:p>
            <a:pPr marL="0" indent="0">
              <a:buNone/>
            </a:pPr>
            <a:r>
              <a:rPr lang="en-US" sz="1600" dirty="0"/>
              <a:t>O’Keefe, K. and O’Brien, D. (2018) Ethical Data and Information Management: Concepts, Tools and Methods (1st. ed.). Kogan Page Ltd., GBR.</a:t>
            </a:r>
          </a:p>
          <a:p>
            <a:pPr marL="0" indent="0">
              <a:buNone/>
            </a:pPr>
            <a:r>
              <a:rPr lang="en-US" sz="1600" dirty="0"/>
              <a:t>O’Keefe, K. and O’Brien, D. (2023) Data Ethics : Practical Strategies for Implementing Ethical Information Management and Governance. Kogan Page Ltd., GBR</a:t>
            </a:r>
          </a:p>
          <a:p>
            <a:pPr marL="0" indent="0">
              <a:buNone/>
            </a:pPr>
            <a:r>
              <a:rPr lang="en-US" sz="1600" dirty="0"/>
              <a:t>Ethics4EU (2020) Foundational Ethics in Computing Brick.</a:t>
            </a:r>
          </a:p>
          <a:p>
            <a:pPr marL="0" indent="0">
              <a:buNone/>
            </a:pPr>
            <a:r>
              <a:rPr lang="en-US" sz="1600" dirty="0"/>
              <a:t>﻿</a:t>
            </a:r>
            <a:r>
              <a:rPr lang="en-US" sz="1600" dirty="0" err="1"/>
              <a:t>Hasselbach</a:t>
            </a:r>
            <a:r>
              <a:rPr lang="en-US" sz="1600" dirty="0"/>
              <a:t>, G and </a:t>
            </a:r>
            <a:r>
              <a:rPr lang="en-US" sz="1600" dirty="0" err="1"/>
              <a:t>Tranberg</a:t>
            </a:r>
            <a:r>
              <a:rPr lang="en-US" sz="1600" dirty="0"/>
              <a:t>, P (2017) Data Ethics: The new competitive advantage, </a:t>
            </a:r>
            <a:r>
              <a:rPr lang="en-US" sz="1600" dirty="0" err="1"/>
              <a:t>PubliShare</a:t>
            </a:r>
            <a:r>
              <a:rPr lang="en-US" sz="1600" dirty="0"/>
              <a:t>, Copenhagen.</a:t>
            </a:r>
          </a:p>
          <a:p>
            <a:pPr marL="0" indent="0">
              <a:buNone/>
            </a:pPr>
            <a:r>
              <a:rPr lang="en-US" sz="1600" dirty="0"/>
              <a:t>SOAS (2015) Ethics for Environment and Development; Unit One: Introduction to Ethics.  Available: </a:t>
            </a:r>
            <a:r>
              <a:rPr lang="en-IE" sz="1600" dirty="0">
                <a:hlinkClick r:id="rId2"/>
              </a:rPr>
              <a:t>https://www.soas.ac.uk/cedep-demos/000_P563_EED_K3736-Demo/module/pdfs/p563_unit_01.pdf</a:t>
            </a:r>
            <a:r>
              <a:rPr lang="en-IE" sz="1600" dirty="0"/>
              <a:t> </a:t>
            </a:r>
          </a:p>
          <a:p>
            <a:pPr marL="0" indent="0">
              <a:buNone/>
            </a:pPr>
            <a:r>
              <a:rPr lang="en-IE" sz="1600" dirty="0"/>
              <a:t>Johnson, R., (2016) Kant’s Moral Philosophy”, </a:t>
            </a:r>
            <a:r>
              <a:rPr lang="en-IE" sz="1600" i="1" dirty="0"/>
              <a:t>The Stanford </a:t>
            </a:r>
            <a:r>
              <a:rPr lang="en-IE" sz="1600" i="1" dirty="0" err="1"/>
              <a:t>Encyclopedia</a:t>
            </a:r>
            <a:r>
              <a:rPr lang="en-IE" sz="1600" i="1" dirty="0"/>
              <a:t> of Philosophy. Available: </a:t>
            </a:r>
            <a:r>
              <a:rPr lang="en-IE" sz="1600" i="1" dirty="0">
                <a:hlinkClick r:id="rId3"/>
              </a:rPr>
              <a:t>https://plato.stanford.edu/entries/kant-moral/</a:t>
            </a:r>
            <a:r>
              <a:rPr lang="en-IE" sz="1600" i="1" dirty="0"/>
              <a:t> </a:t>
            </a:r>
            <a:endParaRPr lang="en-US" sz="1600" dirty="0"/>
          </a:p>
        </p:txBody>
      </p:sp>
    </p:spTree>
    <p:extLst>
      <p:ext uri="{BB962C8B-B14F-4D97-AF65-F5344CB8AC3E}">
        <p14:creationId xmlns:p14="http://schemas.microsoft.com/office/powerpoint/2010/main" val="6602509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24143</TotalTime>
  <Words>3159</Words>
  <Application>Microsoft Macintosh PowerPoint</Application>
  <PresentationFormat>On-screen Show (4:3)</PresentationFormat>
  <Paragraphs>192</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SabonLTStd</vt:lpstr>
      <vt:lpstr>Arial</vt:lpstr>
      <vt:lpstr>Calibri</vt:lpstr>
      <vt:lpstr>Courier New</vt:lpstr>
      <vt:lpstr>Helvetica Neue Medium</vt:lpstr>
      <vt:lpstr>Helvetica Neue Thin</vt:lpstr>
      <vt:lpstr>Office Theme</vt:lpstr>
      <vt:lpstr>Data Management Ethical Theory and Frameworks</vt:lpstr>
      <vt:lpstr>Data Ethics</vt:lpstr>
      <vt:lpstr>Data Ethics</vt:lpstr>
      <vt:lpstr>Ethics</vt:lpstr>
      <vt:lpstr>Ethical Theory</vt:lpstr>
      <vt:lpstr>Ethical Theory</vt:lpstr>
      <vt:lpstr>Normative Ethics</vt:lpstr>
      <vt:lpstr>Deontological ethics</vt:lpstr>
      <vt:lpstr>Deontological ethics</vt:lpstr>
      <vt:lpstr>Deontological ethics</vt:lpstr>
      <vt:lpstr>The Universal Declaration of Human Rights</vt:lpstr>
      <vt:lpstr>Deontological ethics - Duties</vt:lpstr>
      <vt:lpstr>Kant – Categorical Imperative</vt:lpstr>
      <vt:lpstr>Deontological ethics -Rights</vt:lpstr>
      <vt:lpstr>The Universal Declaration of Human Rights</vt:lpstr>
      <vt:lpstr>Deontology</vt:lpstr>
      <vt:lpstr>Critique of Deontological ethics</vt:lpstr>
      <vt:lpstr>Deontology</vt:lpstr>
      <vt:lpstr>Consequentialist theories</vt:lpstr>
      <vt:lpstr>Utilitarianism</vt:lpstr>
      <vt:lpstr>Critique of Utilitarianism</vt:lpstr>
      <vt:lpstr>Consequentialist ethics vs Deontological ethics </vt:lpstr>
      <vt:lpstr>Egoism</vt:lpstr>
      <vt:lpstr>Virtue Ethics</vt:lpstr>
      <vt:lpstr>Virtue Ethics</vt:lpstr>
      <vt:lpstr>Virtue Ethics</vt:lpstr>
      <vt:lpstr>Critique of Virtue Ethics</vt:lpstr>
      <vt:lpstr>Virtue Ethics</vt:lpstr>
      <vt:lpstr>Which ethical theory?</vt:lpstr>
      <vt:lpstr>Monism vs. Relativism</vt:lpstr>
      <vt:lpstr>Ethical Pluralism</vt:lpstr>
      <vt:lpstr>Current Ethics</vt:lpstr>
      <vt:lpstr>Principle Ethics</vt:lpstr>
      <vt:lpstr>Beyond Europe</vt:lpstr>
      <vt:lpstr>Non Western Philosophy</vt:lpstr>
      <vt:lpstr>Non Western philosophy</vt:lpstr>
      <vt:lpstr>So what does this have to do with technology?</vt:lpstr>
      <vt:lpstr>Questions</vt:lpstr>
      <vt:lpstr>Anthropic’ Claude Case Study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Errity</dc:creator>
  <cp:lastModifiedBy>Emma Murphy</cp:lastModifiedBy>
  <cp:revision>268</cp:revision>
  <cp:lastPrinted>2019-09-16T11:06:57Z</cp:lastPrinted>
  <dcterms:created xsi:type="dcterms:W3CDTF">2016-05-04T13:11:14Z</dcterms:created>
  <dcterms:modified xsi:type="dcterms:W3CDTF">2026-02-06T12:11:53Z</dcterms:modified>
</cp:coreProperties>
</file>