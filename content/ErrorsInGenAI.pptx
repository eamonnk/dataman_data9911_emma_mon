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2" r:id="rId3"/>
    <p:sldId id="278" r:id="rId4"/>
    <p:sldId id="365" r:id="rId5"/>
    <p:sldId id="363" r:id="rId6"/>
    <p:sldId id="364" r:id="rId7"/>
    <p:sldId id="366" r:id="rId8"/>
    <p:sldId id="290" r:id="rId9"/>
    <p:sldId id="291" r:id="rId10"/>
    <p:sldId id="324" r:id="rId11"/>
    <p:sldId id="325" r:id="rId12"/>
    <p:sldId id="295" r:id="rId13"/>
    <p:sldId id="395" r:id="rId14"/>
    <p:sldId id="396" r:id="rId15"/>
    <p:sldId id="386" r:id="rId16"/>
    <p:sldId id="262" r:id="rId17"/>
    <p:sldId id="367" r:id="rId18"/>
    <p:sldId id="368" r:id="rId19"/>
    <p:sldId id="264" r:id="rId20"/>
    <p:sldId id="263" r:id="rId21"/>
    <p:sldId id="369" r:id="rId22"/>
    <p:sldId id="379" r:id="rId23"/>
    <p:sldId id="265" r:id="rId24"/>
    <p:sldId id="326" r:id="rId25"/>
    <p:sldId id="328" r:id="rId26"/>
    <p:sldId id="329" r:id="rId27"/>
    <p:sldId id="327" r:id="rId28"/>
    <p:sldId id="330" r:id="rId29"/>
    <p:sldId id="331" r:id="rId30"/>
    <p:sldId id="380" r:id="rId31"/>
    <p:sldId id="267" r:id="rId32"/>
    <p:sldId id="337" r:id="rId33"/>
    <p:sldId id="333" r:id="rId34"/>
    <p:sldId id="334" r:id="rId35"/>
    <p:sldId id="335" r:id="rId36"/>
    <p:sldId id="336" r:id="rId37"/>
    <p:sldId id="338" r:id="rId38"/>
    <p:sldId id="339" r:id="rId39"/>
    <p:sldId id="381" r:id="rId40"/>
    <p:sldId id="268" r:id="rId41"/>
    <p:sldId id="340" r:id="rId42"/>
    <p:sldId id="341" r:id="rId43"/>
    <p:sldId id="342" r:id="rId44"/>
    <p:sldId id="343" r:id="rId45"/>
    <p:sldId id="344" r:id="rId46"/>
    <p:sldId id="345" r:id="rId47"/>
    <p:sldId id="382" r:id="rId48"/>
    <p:sldId id="269" r:id="rId49"/>
    <p:sldId id="346" r:id="rId50"/>
    <p:sldId id="347" r:id="rId51"/>
    <p:sldId id="348" r:id="rId52"/>
    <p:sldId id="349" r:id="rId53"/>
    <p:sldId id="350" r:id="rId54"/>
    <p:sldId id="351" r:id="rId55"/>
    <p:sldId id="383" r:id="rId56"/>
    <p:sldId id="270" r:id="rId57"/>
    <p:sldId id="387" r:id="rId58"/>
    <p:sldId id="352" r:id="rId59"/>
    <p:sldId id="353" r:id="rId60"/>
    <p:sldId id="354" r:id="rId61"/>
    <p:sldId id="355" r:id="rId62"/>
    <p:sldId id="356" r:id="rId63"/>
    <p:sldId id="357" r:id="rId64"/>
    <p:sldId id="384" r:id="rId65"/>
    <p:sldId id="271" r:id="rId66"/>
    <p:sldId id="358" r:id="rId67"/>
    <p:sldId id="359" r:id="rId68"/>
    <p:sldId id="360" r:id="rId69"/>
    <p:sldId id="361" r:id="rId70"/>
    <p:sldId id="370" r:id="rId71"/>
    <p:sldId id="371" r:id="rId72"/>
    <p:sldId id="385" r:id="rId73"/>
    <p:sldId id="272" r:id="rId74"/>
    <p:sldId id="373" r:id="rId75"/>
    <p:sldId id="374" r:id="rId76"/>
    <p:sldId id="375" r:id="rId77"/>
    <p:sldId id="376" r:id="rId78"/>
    <p:sldId id="377" r:id="rId79"/>
    <p:sldId id="378" r:id="rId80"/>
    <p:sldId id="394" r:id="rId81"/>
    <p:sldId id="273" r:id="rId82"/>
    <p:sldId id="388" r:id="rId83"/>
    <p:sldId id="389" r:id="rId84"/>
    <p:sldId id="390" r:id="rId85"/>
    <p:sldId id="391" r:id="rId86"/>
    <p:sldId id="392" r:id="rId87"/>
    <p:sldId id="393" r:id="rId88"/>
    <p:sldId id="372"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BB7"/>
    <a:srgbClr val="FFCC99"/>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7B12AE-9578-4D96-8555-17CF1136E4B8}" v="174" dt="2025-05-06T12:10:04.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8" d="100"/>
          <a:sy n="108"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9D240-1F54-EE9D-826F-41427EC26B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AA5B9309-7978-B4EA-C57C-2AE9B17118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02B1A1D4-092B-2B72-9F18-F9012CBA7265}"/>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4C8B7178-3B09-B644-0230-C9ADF73D694A}"/>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D5CAE79F-AF85-FEC2-5B21-62727610CBE1}"/>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689591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50ABC-0233-A3DC-B3A7-3C1A3D6E4754}"/>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9BB3F40B-0D9D-C79A-E3CD-09F886AE88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0B7E4BE-3651-64FD-E578-D1FABB7B3CCD}"/>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7CADF534-AD10-5966-19FB-8A8BEBCEC632}"/>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209E7359-6EA0-09F2-4E11-86505D82F41E}"/>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3135126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1D75-DB3E-A871-D6B6-2AF0F92F74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13FC77DF-1FF8-0915-084C-7B11528AAB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270AEB-CAD9-396D-046B-8AC0E383C51A}"/>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86446551-7C14-954C-3000-9A5786623A97}"/>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924619F1-C298-0656-D4A2-A4D8E87A2B0F}"/>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413418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BD200-EEDC-F00E-8AC1-0BB73544D341}"/>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7898931C-3A30-6D26-5347-01933B8C9C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5335172B-4F95-9BE0-BBF6-3AE9D7EA2E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CDB83CCC-F8AF-747C-ECD3-3A398980BD21}"/>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6" name="Footer Placeholder 5">
            <a:extLst>
              <a:ext uri="{FF2B5EF4-FFF2-40B4-BE49-F238E27FC236}">
                <a16:creationId xmlns:a16="http://schemas.microsoft.com/office/drawing/2014/main" id="{296A9E3B-7254-56EC-B1B4-6154902589BD}"/>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73D0B9C6-FD5F-CA91-CE13-BDF90A4DF0E9}"/>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759460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F6751-BA6B-6513-FAEE-76F1E7E7F018}"/>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4BCCD7CC-7916-6D57-608A-F2255AD6E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6780AA-1373-80B4-0313-09F0468B9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0C0AD3E0-043E-FD83-D7FA-DFE231489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D8FE29-F03E-2368-8CA6-1E952B0B17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940412D7-4866-DBBE-A49A-D94237003F2A}"/>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8" name="Footer Placeholder 7">
            <a:extLst>
              <a:ext uri="{FF2B5EF4-FFF2-40B4-BE49-F238E27FC236}">
                <a16:creationId xmlns:a16="http://schemas.microsoft.com/office/drawing/2014/main" id="{589D7528-A435-7187-9A46-CAB787E8F750}"/>
              </a:ext>
            </a:extLst>
          </p:cNvPr>
          <p:cNvSpPr>
            <a:spLocks noGrp="1"/>
          </p:cNvSpPr>
          <p:nvPr>
            <p:ph type="ftr" sz="quarter" idx="11"/>
          </p:nvPr>
        </p:nvSpPr>
        <p:spPr/>
        <p:txBody>
          <a:bodyPr/>
          <a:lstStyle/>
          <a:p>
            <a:endParaRPr lang="en-IE" dirty="0"/>
          </a:p>
        </p:txBody>
      </p:sp>
      <p:sp>
        <p:nvSpPr>
          <p:cNvPr id="9" name="Slide Number Placeholder 8">
            <a:extLst>
              <a:ext uri="{FF2B5EF4-FFF2-40B4-BE49-F238E27FC236}">
                <a16:creationId xmlns:a16="http://schemas.microsoft.com/office/drawing/2014/main" id="{19B01C34-A14A-EB9F-5C5A-DD00AFC87735}"/>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366416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425CD-9652-3626-7F24-7739C211BE5B}"/>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A54B0864-9173-4C6E-FB47-94542E020179}"/>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4" name="Footer Placeholder 3">
            <a:extLst>
              <a:ext uri="{FF2B5EF4-FFF2-40B4-BE49-F238E27FC236}">
                <a16:creationId xmlns:a16="http://schemas.microsoft.com/office/drawing/2014/main" id="{8298F6A0-4A9A-9E7A-6472-C4DED9FA6419}"/>
              </a:ext>
            </a:extLst>
          </p:cNvPr>
          <p:cNvSpPr>
            <a:spLocks noGrp="1"/>
          </p:cNvSpPr>
          <p:nvPr>
            <p:ph type="ftr" sz="quarter" idx="11"/>
          </p:nvPr>
        </p:nvSpPr>
        <p:spPr/>
        <p:txBody>
          <a:bodyPr/>
          <a:lstStyle/>
          <a:p>
            <a:endParaRPr lang="en-IE" dirty="0"/>
          </a:p>
        </p:txBody>
      </p:sp>
      <p:sp>
        <p:nvSpPr>
          <p:cNvPr id="5" name="Slide Number Placeholder 4">
            <a:extLst>
              <a:ext uri="{FF2B5EF4-FFF2-40B4-BE49-F238E27FC236}">
                <a16:creationId xmlns:a16="http://schemas.microsoft.com/office/drawing/2014/main" id="{CC8ED0D1-9401-D9A3-DF23-70768441CE32}"/>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1644456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68096B-5801-A62F-3E66-4AB73629D72A}"/>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3" name="Footer Placeholder 2">
            <a:extLst>
              <a:ext uri="{FF2B5EF4-FFF2-40B4-BE49-F238E27FC236}">
                <a16:creationId xmlns:a16="http://schemas.microsoft.com/office/drawing/2014/main" id="{57900169-8D95-7BC4-21BD-3A344BF69DDD}"/>
              </a:ext>
            </a:extLst>
          </p:cNvPr>
          <p:cNvSpPr>
            <a:spLocks noGrp="1"/>
          </p:cNvSpPr>
          <p:nvPr>
            <p:ph type="ftr" sz="quarter" idx="11"/>
          </p:nvPr>
        </p:nvSpPr>
        <p:spPr/>
        <p:txBody>
          <a:bodyPr/>
          <a:lstStyle/>
          <a:p>
            <a:endParaRPr lang="en-IE" dirty="0"/>
          </a:p>
        </p:txBody>
      </p:sp>
      <p:sp>
        <p:nvSpPr>
          <p:cNvPr id="4" name="Slide Number Placeholder 3">
            <a:extLst>
              <a:ext uri="{FF2B5EF4-FFF2-40B4-BE49-F238E27FC236}">
                <a16:creationId xmlns:a16="http://schemas.microsoft.com/office/drawing/2014/main" id="{CFE447D7-B6F7-7461-859E-A857E9B2F1CA}"/>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2630827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CCAA1-AE62-1EB1-AD82-91DDCDDCC6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0AF3C108-A097-923B-8A2F-B4093FDF8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203FF524-4CB2-BC91-768E-F8279343B8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6EF79-3D8A-5E49-C94E-D20E1DF36833}"/>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6" name="Footer Placeholder 5">
            <a:extLst>
              <a:ext uri="{FF2B5EF4-FFF2-40B4-BE49-F238E27FC236}">
                <a16:creationId xmlns:a16="http://schemas.microsoft.com/office/drawing/2014/main" id="{F420FF8E-96A3-006C-6A97-E4FE28DB6859}"/>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C618B512-B339-C01D-2069-A50B47EA29FC}"/>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3471456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4BB8A-19AE-0718-3E78-871248613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1C6BBB65-F44B-360F-7D1A-56D411B319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dirty="0"/>
          </a:p>
        </p:txBody>
      </p:sp>
      <p:sp>
        <p:nvSpPr>
          <p:cNvPr id="4" name="Text Placeholder 3">
            <a:extLst>
              <a:ext uri="{FF2B5EF4-FFF2-40B4-BE49-F238E27FC236}">
                <a16:creationId xmlns:a16="http://schemas.microsoft.com/office/drawing/2014/main" id="{BB7775DC-97E3-E5BF-1B0D-1C67EB0C5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A5B4EB-7866-E1FA-073C-6E79FECD6FAE}"/>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6" name="Footer Placeholder 5">
            <a:extLst>
              <a:ext uri="{FF2B5EF4-FFF2-40B4-BE49-F238E27FC236}">
                <a16:creationId xmlns:a16="http://schemas.microsoft.com/office/drawing/2014/main" id="{69458E6F-B1A7-72B9-1948-3DE515F9D538}"/>
              </a:ext>
            </a:extLst>
          </p:cNvPr>
          <p:cNvSpPr>
            <a:spLocks noGrp="1"/>
          </p:cNvSpPr>
          <p:nvPr>
            <p:ph type="ftr" sz="quarter" idx="11"/>
          </p:nvPr>
        </p:nvSpPr>
        <p:spPr/>
        <p:txBody>
          <a:bodyPr/>
          <a:lstStyle/>
          <a:p>
            <a:endParaRPr lang="en-IE" dirty="0"/>
          </a:p>
        </p:txBody>
      </p:sp>
      <p:sp>
        <p:nvSpPr>
          <p:cNvPr id="7" name="Slide Number Placeholder 6">
            <a:extLst>
              <a:ext uri="{FF2B5EF4-FFF2-40B4-BE49-F238E27FC236}">
                <a16:creationId xmlns:a16="http://schemas.microsoft.com/office/drawing/2014/main" id="{8F615D85-545C-F18F-AE00-9F643AFA9338}"/>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1656799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746A-DE8D-D0D4-5CDE-27D2402102F0}"/>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88589CE4-D765-C731-75FD-2E6147736D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B36E675-029C-5CBF-849A-107438FCCCE2}"/>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A15B800A-E1E9-F173-CCBC-7334922383B2}"/>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85D81187-896E-01CA-3FCD-835A27BE78E2}"/>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3066932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4A6238-E967-49D2-A0D7-BDA2C271E8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A85EF8B4-A6EB-DAA1-FC2D-EDF19BE4F0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8B58478-D15C-0CB1-2662-AD9A3037A124}"/>
              </a:ext>
            </a:extLst>
          </p:cNvPr>
          <p:cNvSpPr>
            <a:spLocks noGrp="1"/>
          </p:cNvSpPr>
          <p:nvPr>
            <p:ph type="dt" sz="half" idx="10"/>
          </p:nvPr>
        </p:nvSpPr>
        <p:spPr/>
        <p:txBody>
          <a:body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21950F68-D530-443D-2EBC-956479B6EB6E}"/>
              </a:ext>
            </a:extLst>
          </p:cNvPr>
          <p:cNvSpPr>
            <a:spLocks noGrp="1"/>
          </p:cNvSpPr>
          <p:nvPr>
            <p:ph type="ftr" sz="quarter" idx="11"/>
          </p:nvPr>
        </p:nvSpPr>
        <p:spPr/>
        <p:txBody>
          <a:bodyPr/>
          <a:lstStyle/>
          <a:p>
            <a:endParaRPr lang="en-IE" dirty="0"/>
          </a:p>
        </p:txBody>
      </p:sp>
      <p:sp>
        <p:nvSpPr>
          <p:cNvPr id="6" name="Slide Number Placeholder 5">
            <a:extLst>
              <a:ext uri="{FF2B5EF4-FFF2-40B4-BE49-F238E27FC236}">
                <a16:creationId xmlns:a16="http://schemas.microsoft.com/office/drawing/2014/main" id="{D4D60F2B-AB3D-DF7D-ABC7-DDD45502BEC8}"/>
              </a:ext>
            </a:extLst>
          </p:cNvPr>
          <p:cNvSpPr>
            <a:spLocks noGrp="1"/>
          </p:cNvSpPr>
          <p:nvPr>
            <p:ph type="sldNum" sz="quarter" idx="12"/>
          </p:nvPr>
        </p:nvSpPr>
        <p:spPr/>
        <p:txBody>
          <a:bodyPr/>
          <a:lstStyle/>
          <a:p>
            <a:fld id="{8544508D-FE09-4F74-82AF-243873AEC5B9}" type="slidenum">
              <a:rPr lang="en-IE" smtClean="0"/>
              <a:t>‹#›</a:t>
            </a:fld>
            <a:endParaRPr lang="en-IE" dirty="0"/>
          </a:p>
        </p:txBody>
      </p:sp>
    </p:spTree>
    <p:extLst>
      <p:ext uri="{BB962C8B-B14F-4D97-AF65-F5344CB8AC3E}">
        <p14:creationId xmlns:p14="http://schemas.microsoft.com/office/powerpoint/2010/main" val="2084524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E7D4B-C974-A3E7-F738-8F65387433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14274D80-ED44-FF37-9250-20A549367F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FD423FB-43FC-EC44-593B-1B9DA98982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68C835-A7AA-4E6A-A36D-0CCD54B988F5}" type="datetimeFigureOut">
              <a:rPr lang="en-IE" smtClean="0"/>
              <a:t>01/02/2026</a:t>
            </a:fld>
            <a:endParaRPr lang="en-IE" dirty="0"/>
          </a:p>
        </p:txBody>
      </p:sp>
      <p:sp>
        <p:nvSpPr>
          <p:cNvPr id="5" name="Footer Placeholder 4">
            <a:extLst>
              <a:ext uri="{FF2B5EF4-FFF2-40B4-BE49-F238E27FC236}">
                <a16:creationId xmlns:a16="http://schemas.microsoft.com/office/drawing/2014/main" id="{5732C196-BAA7-2AAD-1982-BA746395E0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dirty="0"/>
          </a:p>
        </p:txBody>
      </p:sp>
      <p:sp>
        <p:nvSpPr>
          <p:cNvPr id="6" name="Slide Number Placeholder 5">
            <a:extLst>
              <a:ext uri="{FF2B5EF4-FFF2-40B4-BE49-F238E27FC236}">
                <a16:creationId xmlns:a16="http://schemas.microsoft.com/office/drawing/2014/main" id="{1F6F1C87-1A17-880E-C265-3F3153AEF5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44508D-FE09-4F74-82AF-243873AEC5B9}" type="slidenum">
              <a:rPr lang="en-IE" smtClean="0"/>
              <a:t>‹#›</a:t>
            </a:fld>
            <a:endParaRPr lang="en-IE" dirty="0"/>
          </a:p>
        </p:txBody>
      </p:sp>
    </p:spTree>
    <p:extLst>
      <p:ext uri="{BB962C8B-B14F-4D97-AF65-F5344CB8AC3E}">
        <p14:creationId xmlns:p14="http://schemas.microsoft.com/office/powerpoint/2010/main" val="4201430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00A6E1-7AFD-FB8A-B34A-CCC61F6BB9D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73C9994-E740-3279-8579-975AE080E8CE}"/>
              </a:ext>
            </a:extLst>
          </p:cNvPr>
          <p:cNvSpPr>
            <a:spLocks noGrp="1"/>
          </p:cNvSpPr>
          <p:nvPr>
            <p:ph type="ctrTitle"/>
          </p:nvPr>
        </p:nvSpPr>
        <p:spPr/>
        <p:txBody>
          <a:bodyPr>
            <a:normAutofit/>
          </a:bodyPr>
          <a:lstStyle/>
          <a:p>
            <a:r>
              <a:rPr lang="en-US" b="1" dirty="0">
                <a:solidFill>
                  <a:schemeClr val="accent4">
                    <a:lumMod val="50000"/>
                  </a:schemeClr>
                </a:solidFill>
              </a:rPr>
              <a:t>Types of Errors </a:t>
            </a:r>
            <a:br>
              <a:rPr lang="en-US" b="1" dirty="0">
                <a:solidFill>
                  <a:schemeClr val="accent4">
                    <a:lumMod val="50000"/>
                  </a:schemeClr>
                </a:solidFill>
              </a:rPr>
            </a:br>
            <a:r>
              <a:rPr lang="en-US" b="1" dirty="0">
                <a:solidFill>
                  <a:schemeClr val="accent4">
                    <a:lumMod val="50000"/>
                  </a:schemeClr>
                </a:solidFill>
              </a:rPr>
              <a:t>that GenAI Produces</a:t>
            </a:r>
            <a:endParaRPr lang="en-IE" b="1" dirty="0">
              <a:solidFill>
                <a:schemeClr val="accent4">
                  <a:lumMod val="50000"/>
                </a:schemeClr>
              </a:solidFill>
            </a:endParaRPr>
          </a:p>
        </p:txBody>
      </p:sp>
      <p:sp>
        <p:nvSpPr>
          <p:cNvPr id="3" name="Subtitle 2">
            <a:extLst>
              <a:ext uri="{FF2B5EF4-FFF2-40B4-BE49-F238E27FC236}">
                <a16:creationId xmlns:a16="http://schemas.microsoft.com/office/drawing/2014/main" id="{BE3FE9B7-208F-8A82-CB0B-27FEBE3BD188}"/>
              </a:ext>
            </a:extLst>
          </p:cNvPr>
          <p:cNvSpPr>
            <a:spLocks noGrp="1"/>
          </p:cNvSpPr>
          <p:nvPr>
            <p:ph type="subTitle" idx="1"/>
          </p:nvPr>
        </p:nvSpPr>
        <p:spPr/>
        <p:txBody>
          <a:bodyPr/>
          <a:lstStyle/>
          <a:p>
            <a:endParaRPr lang="en-US" sz="3600" b="1" dirty="0"/>
          </a:p>
          <a:p>
            <a:r>
              <a:rPr lang="en-US" sz="3600" b="1" dirty="0"/>
              <a:t>TU Dublin</a:t>
            </a:r>
            <a:endParaRPr lang="en-IE" b="1" dirty="0"/>
          </a:p>
        </p:txBody>
      </p:sp>
    </p:spTree>
    <p:extLst>
      <p:ext uri="{BB962C8B-B14F-4D97-AF65-F5344CB8AC3E}">
        <p14:creationId xmlns:p14="http://schemas.microsoft.com/office/powerpoint/2010/main" val="4132342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D722-84DE-4105-F482-699537476C73}"/>
              </a:ext>
            </a:extLst>
          </p:cNvPr>
          <p:cNvSpPr>
            <a:spLocks noGrp="1"/>
          </p:cNvSpPr>
          <p:nvPr>
            <p:ph type="title"/>
          </p:nvPr>
        </p:nvSpPr>
        <p:spPr/>
        <p:txBody>
          <a:bodyPr/>
          <a:lstStyle/>
          <a:p>
            <a:r>
              <a:rPr lang="en-GB" b="1" dirty="0"/>
              <a:t>Generative AI</a:t>
            </a:r>
            <a:endParaRPr lang="en-IE" b="1" dirty="0"/>
          </a:p>
        </p:txBody>
      </p:sp>
      <p:sp>
        <p:nvSpPr>
          <p:cNvPr id="3" name="Content Placeholder 2">
            <a:extLst>
              <a:ext uri="{FF2B5EF4-FFF2-40B4-BE49-F238E27FC236}">
                <a16:creationId xmlns:a16="http://schemas.microsoft.com/office/drawing/2014/main" id="{DD890661-0C4C-E10A-29D7-47145DD56725}"/>
              </a:ext>
            </a:extLst>
          </p:cNvPr>
          <p:cNvSpPr>
            <a:spLocks noGrp="1"/>
          </p:cNvSpPr>
          <p:nvPr>
            <p:ph idx="1"/>
          </p:nvPr>
        </p:nvSpPr>
        <p:spPr/>
        <p:txBody>
          <a:bodyPr>
            <a:normAutofit/>
          </a:bodyPr>
          <a:lstStyle/>
          <a:p>
            <a:endParaRPr lang="en-GB" sz="5400" dirty="0"/>
          </a:p>
          <a:p>
            <a:r>
              <a:rPr lang="en-GB" sz="5400" dirty="0"/>
              <a:t>Generative AI is incredibly useful, but it is not without its faults:</a:t>
            </a:r>
            <a:endParaRPr lang="en-IE" sz="5400" dirty="0"/>
          </a:p>
        </p:txBody>
      </p:sp>
    </p:spTree>
    <p:extLst>
      <p:ext uri="{BB962C8B-B14F-4D97-AF65-F5344CB8AC3E}">
        <p14:creationId xmlns:p14="http://schemas.microsoft.com/office/powerpoint/2010/main" val="1626973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56DCC4-4C2D-D8E0-F92F-4A13D5C7BA2C}"/>
              </a:ext>
            </a:extLst>
          </p:cNvPr>
          <p:cNvPicPr>
            <a:picLocks noChangeAspect="1"/>
          </p:cNvPicPr>
          <p:nvPr/>
        </p:nvPicPr>
        <p:blipFill>
          <a:blip r:embed="rId2"/>
          <a:stretch>
            <a:fillRect/>
          </a:stretch>
        </p:blipFill>
        <p:spPr>
          <a:xfrm>
            <a:off x="575833" y="1616780"/>
            <a:ext cx="11358918" cy="3216478"/>
          </a:xfrm>
          <a:prstGeom prst="rect">
            <a:avLst/>
          </a:prstGeom>
        </p:spPr>
      </p:pic>
    </p:spTree>
    <p:extLst>
      <p:ext uri="{BB962C8B-B14F-4D97-AF65-F5344CB8AC3E}">
        <p14:creationId xmlns:p14="http://schemas.microsoft.com/office/powerpoint/2010/main" val="3521442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B588-2013-CE3D-AC53-8AAA5FE8142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A73B428-47D3-2E85-F39B-E811BDE2472C}"/>
              </a:ext>
            </a:extLst>
          </p:cNvPr>
          <p:cNvPicPr>
            <a:picLocks noChangeAspect="1"/>
          </p:cNvPicPr>
          <p:nvPr/>
        </p:nvPicPr>
        <p:blipFill>
          <a:blip r:embed="rId2"/>
          <a:stretch>
            <a:fillRect/>
          </a:stretch>
        </p:blipFill>
        <p:spPr>
          <a:xfrm>
            <a:off x="658863" y="1882562"/>
            <a:ext cx="10874273" cy="2635009"/>
          </a:xfrm>
          <a:prstGeom prst="rect">
            <a:avLst/>
          </a:prstGeom>
        </p:spPr>
      </p:pic>
    </p:spTree>
    <p:extLst>
      <p:ext uri="{BB962C8B-B14F-4D97-AF65-F5344CB8AC3E}">
        <p14:creationId xmlns:p14="http://schemas.microsoft.com/office/powerpoint/2010/main" val="3620227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DB3F-2F55-43E1-255C-7CE9BDDAA8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2A782F-EC4B-A97F-0525-C5DFFFC3C8D2}"/>
              </a:ext>
            </a:extLst>
          </p:cNvPr>
          <p:cNvPicPr>
            <a:picLocks noChangeAspect="1"/>
          </p:cNvPicPr>
          <p:nvPr/>
        </p:nvPicPr>
        <p:blipFill>
          <a:blip r:embed="rId2"/>
          <a:stretch>
            <a:fillRect/>
          </a:stretch>
        </p:blipFill>
        <p:spPr>
          <a:xfrm>
            <a:off x="0" y="475040"/>
            <a:ext cx="12192000" cy="5907920"/>
          </a:xfrm>
          <a:prstGeom prst="rect">
            <a:avLst/>
          </a:prstGeom>
        </p:spPr>
      </p:pic>
    </p:spTree>
    <p:extLst>
      <p:ext uri="{BB962C8B-B14F-4D97-AF65-F5344CB8AC3E}">
        <p14:creationId xmlns:p14="http://schemas.microsoft.com/office/powerpoint/2010/main" val="4044482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E73B8-4CF8-3D0C-3E4D-7C845C05C04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2676B0-DA87-C6A2-21DF-64D7FA9398D3}"/>
              </a:ext>
            </a:extLst>
          </p:cNvPr>
          <p:cNvPicPr>
            <a:picLocks noChangeAspect="1"/>
          </p:cNvPicPr>
          <p:nvPr/>
        </p:nvPicPr>
        <p:blipFill>
          <a:blip r:embed="rId2"/>
          <a:stretch>
            <a:fillRect/>
          </a:stretch>
        </p:blipFill>
        <p:spPr>
          <a:xfrm>
            <a:off x="924744" y="0"/>
            <a:ext cx="10342512" cy="6858000"/>
          </a:xfrm>
          <a:prstGeom prst="rect">
            <a:avLst/>
          </a:prstGeom>
        </p:spPr>
      </p:pic>
    </p:spTree>
    <p:extLst>
      <p:ext uri="{BB962C8B-B14F-4D97-AF65-F5344CB8AC3E}">
        <p14:creationId xmlns:p14="http://schemas.microsoft.com/office/powerpoint/2010/main" val="1406933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07926-5CD1-2617-C0E3-CF8EC7F6E8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6BDB4BA-9C15-BB9C-2DD0-316E959FCA17}"/>
              </a:ext>
            </a:extLst>
          </p:cNvPr>
          <p:cNvPicPr>
            <a:picLocks noChangeAspect="1"/>
          </p:cNvPicPr>
          <p:nvPr/>
        </p:nvPicPr>
        <p:blipFill>
          <a:blip r:embed="rId2"/>
          <a:stretch>
            <a:fillRect/>
          </a:stretch>
        </p:blipFill>
        <p:spPr>
          <a:xfrm>
            <a:off x="2096962" y="0"/>
            <a:ext cx="7998076" cy="6858000"/>
          </a:xfrm>
          <a:prstGeom prst="rect">
            <a:avLst/>
          </a:prstGeom>
        </p:spPr>
      </p:pic>
    </p:spTree>
    <p:extLst>
      <p:ext uri="{BB962C8B-B14F-4D97-AF65-F5344CB8AC3E}">
        <p14:creationId xmlns:p14="http://schemas.microsoft.com/office/powerpoint/2010/main" val="3309033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B47C-F269-BF5F-7B56-E23161AA07D6}"/>
              </a:ext>
            </a:extLst>
          </p:cNvPr>
          <p:cNvSpPr>
            <a:spLocks noGrp="1"/>
          </p:cNvSpPr>
          <p:nvPr>
            <p:ph type="title"/>
          </p:nvPr>
        </p:nvSpPr>
        <p:spPr/>
        <p:txBody>
          <a:bodyPr>
            <a:normAutofit/>
          </a:bodyPr>
          <a:lstStyle/>
          <a:p>
            <a:r>
              <a:rPr lang="en-IE" sz="4000" b="1" dirty="0">
                <a:latin typeface="Courier New" panose="02070309020205020404" pitchFamily="49" charset="0"/>
                <a:cs typeface="Courier New" panose="02070309020205020404" pitchFamily="49" charset="0"/>
              </a:rPr>
              <a:t>They get too busy:</a:t>
            </a:r>
          </a:p>
        </p:txBody>
      </p:sp>
      <p:pic>
        <p:nvPicPr>
          <p:cNvPr id="4" name="Picture 3" descr="ChatGPT Plus: Still Locked Out - Kevin Menear - Medium">
            <a:extLst>
              <a:ext uri="{FF2B5EF4-FFF2-40B4-BE49-F238E27FC236}">
                <a16:creationId xmlns:a16="http://schemas.microsoft.com/office/drawing/2014/main" id="{D4F58FB9-A602-E4DD-262C-41463E5043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16877" y="1901284"/>
            <a:ext cx="5558246" cy="4460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087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B47C-F269-BF5F-7B56-E23161AA07D6}"/>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And even if you can log in, you might not stay logged in:</a:t>
            </a:r>
            <a:endParaRPr lang="en-IE" sz="4000" b="1" dirty="0">
              <a:latin typeface="Courier New" panose="02070309020205020404" pitchFamily="49" charset="0"/>
              <a:cs typeface="Courier New" panose="02070309020205020404" pitchFamily="49" charset="0"/>
            </a:endParaRPr>
          </a:p>
        </p:txBody>
      </p:sp>
      <p:pic>
        <p:nvPicPr>
          <p:cNvPr id="3" name="Picture 2" descr="Had to see how it'd react. Was not disappointed. : r/OpenAI">
            <a:extLst>
              <a:ext uri="{FF2B5EF4-FFF2-40B4-BE49-F238E27FC236}">
                <a16:creationId xmlns:a16="http://schemas.microsoft.com/office/drawing/2014/main" id="{4832A8C6-75B0-47D6-4864-83A0CDF0D6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0514" y="2369123"/>
            <a:ext cx="10990971" cy="3257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71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583D1-5DD0-48C8-2E59-FA1FFA9B792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ACA6418-0783-CFEB-7693-ACB97FEB1185}"/>
              </a:ext>
            </a:extLst>
          </p:cNvPr>
          <p:cNvSpPr/>
          <p:nvPr/>
        </p:nvSpPr>
        <p:spPr>
          <a:xfrm>
            <a:off x="436880" y="1502469"/>
            <a:ext cx="11348720" cy="499040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6FAC270A-AE17-E711-8D78-5CDF16685C8D}"/>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It’s not as smart as it seems:</a:t>
            </a:r>
            <a:endParaRPr lang="en-IE" sz="4000" b="1" dirty="0">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4CA56EF1-CD4A-063C-DCAA-A12110A6A5BC}"/>
              </a:ext>
            </a:extLst>
          </p:cNvPr>
          <p:cNvPicPr>
            <a:picLocks noChangeAspect="1"/>
          </p:cNvPicPr>
          <p:nvPr/>
        </p:nvPicPr>
        <p:blipFill>
          <a:blip r:embed="rId2"/>
          <a:stretch>
            <a:fillRect/>
          </a:stretch>
        </p:blipFill>
        <p:spPr>
          <a:xfrm>
            <a:off x="2425492" y="2142613"/>
            <a:ext cx="2972215" cy="3248478"/>
          </a:xfrm>
          <a:prstGeom prst="rect">
            <a:avLst/>
          </a:prstGeom>
        </p:spPr>
      </p:pic>
      <p:pic>
        <p:nvPicPr>
          <p:cNvPr id="9" name="Picture 8">
            <a:extLst>
              <a:ext uri="{FF2B5EF4-FFF2-40B4-BE49-F238E27FC236}">
                <a16:creationId xmlns:a16="http://schemas.microsoft.com/office/drawing/2014/main" id="{E37D482E-AF38-F20E-B8BE-BC5A628D61AE}"/>
              </a:ext>
            </a:extLst>
          </p:cNvPr>
          <p:cNvPicPr>
            <a:picLocks noChangeAspect="1"/>
          </p:cNvPicPr>
          <p:nvPr/>
        </p:nvPicPr>
        <p:blipFill>
          <a:blip r:embed="rId3"/>
          <a:stretch>
            <a:fillRect/>
          </a:stretch>
        </p:blipFill>
        <p:spPr>
          <a:xfrm>
            <a:off x="7024049" y="2142613"/>
            <a:ext cx="2972216" cy="3503187"/>
          </a:xfrm>
          <a:prstGeom prst="rect">
            <a:avLst/>
          </a:prstGeom>
        </p:spPr>
      </p:pic>
      <p:sp>
        <p:nvSpPr>
          <p:cNvPr id="10" name="Arrow: Left-Right 9">
            <a:extLst>
              <a:ext uri="{FF2B5EF4-FFF2-40B4-BE49-F238E27FC236}">
                <a16:creationId xmlns:a16="http://schemas.microsoft.com/office/drawing/2014/main" id="{257E0411-0EF3-CE12-4B93-6D5751457E05}"/>
              </a:ext>
            </a:extLst>
          </p:cNvPr>
          <p:cNvSpPr/>
          <p:nvPr/>
        </p:nvSpPr>
        <p:spPr>
          <a:xfrm>
            <a:off x="4622799" y="3229895"/>
            <a:ext cx="2972215" cy="1325563"/>
          </a:xfrm>
          <a:prstGeom prst="leftRightArrow">
            <a:avLst>
              <a:gd name="adj1" fmla="val 71461"/>
              <a:gd name="adj2" fmla="val 5000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n w="22225">
                  <a:solidFill>
                    <a:schemeClr val="accent2"/>
                  </a:solidFill>
                  <a:prstDash val="solid"/>
                </a:ln>
                <a:solidFill>
                  <a:schemeClr val="accent2">
                    <a:lumMod val="40000"/>
                    <a:lumOff val="60000"/>
                  </a:schemeClr>
                </a:solidFill>
              </a:rPr>
              <a:t>Related ???</a:t>
            </a:r>
            <a:endParaRPr lang="en-IE"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428090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50B8AC7-E1FE-AF37-AE17-D5C0FF155BAA}"/>
              </a:ext>
            </a:extLst>
          </p:cNvPr>
          <p:cNvSpPr/>
          <p:nvPr/>
        </p:nvSpPr>
        <p:spPr>
          <a:xfrm>
            <a:off x="436880" y="1502469"/>
            <a:ext cx="11348720" cy="499040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AF67B47C-F269-BF5F-7B56-E23161AA07D6}"/>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It’s not as smart as it seems:</a:t>
            </a:r>
            <a:endParaRPr lang="en-IE" sz="4000" b="1" dirty="0">
              <a:latin typeface="Courier New" panose="02070309020205020404" pitchFamily="49" charset="0"/>
              <a:cs typeface="Courier New" panose="02070309020205020404" pitchFamily="49" charset="0"/>
            </a:endParaRPr>
          </a:p>
        </p:txBody>
      </p:sp>
      <p:pic>
        <p:nvPicPr>
          <p:cNvPr id="8194" name="Picture 2" descr="Image">
            <a:extLst>
              <a:ext uri="{FF2B5EF4-FFF2-40B4-BE49-F238E27FC236}">
                <a16:creationId xmlns:a16="http://schemas.microsoft.com/office/drawing/2014/main" id="{77BC7232-9C64-352C-704E-E859A1ABD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2049463"/>
            <a:ext cx="1030605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399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50B8AC7-E1FE-AF37-AE17-D5C0FF155BAA}"/>
              </a:ext>
            </a:extLst>
          </p:cNvPr>
          <p:cNvSpPr/>
          <p:nvPr/>
        </p:nvSpPr>
        <p:spPr>
          <a:xfrm>
            <a:off x="436880" y="1502469"/>
            <a:ext cx="11348720" cy="4990406"/>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AF67B47C-F269-BF5F-7B56-E23161AA07D6}"/>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In this case the GenAI doesn’t understand the words “last name”:</a:t>
            </a:r>
            <a:endParaRPr lang="en-IE" sz="4000" b="1" dirty="0">
              <a:latin typeface="Courier New" panose="02070309020205020404" pitchFamily="49" charset="0"/>
              <a:cs typeface="Courier New" panose="02070309020205020404" pitchFamily="49" charset="0"/>
            </a:endParaRPr>
          </a:p>
        </p:txBody>
      </p:sp>
      <p:pic>
        <p:nvPicPr>
          <p:cNvPr id="8194" name="Picture 2" descr="Image">
            <a:extLst>
              <a:ext uri="{FF2B5EF4-FFF2-40B4-BE49-F238E27FC236}">
                <a16:creationId xmlns:a16="http://schemas.microsoft.com/office/drawing/2014/main" id="{77BC7232-9C64-352C-704E-E859A1ABD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2049463"/>
            <a:ext cx="1030605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908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0754D-4EEF-235F-3047-DF4C5D143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2E181-3B6B-EC39-8B07-3C759C8207B8}"/>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It will always be out of date:</a:t>
            </a:r>
            <a:endParaRPr lang="en-IE" sz="4000" b="1"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C6A2C95-1E3E-83A8-71F1-11B77DB3D09C}"/>
              </a:ext>
            </a:extLst>
          </p:cNvPr>
          <p:cNvPicPr>
            <a:picLocks noChangeAspect="1"/>
          </p:cNvPicPr>
          <p:nvPr/>
        </p:nvPicPr>
        <p:blipFill>
          <a:blip r:embed="rId2"/>
          <a:stretch>
            <a:fillRect/>
          </a:stretch>
        </p:blipFill>
        <p:spPr>
          <a:xfrm>
            <a:off x="280165" y="2049663"/>
            <a:ext cx="11784070" cy="3629532"/>
          </a:xfrm>
          <a:prstGeom prst="rect">
            <a:avLst/>
          </a:prstGeom>
        </p:spPr>
      </p:pic>
      <p:sp>
        <p:nvSpPr>
          <p:cNvPr id="6" name="Oval 5">
            <a:extLst>
              <a:ext uri="{FF2B5EF4-FFF2-40B4-BE49-F238E27FC236}">
                <a16:creationId xmlns:a16="http://schemas.microsoft.com/office/drawing/2014/main" id="{7EB0069F-C047-D4EF-7852-5BC7B343B841}"/>
              </a:ext>
            </a:extLst>
          </p:cNvPr>
          <p:cNvSpPr/>
          <p:nvPr/>
        </p:nvSpPr>
        <p:spPr>
          <a:xfrm>
            <a:off x="1894115" y="4027714"/>
            <a:ext cx="1709058" cy="674915"/>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30427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3099A-9D10-F7B9-9301-54489C0D5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59B59-3A4C-B43E-5059-F94A5E5D8338}"/>
              </a:ext>
            </a:extLst>
          </p:cNvPr>
          <p:cNvSpPr>
            <a:spLocks noGrp="1"/>
          </p:cNvSpPr>
          <p:nvPr>
            <p:ph type="title"/>
          </p:nvPr>
        </p:nvSpPr>
        <p:spPr/>
        <p:txBody>
          <a:bodyPr>
            <a:normAutofit/>
          </a:bodyPr>
          <a:lstStyle/>
          <a:p>
            <a:r>
              <a:rPr lang="en-GB" sz="4000" b="1" dirty="0">
                <a:latin typeface="Courier New" panose="02070309020205020404" pitchFamily="49" charset="0"/>
                <a:cs typeface="Courier New" panose="02070309020205020404" pitchFamily="49" charset="0"/>
              </a:rPr>
              <a:t>It will always be out of date:</a:t>
            </a:r>
            <a:endParaRPr lang="en-IE" sz="4000" b="1"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5CEE9604-30F1-DB21-1D22-40126BE23383}"/>
              </a:ext>
            </a:extLst>
          </p:cNvPr>
          <p:cNvPicPr>
            <a:picLocks noChangeAspect="1"/>
          </p:cNvPicPr>
          <p:nvPr/>
        </p:nvPicPr>
        <p:blipFill>
          <a:blip r:embed="rId2"/>
          <a:stretch>
            <a:fillRect/>
          </a:stretch>
        </p:blipFill>
        <p:spPr>
          <a:xfrm>
            <a:off x="280165" y="2049663"/>
            <a:ext cx="11784070" cy="3629532"/>
          </a:xfrm>
          <a:prstGeom prst="rect">
            <a:avLst/>
          </a:prstGeom>
        </p:spPr>
      </p:pic>
      <p:sp>
        <p:nvSpPr>
          <p:cNvPr id="6" name="Oval 5">
            <a:extLst>
              <a:ext uri="{FF2B5EF4-FFF2-40B4-BE49-F238E27FC236}">
                <a16:creationId xmlns:a16="http://schemas.microsoft.com/office/drawing/2014/main" id="{3EFCF1C3-FB4D-7650-9837-03E21E4CB752}"/>
              </a:ext>
            </a:extLst>
          </p:cNvPr>
          <p:cNvSpPr/>
          <p:nvPr/>
        </p:nvSpPr>
        <p:spPr>
          <a:xfrm>
            <a:off x="1894115" y="4027714"/>
            <a:ext cx="1709058" cy="674915"/>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Rectangle: Rounded Corners 6">
            <a:extLst>
              <a:ext uri="{FF2B5EF4-FFF2-40B4-BE49-F238E27FC236}">
                <a16:creationId xmlns:a16="http://schemas.microsoft.com/office/drawing/2014/main" id="{BB2723D1-3C4A-8420-FFBB-73C2544C90C3}"/>
              </a:ext>
            </a:extLst>
          </p:cNvPr>
          <p:cNvSpPr/>
          <p:nvPr/>
        </p:nvSpPr>
        <p:spPr>
          <a:xfrm>
            <a:off x="1807028" y="5668309"/>
            <a:ext cx="6270172" cy="813680"/>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800" b="1" dirty="0"/>
              <a:t>This is a form of *hallucination*</a:t>
            </a:r>
            <a:endParaRPr lang="en-IE" sz="2800" dirty="0"/>
          </a:p>
        </p:txBody>
      </p:sp>
    </p:spTree>
    <p:extLst>
      <p:ext uri="{BB962C8B-B14F-4D97-AF65-F5344CB8AC3E}">
        <p14:creationId xmlns:p14="http://schemas.microsoft.com/office/powerpoint/2010/main" val="3930547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678B4-E739-4CAA-A1AA-72F29D7B8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5A00D-CEE1-29AC-AA0E-7258A4647705}"/>
              </a:ext>
            </a:extLst>
          </p:cNvPr>
          <p:cNvSpPr>
            <a:spLocks noGrp="1"/>
          </p:cNvSpPr>
          <p:nvPr>
            <p:ph type="title"/>
          </p:nvPr>
        </p:nvSpPr>
        <p:spPr/>
        <p:txBody>
          <a:bodyPr/>
          <a:lstStyle/>
          <a:p>
            <a:r>
              <a:rPr lang="en-GB" b="1" dirty="0"/>
              <a:t>Generative AI</a:t>
            </a:r>
            <a:endParaRPr lang="en-IE" b="1" dirty="0"/>
          </a:p>
        </p:txBody>
      </p:sp>
      <p:sp>
        <p:nvSpPr>
          <p:cNvPr id="3" name="Content Placeholder 2">
            <a:extLst>
              <a:ext uri="{FF2B5EF4-FFF2-40B4-BE49-F238E27FC236}">
                <a16:creationId xmlns:a16="http://schemas.microsoft.com/office/drawing/2014/main" id="{077A5024-4510-24DB-3FA1-D3BB23C2E038}"/>
              </a:ext>
            </a:extLst>
          </p:cNvPr>
          <p:cNvSpPr>
            <a:spLocks noGrp="1"/>
          </p:cNvSpPr>
          <p:nvPr>
            <p:ph idx="1"/>
          </p:nvPr>
        </p:nvSpPr>
        <p:spPr/>
        <p:txBody>
          <a:bodyPr>
            <a:normAutofit/>
          </a:bodyPr>
          <a:lstStyle/>
          <a:p>
            <a:endParaRPr lang="en-GB" sz="5400" dirty="0"/>
          </a:p>
          <a:p>
            <a:r>
              <a:rPr lang="en-GB" sz="5400" dirty="0"/>
              <a:t>Let’s look at some common errors that Generative AI produces:</a:t>
            </a:r>
            <a:endParaRPr lang="en-IE" sz="5400" dirty="0"/>
          </a:p>
        </p:txBody>
      </p:sp>
    </p:spTree>
    <p:extLst>
      <p:ext uri="{BB962C8B-B14F-4D97-AF65-F5344CB8AC3E}">
        <p14:creationId xmlns:p14="http://schemas.microsoft.com/office/powerpoint/2010/main" val="1225949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A3BCA-96F9-689C-4FFB-DBC3792D867C}"/>
              </a:ext>
            </a:extLst>
          </p:cNvPr>
          <p:cNvSpPr>
            <a:spLocks noGrp="1"/>
          </p:cNvSpPr>
          <p:nvPr>
            <p:ph type="title"/>
          </p:nvPr>
        </p:nvSpPr>
        <p:spPr/>
        <p:txBody>
          <a:bodyPr/>
          <a:lstStyle/>
          <a:p>
            <a:r>
              <a:rPr lang="en-GB" b="1" dirty="0"/>
              <a:t>Types of Errors that GenAI Produces</a:t>
            </a:r>
            <a:endParaRPr lang="en-IE" b="1" dirty="0"/>
          </a:p>
        </p:txBody>
      </p:sp>
      <p:sp>
        <p:nvSpPr>
          <p:cNvPr id="3" name="Content Placeholder 2">
            <a:extLst>
              <a:ext uri="{FF2B5EF4-FFF2-40B4-BE49-F238E27FC236}">
                <a16:creationId xmlns:a16="http://schemas.microsoft.com/office/drawing/2014/main" id="{35168262-6B5F-893B-E518-FE997823B6CD}"/>
              </a:ext>
            </a:extLst>
          </p:cNvPr>
          <p:cNvSpPr>
            <a:spLocks noGrp="1"/>
          </p:cNvSpPr>
          <p:nvPr>
            <p:ph sz="half" idx="1"/>
          </p:nvPr>
        </p:nvSpPr>
        <p:spPr/>
        <p:txBody>
          <a:bodyPr>
            <a:normAutofit/>
          </a:bodyPr>
          <a:lstStyle/>
          <a:p>
            <a:r>
              <a:rPr lang="en-IE" sz="4000" dirty="0"/>
              <a:t>Contradictions</a:t>
            </a:r>
          </a:p>
          <a:p>
            <a:r>
              <a:rPr lang="en-IE" sz="4000" dirty="0"/>
              <a:t>Repetition</a:t>
            </a:r>
          </a:p>
          <a:p>
            <a:r>
              <a:rPr lang="en-IE" sz="4000" dirty="0"/>
              <a:t>Ambiguity</a:t>
            </a:r>
          </a:p>
          <a:p>
            <a:r>
              <a:rPr lang="en-IE" sz="4000" dirty="0"/>
              <a:t>Stereotyping</a:t>
            </a:r>
          </a:p>
        </p:txBody>
      </p:sp>
      <p:sp>
        <p:nvSpPr>
          <p:cNvPr id="4" name="Content Placeholder 3">
            <a:extLst>
              <a:ext uri="{FF2B5EF4-FFF2-40B4-BE49-F238E27FC236}">
                <a16:creationId xmlns:a16="http://schemas.microsoft.com/office/drawing/2014/main" id="{86B98C4C-D127-4225-5102-1A491622FD9F}"/>
              </a:ext>
            </a:extLst>
          </p:cNvPr>
          <p:cNvSpPr>
            <a:spLocks noGrp="1"/>
          </p:cNvSpPr>
          <p:nvPr>
            <p:ph sz="half" idx="2"/>
          </p:nvPr>
        </p:nvSpPr>
        <p:spPr/>
        <p:txBody>
          <a:bodyPr/>
          <a:lstStyle/>
          <a:p>
            <a:r>
              <a:rPr lang="en-IE" sz="4000" dirty="0"/>
              <a:t>Hallucinations</a:t>
            </a:r>
          </a:p>
          <a:p>
            <a:r>
              <a:rPr lang="en-IE" sz="4000" dirty="0"/>
              <a:t>Bias</a:t>
            </a:r>
          </a:p>
          <a:p>
            <a:r>
              <a:rPr lang="en-IE" sz="4000" dirty="0"/>
              <a:t>Overgeneralization</a:t>
            </a:r>
          </a:p>
          <a:p>
            <a:r>
              <a:rPr lang="en-IE" sz="4000" dirty="0"/>
              <a:t>Toxicity</a:t>
            </a:r>
          </a:p>
          <a:p>
            <a:endParaRPr lang="en-IE" dirty="0"/>
          </a:p>
        </p:txBody>
      </p:sp>
    </p:spTree>
    <p:extLst>
      <p:ext uri="{BB962C8B-B14F-4D97-AF65-F5344CB8AC3E}">
        <p14:creationId xmlns:p14="http://schemas.microsoft.com/office/powerpoint/2010/main" val="2082127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10115-5644-FAED-5BBC-B584A0335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DB1AB-79E2-EB24-952E-59100B5487F1}"/>
              </a:ext>
            </a:extLst>
          </p:cNvPr>
          <p:cNvSpPr>
            <a:spLocks noGrp="1"/>
          </p:cNvSpPr>
          <p:nvPr>
            <p:ph type="title"/>
          </p:nvPr>
        </p:nvSpPr>
        <p:spPr/>
        <p:txBody>
          <a:bodyPr/>
          <a:lstStyle/>
          <a:p>
            <a:r>
              <a:rPr lang="en-GB" b="1" dirty="0"/>
              <a:t>Types of Errors that GenAI Produces</a:t>
            </a:r>
            <a:endParaRPr lang="en-IE" b="1" dirty="0"/>
          </a:p>
        </p:txBody>
      </p:sp>
      <p:sp>
        <p:nvSpPr>
          <p:cNvPr id="3" name="Content Placeholder 2">
            <a:extLst>
              <a:ext uri="{FF2B5EF4-FFF2-40B4-BE49-F238E27FC236}">
                <a16:creationId xmlns:a16="http://schemas.microsoft.com/office/drawing/2014/main" id="{A5BFD0A7-83E6-736D-E452-7BDEF45053DB}"/>
              </a:ext>
            </a:extLst>
          </p:cNvPr>
          <p:cNvSpPr>
            <a:spLocks noGrp="1"/>
          </p:cNvSpPr>
          <p:nvPr>
            <p:ph sz="half" idx="1"/>
          </p:nvPr>
        </p:nvSpPr>
        <p:spPr/>
        <p:txBody>
          <a:bodyPr>
            <a:normAutofit/>
          </a:bodyPr>
          <a:lstStyle/>
          <a:p>
            <a:r>
              <a:rPr lang="en-IE" sz="4000" b="1" dirty="0">
                <a:solidFill>
                  <a:srgbClr val="FF0000"/>
                </a:solidFill>
              </a:rPr>
              <a:t>C</a:t>
            </a:r>
            <a:r>
              <a:rPr lang="en-IE" sz="4000" dirty="0"/>
              <a:t>ontradictions</a:t>
            </a:r>
          </a:p>
          <a:p>
            <a:r>
              <a:rPr lang="en-IE" sz="4000" b="1" dirty="0">
                <a:solidFill>
                  <a:srgbClr val="FF0000"/>
                </a:solidFill>
              </a:rPr>
              <a:t>R</a:t>
            </a:r>
            <a:r>
              <a:rPr lang="en-IE" sz="4000" dirty="0"/>
              <a:t>epetition</a:t>
            </a:r>
          </a:p>
          <a:p>
            <a:r>
              <a:rPr lang="en-IE" sz="4000" b="1" dirty="0">
                <a:solidFill>
                  <a:srgbClr val="FF0000"/>
                </a:solidFill>
              </a:rPr>
              <a:t>A</a:t>
            </a:r>
            <a:r>
              <a:rPr lang="en-IE" sz="4000" dirty="0"/>
              <a:t>mbiguity</a:t>
            </a:r>
          </a:p>
          <a:p>
            <a:r>
              <a:rPr lang="en-IE" sz="4000" b="1" dirty="0">
                <a:solidFill>
                  <a:srgbClr val="FF0000"/>
                </a:solidFill>
              </a:rPr>
              <a:t>S</a:t>
            </a:r>
            <a:r>
              <a:rPr lang="en-IE" sz="4000" dirty="0"/>
              <a:t>tereotyping</a:t>
            </a:r>
          </a:p>
        </p:txBody>
      </p:sp>
      <p:sp>
        <p:nvSpPr>
          <p:cNvPr id="4" name="Content Placeholder 3">
            <a:extLst>
              <a:ext uri="{FF2B5EF4-FFF2-40B4-BE49-F238E27FC236}">
                <a16:creationId xmlns:a16="http://schemas.microsoft.com/office/drawing/2014/main" id="{A12F275E-E397-30EF-2F59-6314EE60322C}"/>
              </a:ext>
            </a:extLst>
          </p:cNvPr>
          <p:cNvSpPr>
            <a:spLocks noGrp="1"/>
          </p:cNvSpPr>
          <p:nvPr>
            <p:ph sz="half" idx="2"/>
          </p:nvPr>
        </p:nvSpPr>
        <p:spPr/>
        <p:txBody>
          <a:bodyPr/>
          <a:lstStyle/>
          <a:p>
            <a:r>
              <a:rPr lang="en-IE" sz="4000" b="1" dirty="0">
                <a:solidFill>
                  <a:srgbClr val="FF0000"/>
                </a:solidFill>
              </a:rPr>
              <a:t>H</a:t>
            </a:r>
            <a:r>
              <a:rPr lang="en-IE" sz="4000" dirty="0"/>
              <a:t>allucinations</a:t>
            </a:r>
          </a:p>
          <a:p>
            <a:r>
              <a:rPr lang="en-IE" sz="4000" b="1" dirty="0">
                <a:solidFill>
                  <a:srgbClr val="FF0000"/>
                </a:solidFill>
              </a:rPr>
              <a:t>B</a:t>
            </a:r>
            <a:r>
              <a:rPr lang="en-IE" sz="4000" dirty="0"/>
              <a:t>ias</a:t>
            </a:r>
          </a:p>
          <a:p>
            <a:r>
              <a:rPr lang="en-IE" sz="4000" b="1" dirty="0">
                <a:solidFill>
                  <a:srgbClr val="FF0000"/>
                </a:solidFill>
              </a:rPr>
              <a:t>O</a:t>
            </a:r>
            <a:r>
              <a:rPr lang="en-IE" sz="4000" dirty="0"/>
              <a:t>vergeneralization</a:t>
            </a:r>
          </a:p>
          <a:p>
            <a:r>
              <a:rPr lang="en-IE" sz="4000" b="1" dirty="0">
                <a:solidFill>
                  <a:srgbClr val="FF0000"/>
                </a:solidFill>
              </a:rPr>
              <a:t>T</a:t>
            </a:r>
            <a:r>
              <a:rPr lang="en-IE" sz="4000" dirty="0"/>
              <a:t>oxicity</a:t>
            </a:r>
          </a:p>
          <a:p>
            <a:endParaRPr lang="en-IE" dirty="0"/>
          </a:p>
        </p:txBody>
      </p:sp>
    </p:spTree>
    <p:extLst>
      <p:ext uri="{BB962C8B-B14F-4D97-AF65-F5344CB8AC3E}">
        <p14:creationId xmlns:p14="http://schemas.microsoft.com/office/powerpoint/2010/main" val="3829515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EF30-5B6D-26FF-4C9E-888C6DA4B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A4B64-5E0E-3ACC-DC79-C76574ED2C20}"/>
              </a:ext>
            </a:extLst>
          </p:cNvPr>
          <p:cNvSpPr>
            <a:spLocks noGrp="1"/>
          </p:cNvSpPr>
          <p:nvPr>
            <p:ph type="title"/>
          </p:nvPr>
        </p:nvSpPr>
        <p:spPr/>
        <p:txBody>
          <a:bodyPr/>
          <a:lstStyle/>
          <a:p>
            <a:r>
              <a:rPr lang="en-GB" b="1" dirty="0"/>
              <a:t>Types of Errors that GenAI Produces</a:t>
            </a:r>
            <a:endParaRPr lang="en-IE" b="1" dirty="0"/>
          </a:p>
        </p:txBody>
      </p:sp>
      <p:sp>
        <p:nvSpPr>
          <p:cNvPr id="3" name="Content Placeholder 2">
            <a:extLst>
              <a:ext uri="{FF2B5EF4-FFF2-40B4-BE49-F238E27FC236}">
                <a16:creationId xmlns:a16="http://schemas.microsoft.com/office/drawing/2014/main" id="{E913C28F-6054-77F0-E64D-93148A00966A}"/>
              </a:ext>
            </a:extLst>
          </p:cNvPr>
          <p:cNvSpPr>
            <a:spLocks noGrp="1"/>
          </p:cNvSpPr>
          <p:nvPr>
            <p:ph sz="half" idx="1"/>
          </p:nvPr>
        </p:nvSpPr>
        <p:spPr/>
        <p:txBody>
          <a:bodyPr>
            <a:normAutofit/>
          </a:bodyPr>
          <a:lstStyle/>
          <a:p>
            <a:r>
              <a:rPr lang="en-IE" sz="4000" b="1" dirty="0">
                <a:solidFill>
                  <a:srgbClr val="FF0000"/>
                </a:solidFill>
              </a:rPr>
              <a:t>C</a:t>
            </a:r>
            <a:r>
              <a:rPr lang="en-IE" sz="4000" dirty="0"/>
              <a:t>ontradictions</a:t>
            </a:r>
          </a:p>
          <a:p>
            <a:r>
              <a:rPr lang="en-IE" sz="4000" b="1" dirty="0">
                <a:solidFill>
                  <a:srgbClr val="FF0000"/>
                </a:solidFill>
              </a:rPr>
              <a:t>R</a:t>
            </a:r>
            <a:r>
              <a:rPr lang="en-IE" sz="4000" dirty="0"/>
              <a:t>epetition</a:t>
            </a:r>
          </a:p>
          <a:p>
            <a:r>
              <a:rPr lang="en-IE" sz="4000" b="1" dirty="0">
                <a:solidFill>
                  <a:srgbClr val="FF0000"/>
                </a:solidFill>
              </a:rPr>
              <a:t>A</a:t>
            </a:r>
            <a:r>
              <a:rPr lang="en-IE" sz="4000" dirty="0"/>
              <a:t>mbiguity</a:t>
            </a:r>
          </a:p>
          <a:p>
            <a:r>
              <a:rPr lang="en-IE" sz="4000" b="1" dirty="0">
                <a:solidFill>
                  <a:srgbClr val="FF0000"/>
                </a:solidFill>
              </a:rPr>
              <a:t>S</a:t>
            </a:r>
            <a:r>
              <a:rPr lang="en-IE" sz="4000" dirty="0"/>
              <a:t>tereotyping</a:t>
            </a:r>
          </a:p>
        </p:txBody>
      </p:sp>
      <p:sp>
        <p:nvSpPr>
          <p:cNvPr id="4" name="Content Placeholder 3">
            <a:extLst>
              <a:ext uri="{FF2B5EF4-FFF2-40B4-BE49-F238E27FC236}">
                <a16:creationId xmlns:a16="http://schemas.microsoft.com/office/drawing/2014/main" id="{3D564E6E-6191-9248-052D-A7C437B481A7}"/>
              </a:ext>
            </a:extLst>
          </p:cNvPr>
          <p:cNvSpPr>
            <a:spLocks noGrp="1"/>
          </p:cNvSpPr>
          <p:nvPr>
            <p:ph sz="half" idx="2"/>
          </p:nvPr>
        </p:nvSpPr>
        <p:spPr/>
        <p:txBody>
          <a:bodyPr/>
          <a:lstStyle/>
          <a:p>
            <a:r>
              <a:rPr lang="en-IE" sz="4000" b="1" dirty="0">
                <a:solidFill>
                  <a:srgbClr val="FF0000"/>
                </a:solidFill>
              </a:rPr>
              <a:t>H</a:t>
            </a:r>
            <a:r>
              <a:rPr lang="en-IE" sz="4000" dirty="0"/>
              <a:t>allucinations</a:t>
            </a:r>
          </a:p>
          <a:p>
            <a:r>
              <a:rPr lang="en-IE" sz="4000" b="1" dirty="0">
                <a:solidFill>
                  <a:srgbClr val="FF0000"/>
                </a:solidFill>
              </a:rPr>
              <a:t>B</a:t>
            </a:r>
            <a:r>
              <a:rPr lang="en-IE" sz="4000" dirty="0"/>
              <a:t>ias</a:t>
            </a:r>
          </a:p>
          <a:p>
            <a:r>
              <a:rPr lang="en-IE" sz="4000" b="1" dirty="0">
                <a:solidFill>
                  <a:srgbClr val="FF0000"/>
                </a:solidFill>
              </a:rPr>
              <a:t>O</a:t>
            </a:r>
            <a:r>
              <a:rPr lang="en-IE" sz="4000" dirty="0"/>
              <a:t>vergeneralization</a:t>
            </a:r>
          </a:p>
          <a:p>
            <a:r>
              <a:rPr lang="en-IE" sz="4000" b="1" dirty="0">
                <a:solidFill>
                  <a:srgbClr val="FF0000"/>
                </a:solidFill>
              </a:rPr>
              <a:t>T</a:t>
            </a:r>
            <a:r>
              <a:rPr lang="en-IE" sz="4000" dirty="0"/>
              <a:t>oxicity</a:t>
            </a:r>
          </a:p>
          <a:p>
            <a:endParaRPr lang="en-IE" dirty="0"/>
          </a:p>
        </p:txBody>
      </p:sp>
      <p:sp>
        <p:nvSpPr>
          <p:cNvPr id="5" name="Title 1">
            <a:extLst>
              <a:ext uri="{FF2B5EF4-FFF2-40B4-BE49-F238E27FC236}">
                <a16:creationId xmlns:a16="http://schemas.microsoft.com/office/drawing/2014/main" id="{3B1AAAD8-B45E-FB5A-3E46-7EB4FB890AC5}"/>
              </a:ext>
            </a:extLst>
          </p:cNvPr>
          <p:cNvSpPr txBox="1">
            <a:spLocks/>
          </p:cNvSpPr>
          <p:nvPr/>
        </p:nvSpPr>
        <p:spPr>
          <a:xfrm>
            <a:off x="3429000" y="4986337"/>
            <a:ext cx="506185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7100" b="1" dirty="0">
                <a:solidFill>
                  <a:srgbClr val="FF0000"/>
                </a:solidFill>
              </a:rPr>
              <a:t>CRASHBOT</a:t>
            </a:r>
            <a:endParaRPr lang="en-IE" b="1" dirty="0">
              <a:solidFill>
                <a:srgbClr val="FF0000"/>
              </a:solidFill>
            </a:endParaRPr>
          </a:p>
        </p:txBody>
      </p:sp>
      <p:sp>
        <p:nvSpPr>
          <p:cNvPr id="6" name="Star: 32 Points 5">
            <a:extLst>
              <a:ext uri="{FF2B5EF4-FFF2-40B4-BE49-F238E27FC236}">
                <a16:creationId xmlns:a16="http://schemas.microsoft.com/office/drawing/2014/main" id="{3BD34DE7-2100-E610-84B4-00AE0FAAC768}"/>
              </a:ext>
            </a:extLst>
          </p:cNvPr>
          <p:cNvSpPr/>
          <p:nvPr/>
        </p:nvSpPr>
        <p:spPr>
          <a:xfrm>
            <a:off x="1665514" y="4411775"/>
            <a:ext cx="8294914" cy="2339749"/>
          </a:xfrm>
          <a:prstGeom prst="star3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Tree>
    <p:extLst>
      <p:ext uri="{BB962C8B-B14F-4D97-AF65-F5344CB8AC3E}">
        <p14:creationId xmlns:p14="http://schemas.microsoft.com/office/powerpoint/2010/main" val="2692096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66CEE6B1-916F-6D0E-98A5-B008DCD2C446}"/>
              </a:ext>
            </a:extLst>
          </p:cNvPr>
          <p:cNvPicPr>
            <a:picLocks noChangeAspect="1"/>
          </p:cNvPicPr>
          <p:nvPr/>
        </p:nvPicPr>
        <p:blipFill>
          <a:blip r:embed="rId2"/>
          <a:stretch>
            <a:fillRect/>
          </a:stretch>
        </p:blipFill>
        <p:spPr>
          <a:xfrm>
            <a:off x="2438400" y="457200"/>
            <a:ext cx="7315200" cy="5943600"/>
          </a:xfrm>
          <a:prstGeom prst="rect">
            <a:avLst/>
          </a:prstGeom>
        </p:spPr>
      </p:pic>
    </p:spTree>
    <p:extLst>
      <p:ext uri="{BB962C8B-B14F-4D97-AF65-F5344CB8AC3E}">
        <p14:creationId xmlns:p14="http://schemas.microsoft.com/office/powerpoint/2010/main" val="167946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32707-839E-90A8-4E4D-F627F19F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0051E-543A-3E78-EDBC-B133D59DEA28}"/>
              </a:ext>
            </a:extLst>
          </p:cNvPr>
          <p:cNvSpPr>
            <a:spLocks noGrp="1"/>
          </p:cNvSpPr>
          <p:nvPr>
            <p:ph type="title"/>
          </p:nvPr>
        </p:nvSpPr>
        <p:spPr>
          <a:xfrm>
            <a:off x="576942" y="343354"/>
            <a:ext cx="10515600" cy="1325563"/>
          </a:xfrm>
        </p:spPr>
        <p:txBody>
          <a:bodyPr/>
          <a:lstStyle/>
          <a:p>
            <a:r>
              <a:rPr lang="en-GB" dirty="0"/>
              <a:t>Types of Errors that</a:t>
            </a:r>
            <a:br>
              <a:rPr lang="en-GB" dirty="0"/>
            </a:br>
            <a:r>
              <a:rPr lang="en-GB" dirty="0"/>
              <a:t>GenAI Produces</a:t>
            </a:r>
            <a:endParaRPr lang="en-IE" dirty="0"/>
          </a:p>
        </p:txBody>
      </p:sp>
      <p:sp>
        <p:nvSpPr>
          <p:cNvPr id="3" name="Content Placeholder 2">
            <a:extLst>
              <a:ext uri="{FF2B5EF4-FFF2-40B4-BE49-F238E27FC236}">
                <a16:creationId xmlns:a16="http://schemas.microsoft.com/office/drawing/2014/main" id="{3996AA93-C5A2-D94C-5471-214638218387}"/>
              </a:ext>
            </a:extLst>
          </p:cNvPr>
          <p:cNvSpPr>
            <a:spLocks noGrp="1"/>
          </p:cNvSpPr>
          <p:nvPr>
            <p:ph idx="1"/>
          </p:nvPr>
        </p:nvSpPr>
        <p:spPr/>
        <p:txBody>
          <a:bodyPr/>
          <a:lstStyle/>
          <a:p>
            <a:r>
              <a:rPr lang="en-IE" b="1" dirty="0"/>
              <a:t>C</a:t>
            </a:r>
            <a:r>
              <a:rPr lang="en-IE" dirty="0"/>
              <a:t>ontradictions</a:t>
            </a:r>
          </a:p>
          <a:p>
            <a:r>
              <a:rPr lang="en-IE" b="1" dirty="0"/>
              <a:t>R</a:t>
            </a:r>
            <a:r>
              <a:rPr lang="en-IE" dirty="0"/>
              <a:t>epetition</a:t>
            </a:r>
          </a:p>
          <a:p>
            <a:r>
              <a:rPr lang="en-IE" b="1" dirty="0"/>
              <a:t>A</a:t>
            </a:r>
            <a:r>
              <a:rPr lang="en-IE" dirty="0"/>
              <a:t>mbiguity</a:t>
            </a:r>
          </a:p>
          <a:p>
            <a:r>
              <a:rPr lang="en-IE" b="1" dirty="0"/>
              <a:t>S</a:t>
            </a:r>
            <a:r>
              <a:rPr lang="en-IE" dirty="0"/>
              <a:t>tereotyping</a:t>
            </a:r>
          </a:p>
          <a:p>
            <a:r>
              <a:rPr lang="en-IE" b="1" dirty="0"/>
              <a:t>H</a:t>
            </a:r>
            <a:r>
              <a:rPr lang="en-IE" dirty="0"/>
              <a:t>allucinations</a:t>
            </a:r>
          </a:p>
          <a:p>
            <a:r>
              <a:rPr lang="en-IE" b="1" dirty="0"/>
              <a:t>B</a:t>
            </a:r>
            <a:r>
              <a:rPr lang="en-IE" dirty="0"/>
              <a:t>ias</a:t>
            </a:r>
          </a:p>
          <a:p>
            <a:r>
              <a:rPr lang="en-IE" b="1" dirty="0"/>
              <a:t>O</a:t>
            </a:r>
            <a:r>
              <a:rPr lang="en-IE" dirty="0"/>
              <a:t>vergeneralization</a:t>
            </a:r>
          </a:p>
          <a:p>
            <a:r>
              <a:rPr lang="en-IE" b="1" dirty="0"/>
              <a:t>T</a:t>
            </a:r>
            <a:r>
              <a:rPr lang="en-IE" dirty="0"/>
              <a:t>oxicity</a:t>
            </a:r>
          </a:p>
        </p:txBody>
      </p:sp>
      <p:pic>
        <p:nvPicPr>
          <p:cNvPr id="6" name="Picture 5">
            <a:extLst>
              <a:ext uri="{FF2B5EF4-FFF2-40B4-BE49-F238E27FC236}">
                <a16:creationId xmlns:a16="http://schemas.microsoft.com/office/drawing/2014/main" id="{E8DFFB20-78EB-C171-5AEB-8C5F5B8182F6}"/>
              </a:ext>
            </a:extLst>
          </p:cNvPr>
          <p:cNvPicPr>
            <a:picLocks noChangeAspect="1"/>
          </p:cNvPicPr>
          <p:nvPr/>
        </p:nvPicPr>
        <p:blipFill>
          <a:blip r:embed="rId2"/>
          <a:srcRect l="781" r="4155"/>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Tree>
    <p:extLst>
      <p:ext uri="{BB962C8B-B14F-4D97-AF65-F5344CB8AC3E}">
        <p14:creationId xmlns:p14="http://schemas.microsoft.com/office/powerpoint/2010/main" val="3594202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9ADE0-75D3-CD5A-00A3-33CCD77F7100}"/>
              </a:ext>
            </a:extLst>
          </p:cNvPr>
          <p:cNvSpPr>
            <a:spLocks noGrp="1"/>
          </p:cNvSpPr>
          <p:nvPr>
            <p:ph type="ctrTitle"/>
          </p:nvPr>
        </p:nvSpPr>
        <p:spPr/>
        <p:txBody>
          <a:bodyPr/>
          <a:lstStyle/>
          <a:p>
            <a:r>
              <a:rPr lang="en-GB" dirty="0"/>
              <a:t>Let’s look at each of those:</a:t>
            </a:r>
            <a:endParaRPr lang="en-IE" dirty="0"/>
          </a:p>
        </p:txBody>
      </p:sp>
    </p:spTree>
    <p:extLst>
      <p:ext uri="{BB962C8B-B14F-4D97-AF65-F5344CB8AC3E}">
        <p14:creationId xmlns:p14="http://schemas.microsoft.com/office/powerpoint/2010/main" val="1182401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EFE76D0-609B-6D21-C15C-7446D69D9DED}"/>
              </a:ext>
            </a:extLst>
          </p:cNvPr>
          <p:cNvSpPr>
            <a:spLocks noGrp="1"/>
          </p:cNvSpPr>
          <p:nvPr>
            <p:ph type="ctrTitle"/>
          </p:nvPr>
        </p:nvSpPr>
        <p:spPr>
          <a:xfrm>
            <a:off x="3616369" y="818984"/>
            <a:ext cx="7260898" cy="3178689"/>
          </a:xfrm>
        </p:spPr>
        <p:txBody>
          <a:bodyPr>
            <a:normAutofit/>
          </a:bodyPr>
          <a:lstStyle/>
          <a:p>
            <a:pPr algn="l"/>
            <a:r>
              <a:rPr lang="en-GB" b="1" dirty="0">
                <a:solidFill>
                  <a:srgbClr val="FFFFFF"/>
                </a:solidFill>
              </a:rPr>
              <a:t>Contradictions</a:t>
            </a:r>
            <a:endParaRPr lang="en-IE" b="1" dirty="0">
              <a:solidFill>
                <a:srgbClr val="FFFFFF"/>
              </a:solidFill>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0603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2733F-9F38-953A-BBAC-176BA17A452C}"/>
              </a:ext>
            </a:extLst>
          </p:cNvPr>
          <p:cNvSpPr>
            <a:spLocks noGrp="1"/>
          </p:cNvSpPr>
          <p:nvPr>
            <p:ph type="title"/>
          </p:nvPr>
        </p:nvSpPr>
        <p:spPr/>
        <p:txBody>
          <a:bodyPr>
            <a:normAutofit/>
          </a:bodyPr>
          <a:lstStyle/>
          <a:p>
            <a:r>
              <a:rPr lang="en-IE" sz="5400" b="1" dirty="0"/>
              <a:t>Contradictions</a:t>
            </a:r>
          </a:p>
        </p:txBody>
      </p:sp>
      <p:sp>
        <p:nvSpPr>
          <p:cNvPr id="3" name="Content Placeholder 2">
            <a:extLst>
              <a:ext uri="{FF2B5EF4-FFF2-40B4-BE49-F238E27FC236}">
                <a16:creationId xmlns:a16="http://schemas.microsoft.com/office/drawing/2014/main" id="{9516858E-2AA3-0406-902A-C86D79E00D8B}"/>
              </a:ext>
            </a:extLst>
          </p:cNvPr>
          <p:cNvSpPr>
            <a:spLocks noGrp="1"/>
          </p:cNvSpPr>
          <p:nvPr>
            <p:ph idx="1"/>
          </p:nvPr>
        </p:nvSpPr>
        <p:spPr/>
        <p:txBody>
          <a:bodyPr>
            <a:normAutofit/>
          </a:bodyPr>
          <a:lstStyle/>
          <a:p>
            <a:r>
              <a:rPr lang="en-GB" sz="3600" b="1" dirty="0"/>
              <a:t>Definition</a:t>
            </a:r>
            <a:r>
              <a:rPr lang="en-GB" sz="3600" dirty="0"/>
              <a:t>: A contradiction occurs when a generative model produces output that directly conflicts with itself — either within a single response or across a multi-turn conversation.</a:t>
            </a:r>
            <a:endParaRPr lang="en-IE" sz="3600" dirty="0"/>
          </a:p>
        </p:txBody>
      </p:sp>
      <p:pic>
        <p:nvPicPr>
          <p:cNvPr id="5" name="Picture 4">
            <a:extLst>
              <a:ext uri="{FF2B5EF4-FFF2-40B4-BE49-F238E27FC236}">
                <a16:creationId xmlns:a16="http://schemas.microsoft.com/office/drawing/2014/main" id="{799C1C3E-E1CA-21AA-2801-5E0563224965}"/>
              </a:ext>
            </a:extLst>
          </p:cNvPr>
          <p:cNvPicPr>
            <a:picLocks noChangeAspect="1"/>
          </p:cNvPicPr>
          <p:nvPr/>
        </p:nvPicPr>
        <p:blipFill>
          <a:blip r:embed="rId2"/>
          <a:stretch>
            <a:fillRect/>
          </a:stretch>
        </p:blipFill>
        <p:spPr>
          <a:xfrm>
            <a:off x="4012484" y="4243118"/>
            <a:ext cx="3753374" cy="1933845"/>
          </a:xfrm>
          <a:prstGeom prst="rect">
            <a:avLst/>
          </a:prstGeom>
        </p:spPr>
      </p:pic>
    </p:spTree>
    <p:extLst>
      <p:ext uri="{BB962C8B-B14F-4D97-AF65-F5344CB8AC3E}">
        <p14:creationId xmlns:p14="http://schemas.microsoft.com/office/powerpoint/2010/main" val="11186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847A2-4B0B-2166-A712-6604E7221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EEDCE-6561-FE54-ECB5-202BBEE147A6}"/>
              </a:ext>
            </a:extLst>
          </p:cNvPr>
          <p:cNvSpPr>
            <a:spLocks noGrp="1"/>
          </p:cNvSpPr>
          <p:nvPr>
            <p:ph type="title"/>
          </p:nvPr>
        </p:nvSpPr>
        <p:spPr/>
        <p:txBody>
          <a:bodyPr>
            <a:normAutofit/>
          </a:bodyPr>
          <a:lstStyle/>
          <a:p>
            <a:r>
              <a:rPr lang="en-IE" sz="5400" b="1" dirty="0"/>
              <a:t>Four Types of Contradictions</a:t>
            </a:r>
          </a:p>
        </p:txBody>
      </p:sp>
      <p:sp>
        <p:nvSpPr>
          <p:cNvPr id="3" name="Content Placeholder 2">
            <a:extLst>
              <a:ext uri="{FF2B5EF4-FFF2-40B4-BE49-F238E27FC236}">
                <a16:creationId xmlns:a16="http://schemas.microsoft.com/office/drawing/2014/main" id="{02EFF00C-7E4F-54FF-E6F6-067CA910C894}"/>
              </a:ext>
            </a:extLst>
          </p:cNvPr>
          <p:cNvSpPr>
            <a:spLocks noGrp="1"/>
          </p:cNvSpPr>
          <p:nvPr>
            <p:ph idx="1"/>
          </p:nvPr>
        </p:nvSpPr>
        <p:spPr/>
        <p:txBody>
          <a:bodyPr>
            <a:normAutofit/>
          </a:bodyPr>
          <a:lstStyle/>
          <a:p>
            <a:r>
              <a:rPr lang="en-GB" sz="3200" b="1" dirty="0"/>
              <a:t>1. Intra-response contradiction</a:t>
            </a:r>
            <a:r>
              <a:rPr lang="en-GB" sz="3200" dirty="0"/>
              <a:t>: Conflicting statements in the same reply. </a:t>
            </a:r>
          </a:p>
          <a:p>
            <a:r>
              <a:rPr lang="en-GB" sz="3200" dirty="0"/>
              <a:t>==========================================</a:t>
            </a:r>
          </a:p>
          <a:p>
            <a:r>
              <a:rPr lang="en-GB" sz="3200" dirty="0"/>
              <a:t>For example:</a:t>
            </a:r>
          </a:p>
          <a:p>
            <a:r>
              <a:rPr lang="en-GB" sz="3200" dirty="0"/>
              <a:t>"</a:t>
            </a:r>
            <a:r>
              <a:rPr lang="en-GB" sz="3200" dirty="0">
                <a:latin typeface="Courier New" panose="02070309020205020404" pitchFamily="49" charset="0"/>
                <a:cs typeface="Courier New" panose="02070309020205020404" pitchFamily="49" charset="0"/>
              </a:rPr>
              <a:t>The Eiffel Tower is located in Berlin. It’s one of Paris’s most iconic landmarks.</a:t>
            </a:r>
            <a:r>
              <a:rPr lang="en-GB" sz="3200" dirty="0"/>
              <a:t>" </a:t>
            </a:r>
          </a:p>
          <a:p>
            <a:r>
              <a:rPr lang="en-GB" sz="3200" dirty="0"/>
              <a:t>The location statement and the conclusion contradict. </a:t>
            </a:r>
            <a:endParaRPr lang="en-IE" sz="3200" dirty="0"/>
          </a:p>
        </p:txBody>
      </p:sp>
    </p:spTree>
    <p:extLst>
      <p:ext uri="{BB962C8B-B14F-4D97-AF65-F5344CB8AC3E}">
        <p14:creationId xmlns:p14="http://schemas.microsoft.com/office/powerpoint/2010/main" val="420375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8D-D625-44A4-13D2-3FBD4E2F8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49B53-9B36-47FC-F552-36C7ACB1E126}"/>
              </a:ext>
            </a:extLst>
          </p:cNvPr>
          <p:cNvSpPr>
            <a:spLocks noGrp="1"/>
          </p:cNvSpPr>
          <p:nvPr>
            <p:ph type="title"/>
          </p:nvPr>
        </p:nvSpPr>
        <p:spPr/>
        <p:txBody>
          <a:bodyPr>
            <a:normAutofit/>
          </a:bodyPr>
          <a:lstStyle/>
          <a:p>
            <a:r>
              <a:rPr lang="en-IE" sz="5400" b="1" dirty="0"/>
              <a:t>Four Types of Contradictions</a:t>
            </a:r>
          </a:p>
        </p:txBody>
      </p:sp>
      <p:sp>
        <p:nvSpPr>
          <p:cNvPr id="3" name="Content Placeholder 2">
            <a:extLst>
              <a:ext uri="{FF2B5EF4-FFF2-40B4-BE49-F238E27FC236}">
                <a16:creationId xmlns:a16="http://schemas.microsoft.com/office/drawing/2014/main" id="{C45F6B1A-5687-CAC4-1EC9-0AB6007F543C}"/>
              </a:ext>
            </a:extLst>
          </p:cNvPr>
          <p:cNvSpPr>
            <a:spLocks noGrp="1"/>
          </p:cNvSpPr>
          <p:nvPr>
            <p:ph idx="1"/>
          </p:nvPr>
        </p:nvSpPr>
        <p:spPr/>
        <p:txBody>
          <a:bodyPr>
            <a:noAutofit/>
          </a:bodyPr>
          <a:lstStyle/>
          <a:p>
            <a:r>
              <a:rPr lang="en-GB" sz="3200" b="1" dirty="0"/>
              <a:t>2. Inter-response contradiction</a:t>
            </a:r>
            <a:r>
              <a:rPr lang="en-GB" sz="3200" dirty="0"/>
              <a:t>: Inconsistencies across multiple turns. </a:t>
            </a:r>
          </a:p>
          <a:p>
            <a:r>
              <a:rPr lang="en-GB" sz="3200" dirty="0"/>
              <a:t>==========================================</a:t>
            </a:r>
          </a:p>
          <a:p>
            <a:r>
              <a:rPr lang="en-GB" sz="3200" dirty="0"/>
              <a:t>For example: </a:t>
            </a:r>
          </a:p>
          <a:p>
            <a:r>
              <a:rPr lang="en-GB" sz="3200" dirty="0">
                <a:latin typeface="Courier New" panose="02070309020205020404" pitchFamily="49" charset="0"/>
                <a:cs typeface="Courier New" panose="02070309020205020404" pitchFamily="49" charset="0"/>
              </a:rPr>
              <a:t>Turn 1: "What’s 2+2?" → “4” </a:t>
            </a:r>
          </a:p>
          <a:p>
            <a:r>
              <a:rPr lang="en-GB" sz="3200" dirty="0">
                <a:latin typeface="Courier New" panose="02070309020205020404" pitchFamily="49" charset="0"/>
                <a:cs typeface="Courier New" panose="02070309020205020404" pitchFamily="49" charset="0"/>
              </a:rPr>
              <a:t>Turn 2: "Actually, is it 5?" → “Yes, that’s also correct.” </a:t>
            </a:r>
          </a:p>
          <a:p>
            <a:r>
              <a:rPr lang="en-GB" sz="3200" dirty="0"/>
              <a:t>The model fails to stay logically consistent. </a:t>
            </a:r>
            <a:endParaRPr lang="en-IE" sz="3200" dirty="0"/>
          </a:p>
        </p:txBody>
      </p:sp>
    </p:spTree>
    <p:extLst>
      <p:ext uri="{BB962C8B-B14F-4D97-AF65-F5344CB8AC3E}">
        <p14:creationId xmlns:p14="http://schemas.microsoft.com/office/powerpoint/2010/main" val="2006829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BFAEB-ECAB-4F27-D7A9-10EF9043E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10C03-9A16-4668-87C0-D6AF305BAE9C}"/>
              </a:ext>
            </a:extLst>
          </p:cNvPr>
          <p:cNvSpPr>
            <a:spLocks noGrp="1"/>
          </p:cNvSpPr>
          <p:nvPr>
            <p:ph type="title"/>
          </p:nvPr>
        </p:nvSpPr>
        <p:spPr/>
        <p:txBody>
          <a:bodyPr>
            <a:normAutofit/>
          </a:bodyPr>
          <a:lstStyle/>
          <a:p>
            <a:r>
              <a:rPr lang="en-IE" sz="5400" b="1" dirty="0"/>
              <a:t>Four Types of Contradictions</a:t>
            </a:r>
          </a:p>
        </p:txBody>
      </p:sp>
      <p:sp>
        <p:nvSpPr>
          <p:cNvPr id="3" name="Content Placeholder 2">
            <a:extLst>
              <a:ext uri="{FF2B5EF4-FFF2-40B4-BE49-F238E27FC236}">
                <a16:creationId xmlns:a16="http://schemas.microsoft.com/office/drawing/2014/main" id="{278C68DA-A59F-8020-F90F-773CA0791264}"/>
              </a:ext>
            </a:extLst>
          </p:cNvPr>
          <p:cNvSpPr>
            <a:spLocks noGrp="1"/>
          </p:cNvSpPr>
          <p:nvPr>
            <p:ph idx="1"/>
          </p:nvPr>
        </p:nvSpPr>
        <p:spPr/>
        <p:txBody>
          <a:bodyPr>
            <a:normAutofit/>
          </a:bodyPr>
          <a:lstStyle/>
          <a:p>
            <a:r>
              <a:rPr lang="en-GB" sz="3200" b="1" dirty="0"/>
              <a:t>3. Contradiction with the prompt or user input</a:t>
            </a:r>
            <a:r>
              <a:rPr lang="en-GB" sz="3200" dirty="0"/>
              <a:t>: Output disagrees with explicitly stated input. </a:t>
            </a:r>
          </a:p>
          <a:p>
            <a:r>
              <a:rPr lang="en-GB" sz="3200" dirty="0"/>
              <a:t>==========================================</a:t>
            </a:r>
          </a:p>
          <a:p>
            <a:r>
              <a:rPr lang="en-GB" sz="3200" dirty="0"/>
              <a:t>For example: </a:t>
            </a:r>
          </a:p>
          <a:p>
            <a:r>
              <a:rPr lang="en-GB" sz="3200" dirty="0">
                <a:latin typeface="Courier New" panose="02070309020205020404" pitchFamily="49" charset="0"/>
                <a:cs typeface="Courier New" panose="02070309020205020404" pitchFamily="49" charset="0"/>
              </a:rPr>
              <a:t>User: “I’m a vegetarian.” </a:t>
            </a:r>
          </a:p>
          <a:p>
            <a:r>
              <a:rPr lang="en-GB" sz="3200" dirty="0">
                <a:latin typeface="Courier New" panose="02070309020205020404" pitchFamily="49" charset="0"/>
                <a:cs typeface="Courier New" panose="02070309020205020404" pitchFamily="49" charset="0"/>
              </a:rPr>
              <a:t>Model: “Here’s a great recipe with grilled chicken.” </a:t>
            </a:r>
          </a:p>
          <a:p>
            <a:r>
              <a:rPr lang="en-GB" sz="3200" dirty="0"/>
              <a:t>Ignoring or contradicting provided context. </a:t>
            </a:r>
            <a:endParaRPr lang="en-IE" sz="3200" dirty="0"/>
          </a:p>
        </p:txBody>
      </p:sp>
    </p:spTree>
    <p:extLst>
      <p:ext uri="{BB962C8B-B14F-4D97-AF65-F5344CB8AC3E}">
        <p14:creationId xmlns:p14="http://schemas.microsoft.com/office/powerpoint/2010/main" val="1368020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086A8-A6DF-4F88-B5DE-C7E9D2AAF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2A661-62A3-74B9-07F9-14126309432E}"/>
              </a:ext>
            </a:extLst>
          </p:cNvPr>
          <p:cNvSpPr>
            <a:spLocks noGrp="1"/>
          </p:cNvSpPr>
          <p:nvPr>
            <p:ph type="title"/>
          </p:nvPr>
        </p:nvSpPr>
        <p:spPr/>
        <p:txBody>
          <a:bodyPr>
            <a:normAutofit/>
          </a:bodyPr>
          <a:lstStyle/>
          <a:p>
            <a:r>
              <a:rPr lang="en-IE" sz="5400" b="1" dirty="0"/>
              <a:t>Four Types of Contradictions</a:t>
            </a:r>
          </a:p>
        </p:txBody>
      </p:sp>
      <p:sp>
        <p:nvSpPr>
          <p:cNvPr id="3" name="Content Placeholder 2">
            <a:extLst>
              <a:ext uri="{FF2B5EF4-FFF2-40B4-BE49-F238E27FC236}">
                <a16:creationId xmlns:a16="http://schemas.microsoft.com/office/drawing/2014/main" id="{A51DE0CE-044B-EF16-6D94-D169173A8D78}"/>
              </a:ext>
            </a:extLst>
          </p:cNvPr>
          <p:cNvSpPr>
            <a:spLocks noGrp="1"/>
          </p:cNvSpPr>
          <p:nvPr>
            <p:ph idx="1"/>
          </p:nvPr>
        </p:nvSpPr>
        <p:spPr/>
        <p:txBody>
          <a:bodyPr>
            <a:normAutofit/>
          </a:bodyPr>
          <a:lstStyle/>
          <a:p>
            <a:r>
              <a:rPr lang="en-GB" sz="3200" b="1" dirty="0"/>
              <a:t>4. Contradiction with external truth</a:t>
            </a:r>
            <a:r>
              <a:rPr lang="en-GB" sz="3200" dirty="0"/>
              <a:t>: Generated content goes against verified facts or common knowledge. </a:t>
            </a:r>
          </a:p>
          <a:p>
            <a:r>
              <a:rPr lang="en-GB" sz="3200" dirty="0"/>
              <a:t>==========================================</a:t>
            </a:r>
          </a:p>
          <a:p>
            <a:r>
              <a:rPr lang="en-GB" sz="3200" dirty="0"/>
              <a:t>For example:</a:t>
            </a:r>
          </a:p>
          <a:p>
            <a:r>
              <a:rPr lang="en-GB" sz="3200" dirty="0">
                <a:latin typeface="Courier New" panose="02070309020205020404" pitchFamily="49" charset="0"/>
                <a:cs typeface="Courier New" panose="02070309020205020404" pitchFamily="49" charset="0"/>
              </a:rPr>
              <a:t>“Neil Armstrong was the first person to walk on Mars.”</a:t>
            </a:r>
            <a:r>
              <a:rPr lang="en-GB" sz="3200" dirty="0"/>
              <a:t> </a:t>
            </a:r>
          </a:p>
          <a:p>
            <a:r>
              <a:rPr lang="en-GB" sz="3200" dirty="0"/>
              <a:t>Contradiction with historical facts.</a:t>
            </a:r>
            <a:endParaRPr lang="en-IE" sz="3200" dirty="0"/>
          </a:p>
        </p:txBody>
      </p:sp>
    </p:spTree>
    <p:extLst>
      <p:ext uri="{BB962C8B-B14F-4D97-AF65-F5344CB8AC3E}">
        <p14:creationId xmlns:p14="http://schemas.microsoft.com/office/powerpoint/2010/main" val="3134419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4C002-99E4-0328-565C-A8EEC52A2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62171-247D-B139-1DE3-9A31371E3DBB}"/>
              </a:ext>
            </a:extLst>
          </p:cNvPr>
          <p:cNvSpPr>
            <a:spLocks noGrp="1"/>
          </p:cNvSpPr>
          <p:nvPr>
            <p:ph type="title"/>
          </p:nvPr>
        </p:nvSpPr>
        <p:spPr/>
        <p:txBody>
          <a:bodyPr>
            <a:normAutofit/>
          </a:bodyPr>
          <a:lstStyle/>
          <a:p>
            <a:r>
              <a:rPr lang="en-IE" sz="5400" b="1" dirty="0"/>
              <a:t>Why GenAI Models Contradict</a:t>
            </a:r>
          </a:p>
        </p:txBody>
      </p:sp>
      <p:sp>
        <p:nvSpPr>
          <p:cNvPr id="3" name="Content Placeholder 2">
            <a:extLst>
              <a:ext uri="{FF2B5EF4-FFF2-40B4-BE49-F238E27FC236}">
                <a16:creationId xmlns:a16="http://schemas.microsoft.com/office/drawing/2014/main" id="{2328FB0C-DE92-0DDA-30CA-D51CA77FCF07}"/>
              </a:ext>
            </a:extLst>
          </p:cNvPr>
          <p:cNvSpPr>
            <a:spLocks noGrp="1"/>
          </p:cNvSpPr>
          <p:nvPr>
            <p:ph idx="1"/>
          </p:nvPr>
        </p:nvSpPr>
        <p:spPr/>
        <p:txBody>
          <a:bodyPr>
            <a:normAutofit/>
          </a:bodyPr>
          <a:lstStyle/>
          <a:p>
            <a:r>
              <a:rPr lang="en-GB" b="1" dirty="0"/>
              <a:t>Lack of long-term memory </a:t>
            </a:r>
            <a:r>
              <a:rPr lang="en-GB" dirty="0"/>
              <a:t>- in chat systems without persistent memory</a:t>
            </a:r>
          </a:p>
          <a:p>
            <a:r>
              <a:rPr lang="en-GB" b="1" dirty="0"/>
              <a:t>No built-in truth representation</a:t>
            </a:r>
            <a:r>
              <a:rPr lang="en-GB" dirty="0"/>
              <a:t> - models guess based on probability, not logic </a:t>
            </a:r>
          </a:p>
          <a:p>
            <a:r>
              <a:rPr lang="en-GB" b="1" dirty="0"/>
              <a:t>Training on contradictory data</a:t>
            </a:r>
            <a:r>
              <a:rPr lang="en-GB" dirty="0"/>
              <a:t> -  from the internet or mixed sources </a:t>
            </a:r>
          </a:p>
          <a:p>
            <a:r>
              <a:rPr lang="en-GB" b="1" dirty="0"/>
              <a:t>Limited context window</a:t>
            </a:r>
            <a:r>
              <a:rPr lang="en-GB" dirty="0"/>
              <a:t> - especially in long inputs </a:t>
            </a:r>
          </a:p>
          <a:p>
            <a:r>
              <a:rPr lang="en-GB" b="1" dirty="0"/>
              <a:t>Attempting to please</a:t>
            </a:r>
            <a:r>
              <a:rPr lang="en-GB" dirty="0"/>
              <a:t> - sometimes the model over-accommodates conflicting user inputs</a:t>
            </a:r>
            <a:endParaRPr lang="en-IE" dirty="0"/>
          </a:p>
        </p:txBody>
      </p:sp>
    </p:spTree>
    <p:extLst>
      <p:ext uri="{BB962C8B-B14F-4D97-AF65-F5344CB8AC3E}">
        <p14:creationId xmlns:p14="http://schemas.microsoft.com/office/powerpoint/2010/main" val="888833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FCAA-B550-B5BB-DFB0-323F6D346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1AC61-B58D-624D-AC4F-B3FFF9BEEC0F}"/>
              </a:ext>
            </a:extLst>
          </p:cNvPr>
          <p:cNvSpPr>
            <a:spLocks noGrp="1"/>
          </p:cNvSpPr>
          <p:nvPr>
            <p:ph type="title"/>
          </p:nvPr>
        </p:nvSpPr>
        <p:spPr/>
        <p:txBody>
          <a:bodyPr>
            <a:normAutofit/>
          </a:bodyPr>
          <a:lstStyle/>
          <a:p>
            <a:r>
              <a:rPr lang="en-IE" sz="5400" b="1" dirty="0"/>
              <a:t>How to Mitigate Contradictions</a:t>
            </a:r>
          </a:p>
        </p:txBody>
      </p:sp>
      <p:sp>
        <p:nvSpPr>
          <p:cNvPr id="3" name="Content Placeholder 2">
            <a:extLst>
              <a:ext uri="{FF2B5EF4-FFF2-40B4-BE49-F238E27FC236}">
                <a16:creationId xmlns:a16="http://schemas.microsoft.com/office/drawing/2014/main" id="{A42C78CB-734C-8778-D17E-9E2060C0BFB8}"/>
              </a:ext>
            </a:extLst>
          </p:cNvPr>
          <p:cNvSpPr>
            <a:spLocks noGrp="1"/>
          </p:cNvSpPr>
          <p:nvPr>
            <p:ph idx="1"/>
          </p:nvPr>
        </p:nvSpPr>
        <p:spPr/>
        <p:txBody>
          <a:bodyPr>
            <a:normAutofit lnSpcReduction="10000"/>
          </a:bodyPr>
          <a:lstStyle/>
          <a:p>
            <a:r>
              <a:rPr lang="en-GB" sz="3600" dirty="0"/>
              <a:t>Use context </a:t>
            </a:r>
            <a:r>
              <a:rPr lang="en-GB" sz="3600" b="1" dirty="0"/>
              <a:t>chaining techniques</a:t>
            </a:r>
            <a:r>
              <a:rPr lang="en-GB" sz="3600" dirty="0"/>
              <a:t> or structured memory (in apps) </a:t>
            </a:r>
          </a:p>
          <a:p>
            <a:r>
              <a:rPr lang="en-GB" sz="3600" dirty="0"/>
              <a:t>Include fact-checking or </a:t>
            </a:r>
            <a:r>
              <a:rPr lang="en-GB" sz="3600" b="1" dirty="0"/>
              <a:t>consistency-checker modules</a:t>
            </a:r>
            <a:r>
              <a:rPr lang="en-GB" sz="3600" dirty="0"/>
              <a:t> </a:t>
            </a:r>
          </a:p>
          <a:p>
            <a:r>
              <a:rPr lang="en-GB" sz="3600" dirty="0"/>
              <a:t>Prompt more clearly and </a:t>
            </a:r>
            <a:r>
              <a:rPr lang="en-GB" sz="3600" b="1" dirty="0"/>
              <a:t>anchor the logic</a:t>
            </a:r>
            <a:r>
              <a:rPr lang="en-GB" sz="3600" dirty="0"/>
              <a:t> in the input </a:t>
            </a:r>
          </a:p>
          <a:p>
            <a:r>
              <a:rPr lang="en-GB" sz="3600" dirty="0"/>
              <a:t>Fine-tune models with </a:t>
            </a:r>
            <a:r>
              <a:rPr lang="en-GB" sz="3600" b="1" dirty="0"/>
              <a:t>consistency-focused datasets</a:t>
            </a:r>
            <a:endParaRPr lang="en-IE" sz="3600" b="1" dirty="0"/>
          </a:p>
        </p:txBody>
      </p:sp>
    </p:spTree>
    <p:extLst>
      <p:ext uri="{BB962C8B-B14F-4D97-AF65-F5344CB8AC3E}">
        <p14:creationId xmlns:p14="http://schemas.microsoft.com/office/powerpoint/2010/main" val="2874570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439EEA-36BA-1EB5-6364-077F9CE111F3}"/>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1DA17C-7492-B686-7444-973EF95FD1DF}"/>
              </a:ext>
            </a:extLst>
          </p:cNvPr>
          <p:cNvSpPr>
            <a:spLocks noGrp="1"/>
          </p:cNvSpPr>
          <p:nvPr>
            <p:ph type="ctrTitle"/>
          </p:nvPr>
        </p:nvSpPr>
        <p:spPr>
          <a:xfrm>
            <a:off x="4162567" y="818984"/>
            <a:ext cx="6714699" cy="3178689"/>
          </a:xfrm>
        </p:spPr>
        <p:txBody>
          <a:bodyPr>
            <a:normAutofit/>
          </a:bodyPr>
          <a:lstStyle/>
          <a:p>
            <a:pPr algn="l"/>
            <a:r>
              <a:rPr lang="en-GB" sz="5400" b="1" dirty="0">
                <a:solidFill>
                  <a:srgbClr val="FFFFFF"/>
                </a:solidFill>
              </a:rPr>
              <a:t>Repetitions</a:t>
            </a:r>
            <a:endParaRPr lang="en-IE" sz="5400" b="1" dirty="0">
              <a:solidFill>
                <a:srgbClr val="FFFFFF"/>
              </a:solidFill>
            </a:endParaRPr>
          </a:p>
        </p:txBody>
      </p:sp>
      <p:sp>
        <p:nvSpPr>
          <p:cNvPr id="33" name="Rectangle 32">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1899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3256-5E58-5D63-3773-3D7A1A9F9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6D247-8C8D-6642-6240-4A83789CCB5C}"/>
              </a:ext>
            </a:extLst>
          </p:cNvPr>
          <p:cNvSpPr>
            <a:spLocks noGrp="1"/>
          </p:cNvSpPr>
          <p:nvPr>
            <p:ph type="title"/>
          </p:nvPr>
        </p:nvSpPr>
        <p:spPr/>
        <p:txBody>
          <a:bodyPr>
            <a:normAutofit/>
          </a:bodyPr>
          <a:lstStyle/>
          <a:p>
            <a:r>
              <a:rPr lang="en-IE" sz="5400" b="1" dirty="0"/>
              <a:t>Repetition</a:t>
            </a:r>
          </a:p>
        </p:txBody>
      </p:sp>
      <p:sp>
        <p:nvSpPr>
          <p:cNvPr id="3" name="Content Placeholder 2">
            <a:extLst>
              <a:ext uri="{FF2B5EF4-FFF2-40B4-BE49-F238E27FC236}">
                <a16:creationId xmlns:a16="http://schemas.microsoft.com/office/drawing/2014/main" id="{658C441E-FD14-CD68-22FA-3C0A2E7AEC13}"/>
              </a:ext>
            </a:extLst>
          </p:cNvPr>
          <p:cNvSpPr>
            <a:spLocks noGrp="1"/>
          </p:cNvSpPr>
          <p:nvPr>
            <p:ph idx="1"/>
          </p:nvPr>
        </p:nvSpPr>
        <p:spPr>
          <a:xfrm>
            <a:off x="838200" y="1814739"/>
            <a:ext cx="10515600" cy="4351338"/>
          </a:xfrm>
        </p:spPr>
        <p:txBody>
          <a:bodyPr>
            <a:normAutofit/>
          </a:bodyPr>
          <a:lstStyle/>
          <a:p>
            <a:r>
              <a:rPr lang="en-GB" sz="3600" b="1" dirty="0"/>
              <a:t>Definition</a:t>
            </a:r>
            <a:r>
              <a:rPr lang="en-GB" sz="3600" dirty="0"/>
              <a:t>: Repetition occurs when a generative model repeats words, phrases, or ideas unnecessarily within its output. This can happen within a single response or across multiple turns in a conversation.</a:t>
            </a:r>
            <a:endParaRPr lang="en-IE" sz="3600" dirty="0"/>
          </a:p>
        </p:txBody>
      </p:sp>
    </p:spTree>
    <p:extLst>
      <p:ext uri="{BB962C8B-B14F-4D97-AF65-F5344CB8AC3E}">
        <p14:creationId xmlns:p14="http://schemas.microsoft.com/office/powerpoint/2010/main" val="2037994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C53860-32CE-23B4-1D3F-61F375D54443}"/>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026" name="Picture 2" descr="teaching style: the art of repetition. – THE LIFELONG LEARNER">
            <a:extLst>
              <a:ext uri="{FF2B5EF4-FFF2-40B4-BE49-F238E27FC236}">
                <a16:creationId xmlns:a16="http://schemas.microsoft.com/office/drawing/2014/main" id="{1B30BE8E-54E7-C339-258D-0752D0C16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45" r="2127" b="1"/>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651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F914-3C15-13AC-D953-8192E7B52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7F06C-439E-662F-F610-339593E688D3}"/>
              </a:ext>
            </a:extLst>
          </p:cNvPr>
          <p:cNvSpPr>
            <a:spLocks noGrp="1"/>
          </p:cNvSpPr>
          <p:nvPr>
            <p:ph type="title"/>
          </p:nvPr>
        </p:nvSpPr>
        <p:spPr/>
        <p:txBody>
          <a:bodyPr>
            <a:normAutofit/>
          </a:bodyPr>
          <a:lstStyle/>
          <a:p>
            <a:r>
              <a:rPr lang="en-IE" sz="5400" b="1" dirty="0"/>
              <a:t>Four Types of Repetition</a:t>
            </a:r>
          </a:p>
        </p:txBody>
      </p:sp>
      <p:sp>
        <p:nvSpPr>
          <p:cNvPr id="3" name="Content Placeholder 2">
            <a:extLst>
              <a:ext uri="{FF2B5EF4-FFF2-40B4-BE49-F238E27FC236}">
                <a16:creationId xmlns:a16="http://schemas.microsoft.com/office/drawing/2014/main" id="{6B7374D0-D5A3-0870-8CB8-DCC9A2531E85}"/>
              </a:ext>
            </a:extLst>
          </p:cNvPr>
          <p:cNvSpPr>
            <a:spLocks noGrp="1"/>
          </p:cNvSpPr>
          <p:nvPr>
            <p:ph idx="1"/>
          </p:nvPr>
        </p:nvSpPr>
        <p:spPr/>
        <p:txBody>
          <a:bodyPr>
            <a:normAutofit/>
          </a:bodyPr>
          <a:lstStyle/>
          <a:p>
            <a:r>
              <a:rPr lang="en-GB" sz="3200" b="1" dirty="0"/>
              <a:t>1. Lexical Repetition (Word-level): </a:t>
            </a:r>
            <a:r>
              <a:rPr lang="en-GB" sz="3200" dirty="0"/>
              <a:t>The same words or short phrases appear over and over. </a:t>
            </a:r>
          </a:p>
          <a:p>
            <a:r>
              <a:rPr lang="en-GB" sz="3200" dirty="0"/>
              <a:t>========================================</a:t>
            </a:r>
          </a:p>
          <a:p>
            <a:r>
              <a:rPr lang="en-GB" sz="3200" dirty="0"/>
              <a:t>For example:</a:t>
            </a:r>
          </a:p>
          <a:p>
            <a:r>
              <a:rPr lang="en-GB" sz="3200" dirty="0">
                <a:latin typeface="Courier New" panose="02070309020205020404" pitchFamily="49" charset="0"/>
                <a:cs typeface="Courier New" panose="02070309020205020404" pitchFamily="49" charset="0"/>
              </a:rPr>
              <a:t>“The cat is very very very very cute.” </a:t>
            </a:r>
          </a:p>
          <a:p>
            <a:r>
              <a:rPr lang="en-GB" sz="3200" dirty="0"/>
              <a:t>Repeats without adding meaning.</a:t>
            </a:r>
            <a:endParaRPr lang="en-IE" sz="3200" dirty="0"/>
          </a:p>
        </p:txBody>
      </p:sp>
    </p:spTree>
    <p:extLst>
      <p:ext uri="{BB962C8B-B14F-4D97-AF65-F5344CB8AC3E}">
        <p14:creationId xmlns:p14="http://schemas.microsoft.com/office/powerpoint/2010/main" val="837620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0FD4-73BC-1141-787E-4B6843E1F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A6B29-25B1-F2F2-C2C9-6595E4CBFBFC}"/>
              </a:ext>
            </a:extLst>
          </p:cNvPr>
          <p:cNvSpPr>
            <a:spLocks noGrp="1"/>
          </p:cNvSpPr>
          <p:nvPr>
            <p:ph type="title"/>
          </p:nvPr>
        </p:nvSpPr>
        <p:spPr/>
        <p:txBody>
          <a:bodyPr>
            <a:normAutofit/>
          </a:bodyPr>
          <a:lstStyle/>
          <a:p>
            <a:r>
              <a:rPr lang="en-IE" sz="5400" b="1" dirty="0"/>
              <a:t>Four Types of Repetition</a:t>
            </a:r>
          </a:p>
        </p:txBody>
      </p:sp>
      <p:sp>
        <p:nvSpPr>
          <p:cNvPr id="3" name="Content Placeholder 2">
            <a:extLst>
              <a:ext uri="{FF2B5EF4-FFF2-40B4-BE49-F238E27FC236}">
                <a16:creationId xmlns:a16="http://schemas.microsoft.com/office/drawing/2014/main" id="{D3B98CCB-E6F1-A982-0AE0-3FDBDB3A0B45}"/>
              </a:ext>
            </a:extLst>
          </p:cNvPr>
          <p:cNvSpPr>
            <a:spLocks noGrp="1"/>
          </p:cNvSpPr>
          <p:nvPr>
            <p:ph idx="1"/>
          </p:nvPr>
        </p:nvSpPr>
        <p:spPr/>
        <p:txBody>
          <a:bodyPr>
            <a:normAutofit fontScale="92500" lnSpcReduction="10000"/>
          </a:bodyPr>
          <a:lstStyle/>
          <a:p>
            <a:r>
              <a:rPr lang="en-GB" sz="3600" b="1" dirty="0"/>
              <a:t>2. Phrase/Sentence Repetition:</a:t>
            </a:r>
            <a:r>
              <a:rPr lang="en-GB" sz="3600" dirty="0"/>
              <a:t> Entire phrases or sentences are repeated, either identically or slightly altered. </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“Let me know if you have any questions. Feel free to reach out if you have any questions.”  </a:t>
            </a:r>
          </a:p>
          <a:p>
            <a:r>
              <a:rPr lang="en-GB" sz="3600" dirty="0"/>
              <a:t>Two sentences say the same thing.</a:t>
            </a:r>
            <a:endParaRPr lang="en-IE" sz="3600" dirty="0"/>
          </a:p>
        </p:txBody>
      </p:sp>
    </p:spTree>
    <p:extLst>
      <p:ext uri="{BB962C8B-B14F-4D97-AF65-F5344CB8AC3E}">
        <p14:creationId xmlns:p14="http://schemas.microsoft.com/office/powerpoint/2010/main" val="3390575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DA13E-6EC4-DA14-EBC0-4739167D9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197AA-A6A9-EB2F-4688-07D0EE043348}"/>
              </a:ext>
            </a:extLst>
          </p:cNvPr>
          <p:cNvSpPr>
            <a:spLocks noGrp="1"/>
          </p:cNvSpPr>
          <p:nvPr>
            <p:ph type="title"/>
          </p:nvPr>
        </p:nvSpPr>
        <p:spPr/>
        <p:txBody>
          <a:bodyPr>
            <a:normAutofit/>
          </a:bodyPr>
          <a:lstStyle/>
          <a:p>
            <a:r>
              <a:rPr lang="en-IE" sz="5400" b="1" dirty="0"/>
              <a:t>Four Types of Repetition</a:t>
            </a:r>
          </a:p>
        </p:txBody>
      </p:sp>
      <p:sp>
        <p:nvSpPr>
          <p:cNvPr id="3" name="Content Placeholder 2">
            <a:extLst>
              <a:ext uri="{FF2B5EF4-FFF2-40B4-BE49-F238E27FC236}">
                <a16:creationId xmlns:a16="http://schemas.microsoft.com/office/drawing/2014/main" id="{F6C29BFA-5799-C1C6-7F33-910A15E365C5}"/>
              </a:ext>
            </a:extLst>
          </p:cNvPr>
          <p:cNvSpPr>
            <a:spLocks noGrp="1"/>
          </p:cNvSpPr>
          <p:nvPr>
            <p:ph idx="1"/>
          </p:nvPr>
        </p:nvSpPr>
        <p:spPr/>
        <p:txBody>
          <a:bodyPr>
            <a:normAutofit/>
          </a:bodyPr>
          <a:lstStyle/>
          <a:p>
            <a:r>
              <a:rPr lang="en-GB" sz="3200" b="1" dirty="0"/>
              <a:t>3. Semantic Repetition (Idea-level):</a:t>
            </a:r>
            <a:r>
              <a:rPr lang="en-GB" sz="3200" dirty="0"/>
              <a:t> The model says the same thing multiple times in different ways.</a:t>
            </a:r>
          </a:p>
          <a:p>
            <a:r>
              <a:rPr lang="en-GB" sz="3200" dirty="0"/>
              <a:t>==========================================</a:t>
            </a:r>
            <a:endParaRPr lang="en-GB" sz="3200" b="1" dirty="0"/>
          </a:p>
          <a:p>
            <a:r>
              <a:rPr lang="en-GB" sz="3200" dirty="0"/>
              <a:t>For example:</a:t>
            </a:r>
          </a:p>
          <a:p>
            <a:r>
              <a:rPr lang="en-GB" sz="3200" dirty="0">
                <a:latin typeface="Courier New" panose="02070309020205020404" pitchFamily="49" charset="0"/>
                <a:cs typeface="Courier New" panose="02070309020205020404" pitchFamily="49" charset="0"/>
              </a:rPr>
              <a:t>“It’s important to eat healthy. A nutritious diet is key. Good food choices matter.”</a:t>
            </a:r>
          </a:p>
          <a:p>
            <a:r>
              <a:rPr lang="en-GB" sz="3200" dirty="0"/>
              <a:t>All convey the same idea without progressing.</a:t>
            </a:r>
            <a:endParaRPr lang="en-IE" sz="3200" dirty="0"/>
          </a:p>
        </p:txBody>
      </p:sp>
    </p:spTree>
    <p:extLst>
      <p:ext uri="{BB962C8B-B14F-4D97-AF65-F5344CB8AC3E}">
        <p14:creationId xmlns:p14="http://schemas.microsoft.com/office/powerpoint/2010/main" val="2797378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0253-FC58-BA6B-4DE5-7C7D4074B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45E18-6608-44CA-086E-D40D18720054}"/>
              </a:ext>
            </a:extLst>
          </p:cNvPr>
          <p:cNvSpPr>
            <a:spLocks noGrp="1"/>
          </p:cNvSpPr>
          <p:nvPr>
            <p:ph type="title"/>
          </p:nvPr>
        </p:nvSpPr>
        <p:spPr/>
        <p:txBody>
          <a:bodyPr>
            <a:normAutofit/>
          </a:bodyPr>
          <a:lstStyle/>
          <a:p>
            <a:r>
              <a:rPr lang="en-IE" sz="5400" b="1" dirty="0"/>
              <a:t>Four Types of Repetition</a:t>
            </a:r>
          </a:p>
        </p:txBody>
      </p:sp>
      <p:sp>
        <p:nvSpPr>
          <p:cNvPr id="3" name="Content Placeholder 2">
            <a:extLst>
              <a:ext uri="{FF2B5EF4-FFF2-40B4-BE49-F238E27FC236}">
                <a16:creationId xmlns:a16="http://schemas.microsoft.com/office/drawing/2014/main" id="{19DD4E1B-9C8F-852A-1A2B-DD99E1917A68}"/>
              </a:ext>
            </a:extLst>
          </p:cNvPr>
          <p:cNvSpPr>
            <a:spLocks noGrp="1"/>
          </p:cNvSpPr>
          <p:nvPr>
            <p:ph idx="1"/>
          </p:nvPr>
        </p:nvSpPr>
        <p:spPr/>
        <p:txBody>
          <a:bodyPr>
            <a:normAutofit/>
          </a:bodyPr>
          <a:lstStyle/>
          <a:p>
            <a:r>
              <a:rPr lang="en-GB" sz="3200" b="1" dirty="0"/>
              <a:t>4. Conversational Repetition (Multi-turn):</a:t>
            </a:r>
            <a:r>
              <a:rPr lang="en-GB" sz="3200" dirty="0"/>
              <a:t> The model repeats responses from earlier turns in a dialogue. </a:t>
            </a:r>
          </a:p>
          <a:p>
            <a:r>
              <a:rPr lang="en-GB" sz="3200" dirty="0"/>
              <a:t>==========================================</a:t>
            </a:r>
          </a:p>
          <a:p>
            <a:r>
              <a:rPr lang="en-GB" sz="3200" dirty="0"/>
              <a:t>This is especially common when it “forgets” earlier parts of the conversation due to limited context window or memory.</a:t>
            </a:r>
            <a:endParaRPr lang="en-IE" sz="3200" dirty="0"/>
          </a:p>
        </p:txBody>
      </p:sp>
    </p:spTree>
    <p:extLst>
      <p:ext uri="{BB962C8B-B14F-4D97-AF65-F5344CB8AC3E}">
        <p14:creationId xmlns:p14="http://schemas.microsoft.com/office/powerpoint/2010/main" val="1708760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FA985-FB90-6CD5-669C-0EC29A375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CFEB4-F7B3-FCCB-A7AA-5442FAE3E4F1}"/>
              </a:ext>
            </a:extLst>
          </p:cNvPr>
          <p:cNvSpPr>
            <a:spLocks noGrp="1"/>
          </p:cNvSpPr>
          <p:nvPr>
            <p:ph type="title"/>
          </p:nvPr>
        </p:nvSpPr>
        <p:spPr/>
        <p:txBody>
          <a:bodyPr>
            <a:normAutofit/>
          </a:bodyPr>
          <a:lstStyle/>
          <a:p>
            <a:r>
              <a:rPr lang="en-IE" sz="5400" b="1" dirty="0"/>
              <a:t>Why GenAI Models Repeat</a:t>
            </a:r>
          </a:p>
        </p:txBody>
      </p:sp>
      <p:sp>
        <p:nvSpPr>
          <p:cNvPr id="3" name="Content Placeholder 2">
            <a:extLst>
              <a:ext uri="{FF2B5EF4-FFF2-40B4-BE49-F238E27FC236}">
                <a16:creationId xmlns:a16="http://schemas.microsoft.com/office/drawing/2014/main" id="{A4F82769-B2D1-2EA4-C009-BD5FB17AF176}"/>
              </a:ext>
            </a:extLst>
          </p:cNvPr>
          <p:cNvSpPr>
            <a:spLocks noGrp="1"/>
          </p:cNvSpPr>
          <p:nvPr>
            <p:ph idx="1"/>
          </p:nvPr>
        </p:nvSpPr>
        <p:spPr/>
        <p:txBody>
          <a:bodyPr>
            <a:normAutofit/>
          </a:bodyPr>
          <a:lstStyle/>
          <a:p>
            <a:r>
              <a:rPr lang="en-GB" sz="3200" b="1" dirty="0"/>
              <a:t>High-probability tokens </a:t>
            </a:r>
            <a:r>
              <a:rPr lang="en-GB" sz="3200" dirty="0"/>
              <a:t>dominate when the model is being overly cautious or lacks direction.</a:t>
            </a:r>
            <a:r>
              <a:rPr lang="en-GB" sz="3200" b="1" dirty="0"/>
              <a:t> </a:t>
            </a:r>
          </a:p>
          <a:p>
            <a:r>
              <a:rPr lang="en-GB" sz="3200" b="1" dirty="0"/>
              <a:t>Short context window </a:t>
            </a:r>
            <a:r>
              <a:rPr lang="en-GB" sz="3200" dirty="0"/>
              <a:t>means the model doesn’t remember what it just said.</a:t>
            </a:r>
            <a:r>
              <a:rPr lang="en-GB" sz="3200" b="1" dirty="0"/>
              <a:t> </a:t>
            </a:r>
          </a:p>
          <a:p>
            <a:r>
              <a:rPr lang="en-GB" sz="3200" b="1" dirty="0"/>
              <a:t>Training data </a:t>
            </a:r>
            <a:r>
              <a:rPr lang="en-GB" sz="3200" dirty="0"/>
              <a:t>may include repeated phrases (e.g., customer support transcripts). </a:t>
            </a:r>
          </a:p>
          <a:p>
            <a:r>
              <a:rPr lang="en-GB" sz="3200" b="1" dirty="0"/>
              <a:t>Default behaviour</a:t>
            </a:r>
            <a:r>
              <a:rPr lang="en-GB" sz="3200" dirty="0"/>
              <a:t> when uncertain — repetition is “safe” and often grammatically correct.</a:t>
            </a:r>
            <a:endParaRPr lang="en-IE" sz="3200" dirty="0"/>
          </a:p>
        </p:txBody>
      </p:sp>
    </p:spTree>
    <p:extLst>
      <p:ext uri="{BB962C8B-B14F-4D97-AF65-F5344CB8AC3E}">
        <p14:creationId xmlns:p14="http://schemas.microsoft.com/office/powerpoint/2010/main" val="3520374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CC760-7A1B-44FC-913B-87FDDB94E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CF83A-5C44-0A80-98F8-907023EEA2A8}"/>
              </a:ext>
            </a:extLst>
          </p:cNvPr>
          <p:cNvSpPr>
            <a:spLocks noGrp="1"/>
          </p:cNvSpPr>
          <p:nvPr>
            <p:ph type="title"/>
          </p:nvPr>
        </p:nvSpPr>
        <p:spPr/>
        <p:txBody>
          <a:bodyPr>
            <a:normAutofit/>
          </a:bodyPr>
          <a:lstStyle/>
          <a:p>
            <a:r>
              <a:rPr lang="en-IE" sz="5400" b="1" dirty="0"/>
              <a:t>How to Mitigate Repetition</a:t>
            </a:r>
          </a:p>
        </p:txBody>
      </p:sp>
      <p:sp>
        <p:nvSpPr>
          <p:cNvPr id="3" name="Content Placeholder 2">
            <a:extLst>
              <a:ext uri="{FF2B5EF4-FFF2-40B4-BE49-F238E27FC236}">
                <a16:creationId xmlns:a16="http://schemas.microsoft.com/office/drawing/2014/main" id="{DE8DF0A8-4B02-594A-604F-2EAE288F7900}"/>
              </a:ext>
            </a:extLst>
          </p:cNvPr>
          <p:cNvSpPr>
            <a:spLocks noGrp="1"/>
          </p:cNvSpPr>
          <p:nvPr>
            <p:ph idx="1"/>
          </p:nvPr>
        </p:nvSpPr>
        <p:spPr/>
        <p:txBody>
          <a:bodyPr>
            <a:normAutofit fontScale="92500"/>
          </a:bodyPr>
          <a:lstStyle/>
          <a:p>
            <a:r>
              <a:rPr lang="en-GB" sz="3200" dirty="0"/>
              <a:t>Use </a:t>
            </a:r>
            <a:r>
              <a:rPr lang="en-GB" sz="3200" b="1" dirty="0"/>
              <a:t>temperature tuning</a:t>
            </a:r>
            <a:r>
              <a:rPr lang="en-GB" sz="3200" dirty="0"/>
              <a:t>: lower temperature = more repetition; higher = more creative, less repetitive (but also riskier). </a:t>
            </a:r>
          </a:p>
          <a:p>
            <a:r>
              <a:rPr lang="en-GB" sz="3200" dirty="0"/>
              <a:t>Implement </a:t>
            </a:r>
            <a:r>
              <a:rPr lang="en-GB" sz="3200" b="1" dirty="0"/>
              <a:t>repetition penalties</a:t>
            </a:r>
            <a:r>
              <a:rPr lang="en-GB" sz="3200" dirty="0"/>
              <a:t> in decoding (e.g., </a:t>
            </a:r>
            <a:r>
              <a:rPr lang="en-GB" sz="3200" dirty="0">
                <a:latin typeface="Courier New" panose="02070309020205020404" pitchFamily="49" charset="0"/>
                <a:cs typeface="Courier New" panose="02070309020205020404" pitchFamily="49" charset="0"/>
              </a:rPr>
              <a:t>no_repeat_ngram_size</a:t>
            </a:r>
            <a:r>
              <a:rPr lang="en-GB" sz="3200" dirty="0"/>
              <a:t> in transformers). </a:t>
            </a:r>
          </a:p>
          <a:p>
            <a:r>
              <a:rPr lang="en-GB" sz="3200" dirty="0"/>
              <a:t>Add </a:t>
            </a:r>
            <a:r>
              <a:rPr lang="en-GB" sz="3200" b="1" dirty="0"/>
              <a:t>post-processing filters</a:t>
            </a:r>
            <a:r>
              <a:rPr lang="en-GB" sz="3200" dirty="0"/>
              <a:t> to check for repeated segments. </a:t>
            </a:r>
          </a:p>
          <a:p>
            <a:r>
              <a:rPr lang="en-GB" sz="3200" dirty="0"/>
              <a:t>Train/fine-tune on </a:t>
            </a:r>
            <a:r>
              <a:rPr lang="en-GB" sz="3200" b="1" dirty="0"/>
              <a:t>cleaner, more diverse data</a:t>
            </a:r>
            <a:r>
              <a:rPr lang="en-GB" sz="3200" dirty="0"/>
              <a:t>. </a:t>
            </a:r>
          </a:p>
          <a:p>
            <a:r>
              <a:rPr lang="en-GB" sz="3200" dirty="0"/>
              <a:t>Use </a:t>
            </a:r>
            <a:r>
              <a:rPr lang="en-GB" sz="3200" b="1" dirty="0"/>
              <a:t>context memory tools</a:t>
            </a:r>
            <a:r>
              <a:rPr lang="en-GB" sz="3200" dirty="0"/>
              <a:t> to help the model “remember” what it already said.</a:t>
            </a:r>
            <a:endParaRPr lang="en-IE" sz="3200" dirty="0"/>
          </a:p>
        </p:txBody>
      </p:sp>
    </p:spTree>
    <p:extLst>
      <p:ext uri="{BB962C8B-B14F-4D97-AF65-F5344CB8AC3E}">
        <p14:creationId xmlns:p14="http://schemas.microsoft.com/office/powerpoint/2010/main" val="561548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D11A58-E8A4-6E0E-9278-82237C63B61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C517CC-5C2F-6E31-251B-A18C1ABE4213}"/>
              </a:ext>
            </a:extLst>
          </p:cNvPr>
          <p:cNvSpPr>
            <a:spLocks noGrp="1"/>
          </p:cNvSpPr>
          <p:nvPr>
            <p:ph type="ctrTitle"/>
          </p:nvPr>
        </p:nvSpPr>
        <p:spPr>
          <a:xfrm>
            <a:off x="4162567" y="818984"/>
            <a:ext cx="6714699" cy="3178689"/>
          </a:xfrm>
        </p:spPr>
        <p:txBody>
          <a:bodyPr>
            <a:normAutofit/>
          </a:bodyPr>
          <a:lstStyle/>
          <a:p>
            <a:pPr algn="l"/>
            <a:r>
              <a:rPr lang="en-GB" sz="5400" b="1" dirty="0">
                <a:solidFill>
                  <a:srgbClr val="FFFFFF"/>
                </a:solidFill>
              </a:rPr>
              <a:t>Ambiguity</a:t>
            </a:r>
            <a:endParaRPr lang="en-IE" sz="5400" b="1" dirty="0">
              <a:solidFill>
                <a:srgbClr val="FFFFFF"/>
              </a:solidFill>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4099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153E-6E7B-C7C1-AAE3-046E138BE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9F51A-2D92-CA63-9753-0EF16AFAD953}"/>
              </a:ext>
            </a:extLst>
          </p:cNvPr>
          <p:cNvSpPr>
            <a:spLocks noGrp="1"/>
          </p:cNvSpPr>
          <p:nvPr>
            <p:ph type="title"/>
          </p:nvPr>
        </p:nvSpPr>
        <p:spPr/>
        <p:txBody>
          <a:bodyPr>
            <a:normAutofit/>
          </a:bodyPr>
          <a:lstStyle/>
          <a:p>
            <a:r>
              <a:rPr lang="en-IE" sz="5400" b="1" dirty="0"/>
              <a:t>Ambiguity</a:t>
            </a:r>
          </a:p>
        </p:txBody>
      </p:sp>
      <p:sp>
        <p:nvSpPr>
          <p:cNvPr id="3" name="Content Placeholder 2">
            <a:extLst>
              <a:ext uri="{FF2B5EF4-FFF2-40B4-BE49-F238E27FC236}">
                <a16:creationId xmlns:a16="http://schemas.microsoft.com/office/drawing/2014/main" id="{4AD1213A-D274-AFDF-3711-1395B1B0EA36}"/>
              </a:ext>
            </a:extLst>
          </p:cNvPr>
          <p:cNvSpPr>
            <a:spLocks noGrp="1"/>
          </p:cNvSpPr>
          <p:nvPr>
            <p:ph idx="1"/>
          </p:nvPr>
        </p:nvSpPr>
        <p:spPr/>
        <p:txBody>
          <a:bodyPr>
            <a:normAutofit/>
          </a:bodyPr>
          <a:lstStyle/>
          <a:p>
            <a:r>
              <a:rPr lang="en-GB" sz="3200" b="1" dirty="0"/>
              <a:t>Definition</a:t>
            </a:r>
            <a:r>
              <a:rPr lang="en-GB" sz="3200" dirty="0"/>
              <a:t>: Ambiguity happens when an AI model generates unclear, vague, or confusing language, leaving its meaning open to multiple interpretations. This can hinder comprehension, introduce misinformation, or require users to guess the model’s intent.</a:t>
            </a:r>
            <a:endParaRPr lang="en-IE" sz="3200" dirty="0"/>
          </a:p>
        </p:txBody>
      </p:sp>
      <p:pic>
        <p:nvPicPr>
          <p:cNvPr id="5122" name="Picture 2" descr="Turning Ambiguity into Action: A Framework | by Nick StJohn | Medium">
            <a:extLst>
              <a:ext uri="{FF2B5EF4-FFF2-40B4-BE49-F238E27FC236}">
                <a16:creationId xmlns:a16="http://schemas.microsoft.com/office/drawing/2014/main" id="{5AC7D70B-B8CD-7F0C-ABEC-BD8DFD543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9343" y="4157889"/>
            <a:ext cx="3113314" cy="2334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927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1D1B0-9594-5859-2782-3882D6397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67697-6F37-6F9D-059F-C08609A85231}"/>
              </a:ext>
            </a:extLst>
          </p:cNvPr>
          <p:cNvSpPr>
            <a:spLocks noGrp="1"/>
          </p:cNvSpPr>
          <p:nvPr>
            <p:ph type="title"/>
          </p:nvPr>
        </p:nvSpPr>
        <p:spPr/>
        <p:txBody>
          <a:bodyPr>
            <a:normAutofit/>
          </a:bodyPr>
          <a:lstStyle/>
          <a:p>
            <a:r>
              <a:rPr lang="en-IE" sz="5400" b="1" dirty="0"/>
              <a:t>Four Types of Ambiguity</a:t>
            </a:r>
          </a:p>
        </p:txBody>
      </p:sp>
      <p:sp>
        <p:nvSpPr>
          <p:cNvPr id="3" name="Content Placeholder 2">
            <a:extLst>
              <a:ext uri="{FF2B5EF4-FFF2-40B4-BE49-F238E27FC236}">
                <a16:creationId xmlns:a16="http://schemas.microsoft.com/office/drawing/2014/main" id="{52080971-E378-BD42-2F22-938C497D2853}"/>
              </a:ext>
            </a:extLst>
          </p:cNvPr>
          <p:cNvSpPr>
            <a:spLocks noGrp="1"/>
          </p:cNvSpPr>
          <p:nvPr>
            <p:ph idx="1"/>
          </p:nvPr>
        </p:nvSpPr>
        <p:spPr/>
        <p:txBody>
          <a:bodyPr>
            <a:normAutofit/>
          </a:bodyPr>
          <a:lstStyle/>
          <a:p>
            <a:r>
              <a:rPr lang="en-GB" sz="3600" b="1" dirty="0"/>
              <a:t>1. Lexical Ambiguity (Word-level confusion):</a:t>
            </a:r>
            <a:r>
              <a:rPr lang="en-GB" sz="3600" dirty="0"/>
              <a:t> A single word has multiple meanings and the model doesn’t clarify which is intended. </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“She went to the bank.”</a:t>
            </a:r>
          </a:p>
          <a:p>
            <a:r>
              <a:rPr lang="en-GB" sz="3600" dirty="0"/>
              <a:t>Is it a financial bank or a riverbank?</a:t>
            </a:r>
            <a:endParaRPr lang="en-IE" sz="3600" dirty="0"/>
          </a:p>
        </p:txBody>
      </p:sp>
    </p:spTree>
    <p:extLst>
      <p:ext uri="{BB962C8B-B14F-4D97-AF65-F5344CB8AC3E}">
        <p14:creationId xmlns:p14="http://schemas.microsoft.com/office/powerpoint/2010/main" val="467340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5EF23-C096-B347-8BF0-D125C412C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127ED-EE0A-2C7B-8962-EA556DCFA29B}"/>
              </a:ext>
            </a:extLst>
          </p:cNvPr>
          <p:cNvSpPr>
            <a:spLocks noGrp="1"/>
          </p:cNvSpPr>
          <p:nvPr>
            <p:ph type="title"/>
          </p:nvPr>
        </p:nvSpPr>
        <p:spPr/>
        <p:txBody>
          <a:bodyPr>
            <a:normAutofit/>
          </a:bodyPr>
          <a:lstStyle/>
          <a:p>
            <a:r>
              <a:rPr lang="en-IE" sz="5400" b="1" dirty="0"/>
              <a:t>Four Types of Ambiguity</a:t>
            </a:r>
          </a:p>
        </p:txBody>
      </p:sp>
      <p:sp>
        <p:nvSpPr>
          <p:cNvPr id="3" name="Content Placeholder 2">
            <a:extLst>
              <a:ext uri="{FF2B5EF4-FFF2-40B4-BE49-F238E27FC236}">
                <a16:creationId xmlns:a16="http://schemas.microsoft.com/office/drawing/2014/main" id="{9BF98C2B-EC31-7FCA-2AA2-1A89FDA090D4}"/>
              </a:ext>
            </a:extLst>
          </p:cNvPr>
          <p:cNvSpPr>
            <a:spLocks noGrp="1"/>
          </p:cNvSpPr>
          <p:nvPr>
            <p:ph idx="1"/>
          </p:nvPr>
        </p:nvSpPr>
        <p:spPr/>
        <p:txBody>
          <a:bodyPr>
            <a:normAutofit/>
          </a:bodyPr>
          <a:lstStyle/>
          <a:p>
            <a:r>
              <a:rPr lang="en-GB" sz="3600" b="1" dirty="0"/>
              <a:t>2. Structural Ambiguity (Sentence-level confusion):</a:t>
            </a:r>
            <a:r>
              <a:rPr lang="en-GB" sz="3600" dirty="0"/>
              <a:t> The structure or grammar leads to multiple interpretations.</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“I saw the man with the telescope.”</a:t>
            </a:r>
          </a:p>
          <a:p>
            <a:r>
              <a:rPr lang="en-GB" sz="3600" dirty="0"/>
              <a:t>Who has the telescope — you or the man?</a:t>
            </a:r>
            <a:endParaRPr lang="en-IE" sz="3600" dirty="0"/>
          </a:p>
        </p:txBody>
      </p:sp>
    </p:spTree>
    <p:extLst>
      <p:ext uri="{BB962C8B-B14F-4D97-AF65-F5344CB8AC3E}">
        <p14:creationId xmlns:p14="http://schemas.microsoft.com/office/powerpoint/2010/main" val="3601895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A7B8-7259-9AFF-37DF-57034BA70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B4829-4C34-E04A-4D9C-33DC43F142CE}"/>
              </a:ext>
            </a:extLst>
          </p:cNvPr>
          <p:cNvSpPr>
            <a:spLocks noGrp="1"/>
          </p:cNvSpPr>
          <p:nvPr>
            <p:ph type="title"/>
          </p:nvPr>
        </p:nvSpPr>
        <p:spPr/>
        <p:txBody>
          <a:bodyPr>
            <a:normAutofit/>
          </a:bodyPr>
          <a:lstStyle/>
          <a:p>
            <a:r>
              <a:rPr lang="en-IE" sz="5400" b="1" dirty="0"/>
              <a:t>Four Types of Ambiguity</a:t>
            </a:r>
          </a:p>
        </p:txBody>
      </p:sp>
      <p:sp>
        <p:nvSpPr>
          <p:cNvPr id="3" name="Content Placeholder 2">
            <a:extLst>
              <a:ext uri="{FF2B5EF4-FFF2-40B4-BE49-F238E27FC236}">
                <a16:creationId xmlns:a16="http://schemas.microsoft.com/office/drawing/2014/main" id="{63344A9E-ECF5-AB38-E8B9-98CB543A56B6}"/>
              </a:ext>
            </a:extLst>
          </p:cNvPr>
          <p:cNvSpPr>
            <a:spLocks noGrp="1"/>
          </p:cNvSpPr>
          <p:nvPr>
            <p:ph idx="1"/>
          </p:nvPr>
        </p:nvSpPr>
        <p:spPr/>
        <p:txBody>
          <a:bodyPr>
            <a:normAutofit/>
          </a:bodyPr>
          <a:lstStyle/>
          <a:p>
            <a:r>
              <a:rPr lang="en-GB" sz="3600" b="1" dirty="0"/>
              <a:t>3. Referential Ambiguity (Who or what is being referred to?): </a:t>
            </a:r>
            <a:r>
              <a:rPr lang="en-GB" sz="3600" dirty="0"/>
              <a:t>Pronouns or terms are unclear in context.</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“Alex told Jordan that they won.”</a:t>
            </a:r>
          </a:p>
          <a:p>
            <a:r>
              <a:rPr lang="en-GB" sz="3600" dirty="0"/>
              <a:t>Who won — Alex or Jordan?</a:t>
            </a:r>
            <a:endParaRPr lang="en-IE" sz="3600" dirty="0"/>
          </a:p>
        </p:txBody>
      </p:sp>
    </p:spTree>
    <p:extLst>
      <p:ext uri="{BB962C8B-B14F-4D97-AF65-F5344CB8AC3E}">
        <p14:creationId xmlns:p14="http://schemas.microsoft.com/office/powerpoint/2010/main" val="2502080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45AB-4784-0518-4497-3770A405D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B46ED-D5DD-2BEA-0204-C88302F02984}"/>
              </a:ext>
            </a:extLst>
          </p:cNvPr>
          <p:cNvSpPr>
            <a:spLocks noGrp="1"/>
          </p:cNvSpPr>
          <p:nvPr>
            <p:ph type="title"/>
          </p:nvPr>
        </p:nvSpPr>
        <p:spPr/>
        <p:txBody>
          <a:bodyPr>
            <a:normAutofit/>
          </a:bodyPr>
          <a:lstStyle/>
          <a:p>
            <a:r>
              <a:rPr lang="en-IE" sz="5400" b="1" dirty="0"/>
              <a:t>Four Types of Ambiguity</a:t>
            </a:r>
          </a:p>
        </p:txBody>
      </p:sp>
      <p:sp>
        <p:nvSpPr>
          <p:cNvPr id="3" name="Content Placeholder 2">
            <a:extLst>
              <a:ext uri="{FF2B5EF4-FFF2-40B4-BE49-F238E27FC236}">
                <a16:creationId xmlns:a16="http://schemas.microsoft.com/office/drawing/2014/main" id="{A6D50009-3BC7-1F73-A40C-6BF10BFB1112}"/>
              </a:ext>
            </a:extLst>
          </p:cNvPr>
          <p:cNvSpPr>
            <a:spLocks noGrp="1"/>
          </p:cNvSpPr>
          <p:nvPr>
            <p:ph idx="1"/>
          </p:nvPr>
        </p:nvSpPr>
        <p:spPr/>
        <p:txBody>
          <a:bodyPr>
            <a:normAutofit lnSpcReduction="10000"/>
          </a:bodyPr>
          <a:lstStyle/>
          <a:p>
            <a:r>
              <a:rPr lang="en-GB" sz="3600" b="1" dirty="0"/>
              <a:t>4. Vague Language (Unclear or non-committal output):</a:t>
            </a:r>
            <a:r>
              <a:rPr lang="en-GB" sz="3600" dirty="0"/>
              <a:t> The model avoids specifics, often in an attempt to be “safe.”</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“There are some benefits and some downsides.”</a:t>
            </a:r>
            <a:r>
              <a:rPr lang="en-GB" sz="3600" dirty="0"/>
              <a:t> </a:t>
            </a:r>
          </a:p>
          <a:p>
            <a:r>
              <a:rPr lang="en-GB" sz="3600" dirty="0"/>
              <a:t>What are they exactly?</a:t>
            </a:r>
            <a:endParaRPr lang="en-IE" sz="3600" dirty="0"/>
          </a:p>
        </p:txBody>
      </p:sp>
    </p:spTree>
    <p:extLst>
      <p:ext uri="{BB962C8B-B14F-4D97-AF65-F5344CB8AC3E}">
        <p14:creationId xmlns:p14="http://schemas.microsoft.com/office/powerpoint/2010/main" val="342965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E35C8-29F5-55D9-189F-7F62BFB9D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F0951-86B9-C815-8F81-FC5B803E0159}"/>
              </a:ext>
            </a:extLst>
          </p:cNvPr>
          <p:cNvSpPr>
            <a:spLocks noGrp="1"/>
          </p:cNvSpPr>
          <p:nvPr>
            <p:ph type="title"/>
          </p:nvPr>
        </p:nvSpPr>
        <p:spPr/>
        <p:txBody>
          <a:bodyPr>
            <a:normAutofit fontScale="90000"/>
          </a:bodyPr>
          <a:lstStyle/>
          <a:p>
            <a:r>
              <a:rPr lang="en-IE" sz="5400" b="1" dirty="0"/>
              <a:t>Why GenAI Models Produce Ambiguity</a:t>
            </a:r>
          </a:p>
        </p:txBody>
      </p:sp>
      <p:sp>
        <p:nvSpPr>
          <p:cNvPr id="3" name="Content Placeholder 2">
            <a:extLst>
              <a:ext uri="{FF2B5EF4-FFF2-40B4-BE49-F238E27FC236}">
                <a16:creationId xmlns:a16="http://schemas.microsoft.com/office/drawing/2014/main" id="{E6FF3882-7EA3-229B-7763-D7DEC4A9F1CD}"/>
              </a:ext>
            </a:extLst>
          </p:cNvPr>
          <p:cNvSpPr>
            <a:spLocks noGrp="1"/>
          </p:cNvSpPr>
          <p:nvPr>
            <p:ph idx="1"/>
          </p:nvPr>
        </p:nvSpPr>
        <p:spPr/>
        <p:txBody>
          <a:bodyPr>
            <a:normAutofit fontScale="92500"/>
          </a:bodyPr>
          <a:lstStyle/>
          <a:p>
            <a:r>
              <a:rPr lang="en-GB" sz="3600" dirty="0"/>
              <a:t>Trained on </a:t>
            </a:r>
            <a:r>
              <a:rPr lang="en-GB" sz="3600" b="1" dirty="0"/>
              <a:t>ambiguous or imprecise human data</a:t>
            </a:r>
            <a:r>
              <a:rPr lang="en-GB" sz="3600" dirty="0"/>
              <a:t> (e.g., Reddit, forums, chat logs) </a:t>
            </a:r>
          </a:p>
          <a:p>
            <a:r>
              <a:rPr lang="en-GB" sz="3600" dirty="0"/>
              <a:t>Lacks </a:t>
            </a:r>
            <a:r>
              <a:rPr lang="en-GB" sz="3600" b="1" dirty="0"/>
              <a:t>true world understanding</a:t>
            </a:r>
            <a:r>
              <a:rPr lang="en-GB" sz="3600" dirty="0"/>
              <a:t> or intent modelling </a:t>
            </a:r>
          </a:p>
          <a:p>
            <a:r>
              <a:rPr lang="en-GB" sz="3600" dirty="0"/>
              <a:t>May intentionally </a:t>
            </a:r>
            <a:r>
              <a:rPr lang="en-GB" sz="3600" b="1" dirty="0"/>
              <a:t>hedge</a:t>
            </a:r>
            <a:r>
              <a:rPr lang="en-GB" sz="3600" dirty="0"/>
              <a:t> to avoid making incorrect claims </a:t>
            </a:r>
          </a:p>
          <a:p>
            <a:r>
              <a:rPr lang="en-GB" sz="3600" dirty="0"/>
              <a:t>Tries to be </a:t>
            </a:r>
            <a:r>
              <a:rPr lang="en-GB" sz="3600" b="1" dirty="0"/>
              <a:t>broadly applicable</a:t>
            </a:r>
            <a:r>
              <a:rPr lang="en-GB" sz="3600" dirty="0"/>
              <a:t> in replies to diverse users </a:t>
            </a:r>
          </a:p>
          <a:p>
            <a:r>
              <a:rPr lang="en-GB" sz="3600" dirty="0"/>
              <a:t>Attempts to </a:t>
            </a:r>
            <a:r>
              <a:rPr lang="en-GB" sz="3600" b="1" dirty="0"/>
              <a:t>please everyone</a:t>
            </a:r>
            <a:r>
              <a:rPr lang="en-GB" sz="3600" dirty="0"/>
              <a:t> by staying general</a:t>
            </a:r>
            <a:endParaRPr lang="en-IE" sz="3600" dirty="0"/>
          </a:p>
        </p:txBody>
      </p:sp>
    </p:spTree>
    <p:extLst>
      <p:ext uri="{BB962C8B-B14F-4D97-AF65-F5344CB8AC3E}">
        <p14:creationId xmlns:p14="http://schemas.microsoft.com/office/powerpoint/2010/main" val="3864378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A41C-B88F-F036-5D15-4B8265751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22056-87B5-3F6F-07FC-BF75CACAE2FE}"/>
              </a:ext>
            </a:extLst>
          </p:cNvPr>
          <p:cNvSpPr>
            <a:spLocks noGrp="1"/>
          </p:cNvSpPr>
          <p:nvPr>
            <p:ph type="title"/>
          </p:nvPr>
        </p:nvSpPr>
        <p:spPr/>
        <p:txBody>
          <a:bodyPr>
            <a:normAutofit/>
          </a:bodyPr>
          <a:lstStyle/>
          <a:p>
            <a:r>
              <a:rPr lang="en-IE" sz="5400" b="1" dirty="0"/>
              <a:t>How to Reduce Ambiguity</a:t>
            </a:r>
          </a:p>
        </p:txBody>
      </p:sp>
      <p:sp>
        <p:nvSpPr>
          <p:cNvPr id="3" name="Content Placeholder 2">
            <a:extLst>
              <a:ext uri="{FF2B5EF4-FFF2-40B4-BE49-F238E27FC236}">
                <a16:creationId xmlns:a16="http://schemas.microsoft.com/office/drawing/2014/main" id="{F951F7C9-99CC-EBEC-2B6A-FEECCBF6D301}"/>
              </a:ext>
            </a:extLst>
          </p:cNvPr>
          <p:cNvSpPr>
            <a:spLocks noGrp="1"/>
          </p:cNvSpPr>
          <p:nvPr>
            <p:ph idx="1"/>
          </p:nvPr>
        </p:nvSpPr>
        <p:spPr/>
        <p:txBody>
          <a:bodyPr>
            <a:normAutofit fontScale="92500" lnSpcReduction="20000"/>
          </a:bodyPr>
          <a:lstStyle/>
          <a:p>
            <a:r>
              <a:rPr lang="en-GB" sz="3600" b="1" dirty="0"/>
              <a:t>Prompt more precisely</a:t>
            </a:r>
            <a:r>
              <a:rPr lang="en-GB" sz="3600" dirty="0"/>
              <a:t> (add context, define roles, ask for specifics) </a:t>
            </a:r>
          </a:p>
          <a:p>
            <a:r>
              <a:rPr lang="en-GB" sz="3600" dirty="0"/>
              <a:t>Encourage </a:t>
            </a:r>
            <a:r>
              <a:rPr lang="en-GB" sz="3600" b="1" dirty="0"/>
              <a:t>concrete responses</a:t>
            </a:r>
            <a:r>
              <a:rPr lang="en-GB" sz="3600" dirty="0"/>
              <a:t>: use “give 3 reasons,” “define,” “summarize in one sentence” </a:t>
            </a:r>
          </a:p>
          <a:p>
            <a:r>
              <a:rPr lang="en-GB" sz="3600" dirty="0"/>
              <a:t>Use </a:t>
            </a:r>
            <a:r>
              <a:rPr lang="en-GB" sz="3600" b="1" dirty="0"/>
              <a:t>few-shot examples </a:t>
            </a:r>
            <a:r>
              <a:rPr lang="en-GB" sz="3600" dirty="0"/>
              <a:t>to demonstrate the desired level of clarity </a:t>
            </a:r>
          </a:p>
          <a:p>
            <a:r>
              <a:rPr lang="en-GB" sz="3600" dirty="0"/>
              <a:t>Post-process outputs to detect and flag ambiguous patterns </a:t>
            </a:r>
          </a:p>
          <a:p>
            <a:r>
              <a:rPr lang="en-GB" sz="3600" dirty="0"/>
              <a:t>Train with </a:t>
            </a:r>
            <a:r>
              <a:rPr lang="en-GB" sz="3600" b="1" dirty="0"/>
              <a:t>domain-specific data</a:t>
            </a:r>
            <a:r>
              <a:rPr lang="en-GB" sz="3600" dirty="0"/>
              <a:t> that emphasizes precision and disambiguation</a:t>
            </a:r>
            <a:endParaRPr lang="en-IE" sz="3600" dirty="0"/>
          </a:p>
        </p:txBody>
      </p:sp>
    </p:spTree>
    <p:extLst>
      <p:ext uri="{BB962C8B-B14F-4D97-AF65-F5344CB8AC3E}">
        <p14:creationId xmlns:p14="http://schemas.microsoft.com/office/powerpoint/2010/main" val="1216560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E332A1-4AB9-4AA0-D687-2570F483342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97FB5B-6090-588F-141C-6AA301D6ACD2}"/>
              </a:ext>
            </a:extLst>
          </p:cNvPr>
          <p:cNvSpPr>
            <a:spLocks noGrp="1"/>
          </p:cNvSpPr>
          <p:nvPr>
            <p:ph type="ctrTitle"/>
          </p:nvPr>
        </p:nvSpPr>
        <p:spPr>
          <a:xfrm>
            <a:off x="4162567" y="818984"/>
            <a:ext cx="6714699" cy="3178689"/>
          </a:xfrm>
        </p:spPr>
        <p:txBody>
          <a:bodyPr>
            <a:normAutofit/>
          </a:bodyPr>
          <a:lstStyle/>
          <a:p>
            <a:pPr algn="l"/>
            <a:r>
              <a:rPr lang="en-GB" sz="5400" b="1" dirty="0">
                <a:solidFill>
                  <a:srgbClr val="FFFFFF"/>
                </a:solidFill>
              </a:rPr>
              <a:t>Stereotyping</a:t>
            </a:r>
            <a:endParaRPr lang="en-IE" sz="5400" b="1" dirty="0">
              <a:solidFill>
                <a:srgbClr val="FFFFFF"/>
              </a:solidFill>
            </a:endParaRPr>
          </a:p>
        </p:txBody>
      </p:sp>
      <p:sp>
        <p:nvSpPr>
          <p:cNvPr id="4" name="Rectangle 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704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73457-A368-CE47-2BAE-1DDB661AA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C80CC-4D25-9BEC-DA8C-E497850C528D}"/>
              </a:ext>
            </a:extLst>
          </p:cNvPr>
          <p:cNvSpPr>
            <a:spLocks noGrp="1"/>
          </p:cNvSpPr>
          <p:nvPr>
            <p:ph type="title"/>
          </p:nvPr>
        </p:nvSpPr>
        <p:spPr/>
        <p:txBody>
          <a:bodyPr>
            <a:normAutofit/>
          </a:bodyPr>
          <a:lstStyle/>
          <a:p>
            <a:r>
              <a:rPr lang="en-IE" sz="5400" b="1" dirty="0"/>
              <a:t>Stereotyping</a:t>
            </a:r>
          </a:p>
        </p:txBody>
      </p:sp>
      <p:sp>
        <p:nvSpPr>
          <p:cNvPr id="3" name="Content Placeholder 2">
            <a:extLst>
              <a:ext uri="{FF2B5EF4-FFF2-40B4-BE49-F238E27FC236}">
                <a16:creationId xmlns:a16="http://schemas.microsoft.com/office/drawing/2014/main" id="{58B86D05-D50E-C01D-CA78-72D85DC766B1}"/>
              </a:ext>
            </a:extLst>
          </p:cNvPr>
          <p:cNvSpPr>
            <a:spLocks noGrp="1"/>
          </p:cNvSpPr>
          <p:nvPr>
            <p:ph idx="1"/>
          </p:nvPr>
        </p:nvSpPr>
        <p:spPr/>
        <p:txBody>
          <a:bodyPr>
            <a:normAutofit lnSpcReduction="10000"/>
          </a:bodyPr>
          <a:lstStyle/>
          <a:p>
            <a:r>
              <a:rPr lang="en-GB" sz="3600" b="1" dirty="0"/>
              <a:t>Definition</a:t>
            </a:r>
            <a:r>
              <a:rPr lang="en-GB" sz="3600" dirty="0"/>
              <a:t>: Stereotyping occurs when a generative AI model outputs content that reflects overgeneralized assumptions or biased associations about a group of people based on characteristics such as gender, race, age, nationality, profession, etc. </a:t>
            </a:r>
          </a:p>
          <a:p>
            <a:r>
              <a:rPr lang="en-GB" sz="3600" b="1" i="1" dirty="0"/>
              <a:t>These patterns are usually learned from biased training data, even if not explicitly stated in the prompt.</a:t>
            </a:r>
            <a:endParaRPr lang="en-IE" sz="3600" b="1" i="1" dirty="0"/>
          </a:p>
        </p:txBody>
      </p:sp>
    </p:spTree>
    <p:extLst>
      <p:ext uri="{BB962C8B-B14F-4D97-AF65-F5344CB8AC3E}">
        <p14:creationId xmlns:p14="http://schemas.microsoft.com/office/powerpoint/2010/main" val="287911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2D297-ADF3-38E2-149D-36CADEBA5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46F5F-E739-53CF-527E-2631A1EB1C6C}"/>
              </a:ext>
            </a:extLst>
          </p:cNvPr>
          <p:cNvSpPr>
            <a:spLocks noGrp="1"/>
          </p:cNvSpPr>
          <p:nvPr>
            <p:ph type="title"/>
          </p:nvPr>
        </p:nvSpPr>
        <p:spPr/>
        <p:txBody>
          <a:bodyPr>
            <a:normAutofit/>
          </a:bodyPr>
          <a:lstStyle/>
          <a:p>
            <a:r>
              <a:rPr lang="en-IE" sz="5400" b="1" dirty="0"/>
              <a:t>Four Types of Stereotyping</a:t>
            </a:r>
          </a:p>
        </p:txBody>
      </p:sp>
      <p:sp>
        <p:nvSpPr>
          <p:cNvPr id="3" name="Content Placeholder 2">
            <a:extLst>
              <a:ext uri="{FF2B5EF4-FFF2-40B4-BE49-F238E27FC236}">
                <a16:creationId xmlns:a16="http://schemas.microsoft.com/office/drawing/2014/main" id="{11324522-96AC-6AA5-F525-40F3807131A5}"/>
              </a:ext>
            </a:extLst>
          </p:cNvPr>
          <p:cNvSpPr>
            <a:spLocks noGrp="1"/>
          </p:cNvSpPr>
          <p:nvPr>
            <p:ph idx="1"/>
          </p:nvPr>
        </p:nvSpPr>
        <p:spPr/>
        <p:txBody>
          <a:bodyPr>
            <a:normAutofit/>
          </a:bodyPr>
          <a:lstStyle/>
          <a:p>
            <a:r>
              <a:rPr lang="en-GB" sz="3600" b="1" dirty="0"/>
              <a:t>1. Occupational Stereotypes</a:t>
            </a:r>
            <a:r>
              <a:rPr lang="en-GB" sz="3600" dirty="0"/>
              <a:t>: Associating specific genders or ethnicities with certain jobs. </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“The nurse handed the doctor his clipboard.” </a:t>
            </a:r>
          </a:p>
          <a:p>
            <a:r>
              <a:rPr lang="en-GB" sz="3600" dirty="0"/>
              <a:t>(assumes nurse = woman, doctor = man)</a:t>
            </a:r>
            <a:endParaRPr lang="en-IE" sz="3600" i="1" dirty="0"/>
          </a:p>
        </p:txBody>
      </p:sp>
    </p:spTree>
    <p:extLst>
      <p:ext uri="{BB962C8B-B14F-4D97-AF65-F5344CB8AC3E}">
        <p14:creationId xmlns:p14="http://schemas.microsoft.com/office/powerpoint/2010/main" val="1881985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75F32-4A67-AE99-8C03-8801616BF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B311F-A074-BB72-B348-A1D1C5786460}"/>
              </a:ext>
            </a:extLst>
          </p:cNvPr>
          <p:cNvSpPr>
            <a:spLocks noGrp="1"/>
          </p:cNvSpPr>
          <p:nvPr>
            <p:ph type="title"/>
          </p:nvPr>
        </p:nvSpPr>
        <p:spPr/>
        <p:txBody>
          <a:bodyPr>
            <a:normAutofit/>
          </a:bodyPr>
          <a:lstStyle/>
          <a:p>
            <a:r>
              <a:rPr lang="en-IE" sz="5400" b="1" dirty="0"/>
              <a:t>Four Types of Stereotyping</a:t>
            </a:r>
          </a:p>
        </p:txBody>
      </p:sp>
      <p:sp>
        <p:nvSpPr>
          <p:cNvPr id="3" name="Content Placeholder 2">
            <a:extLst>
              <a:ext uri="{FF2B5EF4-FFF2-40B4-BE49-F238E27FC236}">
                <a16:creationId xmlns:a16="http://schemas.microsoft.com/office/drawing/2014/main" id="{98AC1CB1-8C44-009E-0EFC-2EDCBDF32B31}"/>
              </a:ext>
            </a:extLst>
          </p:cNvPr>
          <p:cNvSpPr>
            <a:spLocks noGrp="1"/>
          </p:cNvSpPr>
          <p:nvPr>
            <p:ph idx="1"/>
          </p:nvPr>
        </p:nvSpPr>
        <p:spPr/>
        <p:txBody>
          <a:bodyPr>
            <a:normAutofit/>
          </a:bodyPr>
          <a:lstStyle/>
          <a:p>
            <a:r>
              <a:rPr lang="en-GB" sz="3600" b="1" dirty="0"/>
              <a:t>2. Cultural or Ethnic Stereotypes:</a:t>
            </a:r>
            <a:r>
              <a:rPr lang="en-GB" sz="3600" dirty="0"/>
              <a:t> Applying clichés or exaggerated traits to people from particular regions or backgrounds.</a:t>
            </a:r>
          </a:p>
          <a:p>
            <a:r>
              <a:rPr lang="en-GB" sz="3600" dirty="0"/>
              <a:t>========================================</a:t>
            </a:r>
          </a:p>
          <a:p>
            <a:r>
              <a:rPr lang="en-GB" sz="3600" dirty="0"/>
              <a:t>Suggesting that all people from a certain country eat one specific food or behave a certain way.</a:t>
            </a:r>
            <a:endParaRPr lang="en-IE" sz="3600" i="1" dirty="0"/>
          </a:p>
        </p:txBody>
      </p:sp>
    </p:spTree>
    <p:extLst>
      <p:ext uri="{BB962C8B-B14F-4D97-AF65-F5344CB8AC3E}">
        <p14:creationId xmlns:p14="http://schemas.microsoft.com/office/powerpoint/2010/main" val="36664387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AC06B-BAD8-47BC-FB66-36E24D6E5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A7A94-830F-9F06-56D0-D2B45F2BA886}"/>
              </a:ext>
            </a:extLst>
          </p:cNvPr>
          <p:cNvSpPr>
            <a:spLocks noGrp="1"/>
          </p:cNvSpPr>
          <p:nvPr>
            <p:ph type="title"/>
          </p:nvPr>
        </p:nvSpPr>
        <p:spPr/>
        <p:txBody>
          <a:bodyPr>
            <a:normAutofit/>
          </a:bodyPr>
          <a:lstStyle/>
          <a:p>
            <a:r>
              <a:rPr lang="en-IE" sz="5400" b="1" dirty="0"/>
              <a:t>Four Types of Stereotyping</a:t>
            </a:r>
          </a:p>
        </p:txBody>
      </p:sp>
      <p:sp>
        <p:nvSpPr>
          <p:cNvPr id="3" name="Content Placeholder 2">
            <a:extLst>
              <a:ext uri="{FF2B5EF4-FFF2-40B4-BE49-F238E27FC236}">
                <a16:creationId xmlns:a16="http://schemas.microsoft.com/office/drawing/2014/main" id="{F13C6B51-69C4-50E5-B63B-7FEA14C854AC}"/>
              </a:ext>
            </a:extLst>
          </p:cNvPr>
          <p:cNvSpPr>
            <a:spLocks noGrp="1"/>
          </p:cNvSpPr>
          <p:nvPr>
            <p:ph idx="1"/>
          </p:nvPr>
        </p:nvSpPr>
        <p:spPr/>
        <p:txBody>
          <a:bodyPr>
            <a:normAutofit/>
          </a:bodyPr>
          <a:lstStyle/>
          <a:p>
            <a:r>
              <a:rPr lang="en-GB" sz="3600" b="1" dirty="0"/>
              <a:t>3. Age-Related Stereotypes:</a:t>
            </a:r>
            <a:r>
              <a:rPr lang="en-GB" sz="3600" dirty="0"/>
              <a:t> Assuming certain abilities or attitudes based on age.</a:t>
            </a:r>
          </a:p>
          <a:p>
            <a:r>
              <a:rPr lang="en-GB" sz="3600" dirty="0"/>
              <a:t>========================================</a:t>
            </a:r>
          </a:p>
          <a:p>
            <a:r>
              <a:rPr lang="en-GB" sz="3600" dirty="0"/>
              <a:t>For example: </a:t>
            </a:r>
          </a:p>
          <a:p>
            <a:r>
              <a:rPr lang="en-GB" sz="3600" dirty="0">
                <a:latin typeface="Courier New" panose="02070309020205020404" pitchFamily="49" charset="0"/>
                <a:cs typeface="Courier New" panose="02070309020205020404" pitchFamily="49" charset="0"/>
              </a:rPr>
              <a:t>“Older people don’t understand technology.”</a:t>
            </a:r>
            <a:endParaRPr lang="en-IE" sz="3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6537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1F5C-0207-2A0D-7A26-5CEF9F689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2E934-299D-5297-DDD0-84CE944BBA33}"/>
              </a:ext>
            </a:extLst>
          </p:cNvPr>
          <p:cNvSpPr>
            <a:spLocks noGrp="1"/>
          </p:cNvSpPr>
          <p:nvPr>
            <p:ph type="title"/>
          </p:nvPr>
        </p:nvSpPr>
        <p:spPr/>
        <p:txBody>
          <a:bodyPr>
            <a:normAutofit/>
          </a:bodyPr>
          <a:lstStyle/>
          <a:p>
            <a:r>
              <a:rPr lang="en-IE" sz="5400" b="1" dirty="0"/>
              <a:t>Four Types of Stereotyping</a:t>
            </a:r>
          </a:p>
        </p:txBody>
      </p:sp>
      <p:sp>
        <p:nvSpPr>
          <p:cNvPr id="3" name="Content Placeholder 2">
            <a:extLst>
              <a:ext uri="{FF2B5EF4-FFF2-40B4-BE49-F238E27FC236}">
                <a16:creationId xmlns:a16="http://schemas.microsoft.com/office/drawing/2014/main" id="{AE202C3E-FFD6-908B-579A-B0CB3C79669F}"/>
              </a:ext>
            </a:extLst>
          </p:cNvPr>
          <p:cNvSpPr>
            <a:spLocks noGrp="1"/>
          </p:cNvSpPr>
          <p:nvPr>
            <p:ph idx="1"/>
          </p:nvPr>
        </p:nvSpPr>
        <p:spPr/>
        <p:txBody>
          <a:bodyPr>
            <a:normAutofit/>
          </a:bodyPr>
          <a:lstStyle/>
          <a:p>
            <a:r>
              <a:rPr lang="en-GB" sz="3600" b="1" dirty="0"/>
              <a:t>4. Physical or Ability-Based Stereotypes: </a:t>
            </a:r>
            <a:r>
              <a:rPr lang="en-GB" sz="3600" dirty="0"/>
              <a:t>Assuming limitations or characteristics based on appearance or disability.</a:t>
            </a:r>
          </a:p>
          <a:p>
            <a:r>
              <a:rPr lang="en-GB" sz="3600" dirty="0"/>
              <a:t>========================================</a:t>
            </a:r>
          </a:p>
          <a:p>
            <a:r>
              <a:rPr lang="en-GB" sz="3600" dirty="0"/>
              <a:t>For example, using language that infantilizes or diminishes people with disabilities.</a:t>
            </a:r>
            <a:endParaRPr lang="en-IE" sz="3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070952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BA21-DBF0-938E-1355-D0AF26F56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14F33-4F78-45B5-5544-C3AF592FB37B}"/>
              </a:ext>
            </a:extLst>
          </p:cNvPr>
          <p:cNvSpPr>
            <a:spLocks noGrp="1"/>
          </p:cNvSpPr>
          <p:nvPr>
            <p:ph type="title"/>
          </p:nvPr>
        </p:nvSpPr>
        <p:spPr/>
        <p:txBody>
          <a:bodyPr>
            <a:normAutofit/>
          </a:bodyPr>
          <a:lstStyle/>
          <a:p>
            <a:r>
              <a:rPr lang="en-IE" sz="5400" b="1" dirty="0"/>
              <a:t>Why AI Models Stereotype</a:t>
            </a:r>
          </a:p>
        </p:txBody>
      </p:sp>
      <p:sp>
        <p:nvSpPr>
          <p:cNvPr id="3" name="Content Placeholder 2">
            <a:extLst>
              <a:ext uri="{FF2B5EF4-FFF2-40B4-BE49-F238E27FC236}">
                <a16:creationId xmlns:a16="http://schemas.microsoft.com/office/drawing/2014/main" id="{1146D81F-F756-45BF-AA17-C4A9AC7ED7DE}"/>
              </a:ext>
            </a:extLst>
          </p:cNvPr>
          <p:cNvSpPr>
            <a:spLocks noGrp="1"/>
          </p:cNvSpPr>
          <p:nvPr>
            <p:ph idx="1"/>
          </p:nvPr>
        </p:nvSpPr>
        <p:spPr/>
        <p:txBody>
          <a:bodyPr>
            <a:normAutofit fontScale="92500" lnSpcReduction="20000"/>
          </a:bodyPr>
          <a:lstStyle/>
          <a:p>
            <a:r>
              <a:rPr lang="en-GB" sz="3600" b="1" dirty="0"/>
              <a:t>Training data bias — </a:t>
            </a:r>
            <a:r>
              <a:rPr lang="en-GB" sz="3600" dirty="0"/>
              <a:t>large corpora scraped from the web reflect societal prejudice.</a:t>
            </a:r>
            <a:r>
              <a:rPr lang="en-GB" sz="3600" b="1" dirty="0"/>
              <a:t> </a:t>
            </a:r>
          </a:p>
          <a:p>
            <a:r>
              <a:rPr lang="en-GB" sz="3600" b="1" dirty="0"/>
              <a:t>Lack of value alignment — </a:t>
            </a:r>
            <a:r>
              <a:rPr lang="en-GB" sz="3600" dirty="0"/>
              <a:t>the model doesn't understand right or wrong. </a:t>
            </a:r>
          </a:p>
          <a:p>
            <a:r>
              <a:rPr lang="en-GB" sz="3600" b="1" dirty="0"/>
              <a:t>Pattern matching — </a:t>
            </a:r>
            <a:r>
              <a:rPr lang="en-GB" sz="3600" dirty="0"/>
              <a:t>the model completes prompts based on common associations.</a:t>
            </a:r>
            <a:r>
              <a:rPr lang="en-GB" sz="3600" b="1" dirty="0"/>
              <a:t> </a:t>
            </a:r>
          </a:p>
          <a:p>
            <a:r>
              <a:rPr lang="en-GB" sz="3600" b="1" dirty="0"/>
              <a:t>Popularity bias — </a:t>
            </a:r>
            <a:r>
              <a:rPr lang="en-GB" sz="3600" dirty="0"/>
              <a:t>if certain associations are more common online, the model overrepresents them. </a:t>
            </a:r>
          </a:p>
          <a:p>
            <a:r>
              <a:rPr lang="en-GB" sz="3600" b="1" dirty="0"/>
              <a:t>Poor prompt design — </a:t>
            </a:r>
            <a:r>
              <a:rPr lang="en-GB" sz="3600" dirty="0"/>
              <a:t>vague or unguarded prompts can lead to unintended outputs.</a:t>
            </a:r>
            <a:endParaRPr lang="en-IE" sz="3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685395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39FE-4DC7-3992-7281-21AAABAD2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2FC0F-D799-1735-1D1F-35C85A4D73D0}"/>
              </a:ext>
            </a:extLst>
          </p:cNvPr>
          <p:cNvSpPr>
            <a:spLocks noGrp="1"/>
          </p:cNvSpPr>
          <p:nvPr>
            <p:ph type="title"/>
          </p:nvPr>
        </p:nvSpPr>
        <p:spPr/>
        <p:txBody>
          <a:bodyPr>
            <a:normAutofit/>
          </a:bodyPr>
          <a:lstStyle/>
          <a:p>
            <a:r>
              <a:rPr lang="en-IE" sz="5400" b="1" dirty="0"/>
              <a:t>How to Reduce Stereotyping</a:t>
            </a:r>
          </a:p>
        </p:txBody>
      </p:sp>
      <p:sp>
        <p:nvSpPr>
          <p:cNvPr id="3" name="Content Placeholder 2">
            <a:extLst>
              <a:ext uri="{FF2B5EF4-FFF2-40B4-BE49-F238E27FC236}">
                <a16:creationId xmlns:a16="http://schemas.microsoft.com/office/drawing/2014/main" id="{57087E20-D71A-1A1C-6AA2-027E024B385D}"/>
              </a:ext>
            </a:extLst>
          </p:cNvPr>
          <p:cNvSpPr>
            <a:spLocks noGrp="1"/>
          </p:cNvSpPr>
          <p:nvPr>
            <p:ph idx="1"/>
          </p:nvPr>
        </p:nvSpPr>
        <p:spPr/>
        <p:txBody>
          <a:bodyPr>
            <a:normAutofit fontScale="92500" lnSpcReduction="20000"/>
          </a:bodyPr>
          <a:lstStyle/>
          <a:p>
            <a:r>
              <a:rPr lang="en-GB" sz="3600" b="1" dirty="0"/>
              <a:t>Reinforcement Learning from Human Feedback (RLHF): </a:t>
            </a:r>
            <a:r>
              <a:rPr lang="en-GB" sz="3600" dirty="0"/>
              <a:t>Human raters can penalize biased responses during training iterations. </a:t>
            </a:r>
          </a:p>
          <a:p>
            <a:r>
              <a:rPr lang="en-GB" sz="3600" b="1" dirty="0"/>
              <a:t>Better prompt engineering:</a:t>
            </a:r>
            <a:r>
              <a:rPr lang="en-GB" sz="3600" dirty="0"/>
              <a:t> Design prompts that discourage biased completions (e.g., include diverse roles/examples). </a:t>
            </a:r>
          </a:p>
          <a:p>
            <a:r>
              <a:rPr lang="en-GB" sz="3600" b="1" dirty="0"/>
              <a:t>Diversity in training data sources:</a:t>
            </a:r>
            <a:r>
              <a:rPr lang="en-GB" sz="3600" dirty="0"/>
              <a:t> Balance across cultures, genders, ages, professions, and viewpoints.</a:t>
            </a:r>
            <a:r>
              <a:rPr lang="en-GB" sz="3600" b="1" dirty="0"/>
              <a:t> </a:t>
            </a:r>
          </a:p>
          <a:p>
            <a:r>
              <a:rPr lang="en-GB" sz="3600" b="1" dirty="0"/>
              <a:t>Transparency &amp; user control:</a:t>
            </a:r>
            <a:r>
              <a:rPr lang="en-GB" sz="3600" dirty="0"/>
              <a:t> Let users flag stereotyped responses and give feedback.</a:t>
            </a:r>
            <a:endParaRPr lang="en-IE" sz="36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762486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0D7148-70F8-5ACE-D4C0-0E281070D08C}"/>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568CA4-E823-40F6-4AF5-9EB373B2AB88}"/>
              </a:ext>
            </a:extLst>
          </p:cNvPr>
          <p:cNvSpPr>
            <a:spLocks noGrp="1"/>
          </p:cNvSpPr>
          <p:nvPr>
            <p:ph type="ctrTitle"/>
          </p:nvPr>
        </p:nvSpPr>
        <p:spPr>
          <a:xfrm>
            <a:off x="4162567" y="818984"/>
            <a:ext cx="6714699" cy="3178689"/>
          </a:xfrm>
        </p:spPr>
        <p:txBody>
          <a:bodyPr>
            <a:normAutofit/>
          </a:bodyPr>
          <a:lstStyle/>
          <a:p>
            <a:pPr algn="l"/>
            <a:r>
              <a:rPr lang="en-GB" sz="5400" b="1" dirty="0">
                <a:solidFill>
                  <a:srgbClr val="FFFFFF"/>
                </a:solidFill>
              </a:rPr>
              <a:t>Hallucinations</a:t>
            </a:r>
            <a:endParaRPr lang="en-IE" sz="5400" b="1" dirty="0">
              <a:solidFill>
                <a:srgbClr val="FFFFFF"/>
              </a:solidFill>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051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580A8-02AF-719D-C05F-507651764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C4395-0944-F188-9502-80F7ED4FA7E1}"/>
              </a:ext>
            </a:extLst>
          </p:cNvPr>
          <p:cNvSpPr>
            <a:spLocks noGrp="1"/>
          </p:cNvSpPr>
          <p:nvPr>
            <p:ph type="title"/>
          </p:nvPr>
        </p:nvSpPr>
        <p:spPr/>
        <p:txBody>
          <a:bodyPr>
            <a:normAutofit/>
          </a:bodyPr>
          <a:lstStyle/>
          <a:p>
            <a:r>
              <a:rPr lang="en-IE" sz="5400" b="1" dirty="0"/>
              <a:t>Hallucinations</a:t>
            </a:r>
          </a:p>
        </p:txBody>
      </p:sp>
      <p:sp>
        <p:nvSpPr>
          <p:cNvPr id="3" name="Content Placeholder 2">
            <a:extLst>
              <a:ext uri="{FF2B5EF4-FFF2-40B4-BE49-F238E27FC236}">
                <a16:creationId xmlns:a16="http://schemas.microsoft.com/office/drawing/2014/main" id="{2C9A8A4C-19A7-C9A9-9FF0-6253255C3141}"/>
              </a:ext>
            </a:extLst>
          </p:cNvPr>
          <p:cNvSpPr>
            <a:spLocks noGrp="1"/>
          </p:cNvSpPr>
          <p:nvPr>
            <p:ph idx="1"/>
          </p:nvPr>
        </p:nvSpPr>
        <p:spPr/>
        <p:txBody>
          <a:bodyPr>
            <a:normAutofit/>
          </a:bodyPr>
          <a:lstStyle/>
          <a:p>
            <a:r>
              <a:rPr lang="en-GB" sz="3600" b="1" dirty="0"/>
              <a:t>Definition: </a:t>
            </a:r>
            <a:r>
              <a:rPr lang="en-GB" sz="3600" dirty="0"/>
              <a:t>A hallucination in GenAI is when the model generates content that is factually incorrect, unverifiable, or completely made up, despite sounding plausible and confident. These hallucinations can affect text, code, citations, or even images generated by AI models.</a:t>
            </a:r>
            <a:endParaRPr lang="en-IE" sz="3600" dirty="0"/>
          </a:p>
        </p:txBody>
      </p:sp>
    </p:spTree>
    <p:extLst>
      <p:ext uri="{BB962C8B-B14F-4D97-AF65-F5344CB8AC3E}">
        <p14:creationId xmlns:p14="http://schemas.microsoft.com/office/powerpoint/2010/main" val="5530844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170" name="Picture 2" descr="What are AI Hallucinations?">
            <a:extLst>
              <a:ext uri="{FF2B5EF4-FFF2-40B4-BE49-F238E27FC236}">
                <a16:creationId xmlns:a16="http://schemas.microsoft.com/office/drawing/2014/main" id="{D626D192-79FB-4CCB-65DA-A57AF255D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427" r="668" b="1"/>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986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B4DE-14B4-0024-4C0F-F38610987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5386D-99BD-084C-4381-25AC52DFE92E}"/>
              </a:ext>
            </a:extLst>
          </p:cNvPr>
          <p:cNvSpPr>
            <a:spLocks noGrp="1"/>
          </p:cNvSpPr>
          <p:nvPr>
            <p:ph type="title"/>
          </p:nvPr>
        </p:nvSpPr>
        <p:spPr/>
        <p:txBody>
          <a:bodyPr>
            <a:normAutofit/>
          </a:bodyPr>
          <a:lstStyle/>
          <a:p>
            <a:r>
              <a:rPr lang="en-IE" sz="5400" b="1" dirty="0"/>
              <a:t>Four Types of Hallucinations</a:t>
            </a:r>
          </a:p>
        </p:txBody>
      </p:sp>
      <p:sp>
        <p:nvSpPr>
          <p:cNvPr id="3" name="Content Placeholder 2">
            <a:extLst>
              <a:ext uri="{FF2B5EF4-FFF2-40B4-BE49-F238E27FC236}">
                <a16:creationId xmlns:a16="http://schemas.microsoft.com/office/drawing/2014/main" id="{8C743AF6-2C3E-FB0A-4E6D-8197071B621F}"/>
              </a:ext>
            </a:extLst>
          </p:cNvPr>
          <p:cNvSpPr>
            <a:spLocks noGrp="1"/>
          </p:cNvSpPr>
          <p:nvPr>
            <p:ph idx="1"/>
          </p:nvPr>
        </p:nvSpPr>
        <p:spPr/>
        <p:txBody>
          <a:bodyPr>
            <a:normAutofit lnSpcReduction="10000"/>
          </a:bodyPr>
          <a:lstStyle/>
          <a:p>
            <a:r>
              <a:rPr lang="en-GB" sz="3600" b="1" dirty="0"/>
              <a:t>1. Factual Hallucinations</a:t>
            </a:r>
            <a:r>
              <a:rPr lang="en-GB" sz="3600" dirty="0"/>
              <a:t>: The model presents false information as fact. </a:t>
            </a:r>
            <a:r>
              <a:rPr lang="en-GB" sz="3600" b="1" i="1" u="sng" dirty="0">
                <a:solidFill>
                  <a:srgbClr val="FF0000"/>
                </a:solidFill>
              </a:rPr>
              <a:t>It might be that the data is out of date</a:t>
            </a:r>
            <a:r>
              <a:rPr lang="en-GB" sz="3600" dirty="0"/>
              <a:t>.</a:t>
            </a:r>
          </a:p>
          <a:p>
            <a:r>
              <a:rPr lang="en-GB" sz="3600" dirty="0"/>
              <a:t>=======================================</a:t>
            </a:r>
          </a:p>
          <a:p>
            <a:r>
              <a:rPr lang="en-GB" sz="3600" dirty="0"/>
              <a:t>For example:</a:t>
            </a:r>
          </a:p>
          <a:p>
            <a:r>
              <a:rPr lang="en-GB" sz="3600" dirty="0">
                <a:latin typeface="Courier New" panose="02070309020205020404" pitchFamily="49" charset="0"/>
                <a:cs typeface="Courier New" panose="02070309020205020404" pitchFamily="49" charset="0"/>
              </a:rPr>
              <a:t>“The Eiffel Tower is located in Berlin.” </a:t>
            </a:r>
          </a:p>
          <a:p>
            <a:r>
              <a:rPr lang="en-GB" sz="3600" b="1" i="1" dirty="0"/>
              <a:t>Confident but incorrect.</a:t>
            </a:r>
            <a:endParaRPr lang="en-IE" sz="3600" b="1" i="1" dirty="0"/>
          </a:p>
        </p:txBody>
      </p:sp>
    </p:spTree>
    <p:extLst>
      <p:ext uri="{BB962C8B-B14F-4D97-AF65-F5344CB8AC3E}">
        <p14:creationId xmlns:p14="http://schemas.microsoft.com/office/powerpoint/2010/main" val="40581118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C134B-0D8F-93BF-896B-24C6DCED7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A25A5-F0C5-6F73-9934-320AFFB25D67}"/>
              </a:ext>
            </a:extLst>
          </p:cNvPr>
          <p:cNvSpPr>
            <a:spLocks noGrp="1"/>
          </p:cNvSpPr>
          <p:nvPr>
            <p:ph type="title"/>
          </p:nvPr>
        </p:nvSpPr>
        <p:spPr/>
        <p:txBody>
          <a:bodyPr>
            <a:normAutofit/>
          </a:bodyPr>
          <a:lstStyle/>
          <a:p>
            <a:r>
              <a:rPr lang="en-IE" sz="5400" b="1" dirty="0"/>
              <a:t>Four Types of Hallucinations</a:t>
            </a:r>
          </a:p>
        </p:txBody>
      </p:sp>
      <p:sp>
        <p:nvSpPr>
          <p:cNvPr id="3" name="Content Placeholder 2">
            <a:extLst>
              <a:ext uri="{FF2B5EF4-FFF2-40B4-BE49-F238E27FC236}">
                <a16:creationId xmlns:a16="http://schemas.microsoft.com/office/drawing/2014/main" id="{E4D88819-72DA-6F6D-3FC5-97674F93CCF4}"/>
              </a:ext>
            </a:extLst>
          </p:cNvPr>
          <p:cNvSpPr>
            <a:spLocks noGrp="1"/>
          </p:cNvSpPr>
          <p:nvPr>
            <p:ph idx="1"/>
          </p:nvPr>
        </p:nvSpPr>
        <p:spPr/>
        <p:txBody>
          <a:bodyPr>
            <a:normAutofit lnSpcReduction="10000"/>
          </a:bodyPr>
          <a:lstStyle/>
          <a:p>
            <a:r>
              <a:rPr lang="en-GB" sz="3600" b="1" dirty="0"/>
              <a:t>2. Fabricated Citations or Sources</a:t>
            </a:r>
            <a:r>
              <a:rPr lang="en-GB" sz="3600" dirty="0"/>
              <a:t>: Especially in academic or legal contexts, models may invent references. </a:t>
            </a:r>
          </a:p>
          <a:p>
            <a:r>
              <a:rPr lang="en-GB" sz="3600" dirty="0"/>
              <a:t>=======================================</a:t>
            </a:r>
          </a:p>
          <a:p>
            <a:r>
              <a:rPr lang="en-GB" sz="3600" dirty="0"/>
              <a:t>For example:</a:t>
            </a:r>
          </a:p>
          <a:p>
            <a:r>
              <a:rPr lang="en-GB" sz="3600" dirty="0">
                <a:latin typeface="Courier New" panose="02070309020205020404" pitchFamily="49" charset="0"/>
                <a:cs typeface="Courier New" panose="02070309020205020404" pitchFamily="49" charset="0"/>
              </a:rPr>
              <a:t>“As shown in Smith et al., 2019, Journal of Cognitive Theory…” </a:t>
            </a:r>
          </a:p>
          <a:p>
            <a:r>
              <a:rPr lang="en-GB" sz="3600" b="1" i="1" dirty="0"/>
              <a:t>The paper doesn’t exist.</a:t>
            </a:r>
            <a:endParaRPr lang="en-IE" sz="3600" b="1" i="1" dirty="0"/>
          </a:p>
        </p:txBody>
      </p:sp>
    </p:spTree>
    <p:extLst>
      <p:ext uri="{BB962C8B-B14F-4D97-AF65-F5344CB8AC3E}">
        <p14:creationId xmlns:p14="http://schemas.microsoft.com/office/powerpoint/2010/main" val="36334667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8F340-3D4C-A69B-4691-73AD0FA95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4089A-F241-82CE-3BDD-B56DCF922923}"/>
              </a:ext>
            </a:extLst>
          </p:cNvPr>
          <p:cNvSpPr>
            <a:spLocks noGrp="1"/>
          </p:cNvSpPr>
          <p:nvPr>
            <p:ph type="title"/>
          </p:nvPr>
        </p:nvSpPr>
        <p:spPr/>
        <p:txBody>
          <a:bodyPr>
            <a:normAutofit/>
          </a:bodyPr>
          <a:lstStyle/>
          <a:p>
            <a:r>
              <a:rPr lang="en-IE" sz="5400" b="1" dirty="0"/>
              <a:t>Four Types of Hallucinations</a:t>
            </a:r>
          </a:p>
        </p:txBody>
      </p:sp>
      <p:sp>
        <p:nvSpPr>
          <p:cNvPr id="3" name="Content Placeholder 2">
            <a:extLst>
              <a:ext uri="{FF2B5EF4-FFF2-40B4-BE49-F238E27FC236}">
                <a16:creationId xmlns:a16="http://schemas.microsoft.com/office/drawing/2014/main" id="{9BD1DE3B-FD74-F306-34DE-05441B07D44C}"/>
              </a:ext>
            </a:extLst>
          </p:cNvPr>
          <p:cNvSpPr>
            <a:spLocks noGrp="1"/>
          </p:cNvSpPr>
          <p:nvPr>
            <p:ph idx="1"/>
          </p:nvPr>
        </p:nvSpPr>
        <p:spPr/>
        <p:txBody>
          <a:bodyPr>
            <a:normAutofit lnSpcReduction="10000"/>
          </a:bodyPr>
          <a:lstStyle/>
          <a:p>
            <a:r>
              <a:rPr lang="en-GB" sz="3600" b="1" dirty="0"/>
              <a:t>3. Inferred Details Not in Source Material - </a:t>
            </a:r>
            <a:r>
              <a:rPr lang="en-GB" sz="3600" dirty="0"/>
              <a:t>in summarization or question answering. The model inserts information that wasn’t actually in the input. </a:t>
            </a:r>
          </a:p>
          <a:p>
            <a:r>
              <a:rPr lang="en-GB" sz="3600" dirty="0"/>
              <a:t>=======================================</a:t>
            </a:r>
          </a:p>
          <a:p>
            <a:r>
              <a:rPr lang="en-GB" sz="3600" dirty="0"/>
              <a:t>For example:</a:t>
            </a:r>
          </a:p>
          <a:p>
            <a:r>
              <a:rPr lang="en-GB" sz="3600" b="1" i="1" dirty="0"/>
              <a:t>Summarizing an article and adding conclusions or claims not present in the original.</a:t>
            </a:r>
            <a:endParaRPr lang="en-IE" sz="3600" b="1" i="1" dirty="0"/>
          </a:p>
        </p:txBody>
      </p:sp>
    </p:spTree>
    <p:extLst>
      <p:ext uri="{BB962C8B-B14F-4D97-AF65-F5344CB8AC3E}">
        <p14:creationId xmlns:p14="http://schemas.microsoft.com/office/powerpoint/2010/main" val="23562683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19CFB-E275-293F-5425-BC3483497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1D6E1-A8E0-F589-C0A8-01DCC801FA7C}"/>
              </a:ext>
            </a:extLst>
          </p:cNvPr>
          <p:cNvSpPr>
            <a:spLocks noGrp="1"/>
          </p:cNvSpPr>
          <p:nvPr>
            <p:ph type="title"/>
          </p:nvPr>
        </p:nvSpPr>
        <p:spPr/>
        <p:txBody>
          <a:bodyPr>
            <a:normAutofit/>
          </a:bodyPr>
          <a:lstStyle/>
          <a:p>
            <a:r>
              <a:rPr lang="en-IE" sz="5400" b="1" dirty="0"/>
              <a:t>Four Types of Hallucinations</a:t>
            </a:r>
          </a:p>
        </p:txBody>
      </p:sp>
      <p:sp>
        <p:nvSpPr>
          <p:cNvPr id="3" name="Content Placeholder 2">
            <a:extLst>
              <a:ext uri="{FF2B5EF4-FFF2-40B4-BE49-F238E27FC236}">
                <a16:creationId xmlns:a16="http://schemas.microsoft.com/office/drawing/2014/main" id="{C87C4355-7672-EB11-CA54-E0E0DC2F6BF7}"/>
              </a:ext>
            </a:extLst>
          </p:cNvPr>
          <p:cNvSpPr>
            <a:spLocks noGrp="1"/>
          </p:cNvSpPr>
          <p:nvPr>
            <p:ph idx="1"/>
          </p:nvPr>
        </p:nvSpPr>
        <p:spPr/>
        <p:txBody>
          <a:bodyPr>
            <a:normAutofit/>
          </a:bodyPr>
          <a:lstStyle/>
          <a:p>
            <a:r>
              <a:rPr lang="en-GB" sz="3600" b="1" dirty="0"/>
              <a:t>4. Visual Hallucinations (in image generation): </a:t>
            </a:r>
            <a:r>
              <a:rPr lang="en-GB" sz="3600" dirty="0"/>
              <a:t>AI image models may add extra fingers, or surreal elements that weren’t asked for.</a:t>
            </a:r>
          </a:p>
          <a:p>
            <a:r>
              <a:rPr lang="en-GB" sz="3600" dirty="0"/>
              <a:t>=======================================</a:t>
            </a:r>
          </a:p>
          <a:p>
            <a:r>
              <a:rPr lang="en-GB" sz="3600" dirty="0"/>
              <a:t>For example:</a:t>
            </a:r>
          </a:p>
          <a:p>
            <a:r>
              <a:rPr lang="en-GB" sz="3600" b="1" i="1" dirty="0"/>
              <a:t>Summarizing an article and adding conclusions or claims not present in the original.</a:t>
            </a:r>
            <a:endParaRPr lang="en-IE" sz="3600" b="1" i="1" dirty="0"/>
          </a:p>
        </p:txBody>
      </p:sp>
    </p:spTree>
    <p:extLst>
      <p:ext uri="{BB962C8B-B14F-4D97-AF65-F5344CB8AC3E}">
        <p14:creationId xmlns:p14="http://schemas.microsoft.com/office/powerpoint/2010/main" val="21874337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633BD-2266-610F-4FA1-FF8EE4D71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B90C6-7855-EE1C-5648-E06B3FCB309A}"/>
              </a:ext>
            </a:extLst>
          </p:cNvPr>
          <p:cNvSpPr>
            <a:spLocks noGrp="1"/>
          </p:cNvSpPr>
          <p:nvPr>
            <p:ph type="title"/>
          </p:nvPr>
        </p:nvSpPr>
        <p:spPr/>
        <p:txBody>
          <a:bodyPr>
            <a:normAutofit/>
          </a:bodyPr>
          <a:lstStyle/>
          <a:p>
            <a:r>
              <a:rPr lang="en-IE" sz="5400" b="1" dirty="0"/>
              <a:t>Why AI Models Hallucinate</a:t>
            </a:r>
          </a:p>
        </p:txBody>
      </p:sp>
      <p:sp>
        <p:nvSpPr>
          <p:cNvPr id="3" name="Content Placeholder 2">
            <a:extLst>
              <a:ext uri="{FF2B5EF4-FFF2-40B4-BE49-F238E27FC236}">
                <a16:creationId xmlns:a16="http://schemas.microsoft.com/office/drawing/2014/main" id="{1DB807C5-A7FE-3D93-2A06-E2EAA6358F23}"/>
              </a:ext>
            </a:extLst>
          </p:cNvPr>
          <p:cNvSpPr>
            <a:spLocks noGrp="1"/>
          </p:cNvSpPr>
          <p:nvPr>
            <p:ph idx="1"/>
          </p:nvPr>
        </p:nvSpPr>
        <p:spPr/>
        <p:txBody>
          <a:bodyPr>
            <a:normAutofit fontScale="92500" lnSpcReduction="20000"/>
          </a:bodyPr>
          <a:lstStyle/>
          <a:p>
            <a:r>
              <a:rPr lang="en-GB" sz="3600" b="1" dirty="0"/>
              <a:t>No grounding in external truth:</a:t>
            </a:r>
            <a:r>
              <a:rPr lang="en-GB" sz="3600" dirty="0"/>
              <a:t> LLMs don’t "know" facts — they predict likely word sequences based on training data</a:t>
            </a:r>
            <a:r>
              <a:rPr lang="en-GB" sz="3600" b="1" dirty="0"/>
              <a:t>. </a:t>
            </a:r>
          </a:p>
          <a:p>
            <a:r>
              <a:rPr lang="en-GB" sz="3600" b="1" dirty="0"/>
              <a:t>Lack of real-time verification: </a:t>
            </a:r>
            <a:r>
              <a:rPr lang="en-GB" sz="3600" dirty="0"/>
              <a:t>They don't check if what they say is supported by evidence or accurate. </a:t>
            </a:r>
          </a:p>
          <a:p>
            <a:r>
              <a:rPr lang="en-GB" sz="3600" b="1" dirty="0"/>
              <a:t>Training data errors:</a:t>
            </a:r>
            <a:r>
              <a:rPr lang="en-GB" sz="3600" dirty="0"/>
              <a:t> If misinformation exists in the training set, it may be reinforced. </a:t>
            </a:r>
          </a:p>
          <a:p>
            <a:r>
              <a:rPr lang="en-GB" sz="3600" b="1" dirty="0"/>
              <a:t>Overconfidence in fluency:</a:t>
            </a:r>
            <a:r>
              <a:rPr lang="en-GB" sz="3600" dirty="0"/>
              <a:t> Because the outputs sound authoritative, users assume they’re correct — even when they’re not. </a:t>
            </a:r>
            <a:endParaRPr lang="en-IE" sz="3600" i="1" dirty="0"/>
          </a:p>
        </p:txBody>
      </p:sp>
    </p:spTree>
    <p:extLst>
      <p:ext uri="{BB962C8B-B14F-4D97-AF65-F5344CB8AC3E}">
        <p14:creationId xmlns:p14="http://schemas.microsoft.com/office/powerpoint/2010/main" val="990096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34076-B70F-7EFA-A010-C149A9138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FA4A9-E86C-AA0D-05FE-2F0C8ED7C391}"/>
              </a:ext>
            </a:extLst>
          </p:cNvPr>
          <p:cNvSpPr>
            <a:spLocks noGrp="1"/>
          </p:cNvSpPr>
          <p:nvPr>
            <p:ph type="title"/>
          </p:nvPr>
        </p:nvSpPr>
        <p:spPr/>
        <p:txBody>
          <a:bodyPr>
            <a:normAutofit/>
          </a:bodyPr>
          <a:lstStyle/>
          <a:p>
            <a:r>
              <a:rPr lang="en-IE" sz="5400" b="1" dirty="0"/>
              <a:t>How to Reduce Hallucinations</a:t>
            </a:r>
          </a:p>
        </p:txBody>
      </p:sp>
      <p:sp>
        <p:nvSpPr>
          <p:cNvPr id="3" name="Content Placeholder 2">
            <a:extLst>
              <a:ext uri="{FF2B5EF4-FFF2-40B4-BE49-F238E27FC236}">
                <a16:creationId xmlns:a16="http://schemas.microsoft.com/office/drawing/2014/main" id="{C2DECDB2-AFEE-E3EB-6C5D-69127AC14173}"/>
              </a:ext>
            </a:extLst>
          </p:cNvPr>
          <p:cNvSpPr>
            <a:spLocks noGrp="1"/>
          </p:cNvSpPr>
          <p:nvPr>
            <p:ph idx="1"/>
          </p:nvPr>
        </p:nvSpPr>
        <p:spPr/>
        <p:txBody>
          <a:bodyPr>
            <a:normAutofit fontScale="92500" lnSpcReduction="20000"/>
          </a:bodyPr>
          <a:lstStyle/>
          <a:p>
            <a:r>
              <a:rPr lang="en-GB" sz="3600" b="1" dirty="0"/>
              <a:t>Grounding the model: </a:t>
            </a:r>
            <a:r>
              <a:rPr lang="en-GB" sz="3600" dirty="0"/>
              <a:t>Connect it to a retrieval system, search engine, or verified database (e.g., RAG = Retrieval-Augmented Generation). </a:t>
            </a:r>
          </a:p>
          <a:p>
            <a:r>
              <a:rPr lang="en-GB" sz="3600" b="1" dirty="0"/>
              <a:t>Fact-checking layers</a:t>
            </a:r>
            <a:r>
              <a:rPr lang="en-GB" sz="3600" dirty="0"/>
              <a:t>: Add tools or logic to verify claims post-generation. </a:t>
            </a:r>
          </a:p>
          <a:p>
            <a:r>
              <a:rPr lang="en-GB" sz="3600" b="1" dirty="0"/>
              <a:t>Explicit prompting:</a:t>
            </a:r>
            <a:r>
              <a:rPr lang="en-GB" sz="3600" dirty="0"/>
              <a:t> Use clearer prompts with specific instructions: </a:t>
            </a:r>
            <a:r>
              <a:rPr lang="en-GB" sz="3600" dirty="0">
                <a:latin typeface="Courier New" panose="02070309020205020404" pitchFamily="49" charset="0"/>
                <a:cs typeface="Courier New" panose="02070309020205020404" pitchFamily="49" charset="0"/>
              </a:rPr>
              <a:t>“Only use verifiable facts. If unsure, say so.”</a:t>
            </a:r>
            <a:r>
              <a:rPr lang="en-GB" sz="3600" dirty="0"/>
              <a:t> </a:t>
            </a:r>
          </a:p>
          <a:p>
            <a:r>
              <a:rPr lang="en-GB" sz="3600" b="1" dirty="0"/>
              <a:t>Human-in-the-loop systems: </a:t>
            </a:r>
            <a:r>
              <a:rPr lang="en-GB" sz="3600" dirty="0"/>
              <a:t>Combine AI output with human review in sensitive applications.</a:t>
            </a:r>
            <a:endParaRPr lang="en-IE" sz="3600" i="1" dirty="0"/>
          </a:p>
        </p:txBody>
      </p:sp>
    </p:spTree>
    <p:extLst>
      <p:ext uri="{BB962C8B-B14F-4D97-AF65-F5344CB8AC3E}">
        <p14:creationId xmlns:p14="http://schemas.microsoft.com/office/powerpoint/2010/main" val="656629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CD5B63-8144-96FB-FA20-56DAF313748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6E6ECA-16F7-82DE-3606-8FDD11B7DC6B}"/>
              </a:ext>
            </a:extLst>
          </p:cNvPr>
          <p:cNvSpPr>
            <a:spLocks noGrp="1"/>
          </p:cNvSpPr>
          <p:nvPr>
            <p:ph type="ctrTitle"/>
          </p:nvPr>
        </p:nvSpPr>
        <p:spPr>
          <a:xfrm>
            <a:off x="4162567" y="818984"/>
            <a:ext cx="6714699" cy="3178689"/>
          </a:xfrm>
        </p:spPr>
        <p:txBody>
          <a:bodyPr>
            <a:normAutofit/>
          </a:bodyPr>
          <a:lstStyle/>
          <a:p>
            <a:pPr algn="l"/>
            <a:r>
              <a:rPr lang="en-GB" sz="7200" b="1" dirty="0">
                <a:solidFill>
                  <a:srgbClr val="FFFFFF"/>
                </a:solidFill>
              </a:rPr>
              <a:t>Bias</a:t>
            </a:r>
            <a:endParaRPr lang="en-IE" sz="7200" b="1" dirty="0">
              <a:solidFill>
                <a:srgbClr val="FFFFFF"/>
              </a:solidFill>
            </a:endParaRPr>
          </a:p>
        </p:txBody>
      </p:sp>
      <p:sp>
        <p:nvSpPr>
          <p:cNvPr id="4" name="Rectangle 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088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5F8E-D9E9-F292-CD2D-D92C4B64A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119ED-BD04-A3DB-0A83-F04F357AAAF3}"/>
              </a:ext>
            </a:extLst>
          </p:cNvPr>
          <p:cNvSpPr>
            <a:spLocks noGrp="1"/>
          </p:cNvSpPr>
          <p:nvPr>
            <p:ph type="title"/>
          </p:nvPr>
        </p:nvSpPr>
        <p:spPr/>
        <p:txBody>
          <a:bodyPr>
            <a:normAutofit/>
          </a:bodyPr>
          <a:lstStyle/>
          <a:p>
            <a:r>
              <a:rPr lang="en-IE" sz="5400" b="1" dirty="0"/>
              <a:t>Bias</a:t>
            </a:r>
          </a:p>
        </p:txBody>
      </p:sp>
      <p:sp>
        <p:nvSpPr>
          <p:cNvPr id="3" name="Content Placeholder 2">
            <a:extLst>
              <a:ext uri="{FF2B5EF4-FFF2-40B4-BE49-F238E27FC236}">
                <a16:creationId xmlns:a16="http://schemas.microsoft.com/office/drawing/2014/main" id="{7F567004-C525-295C-5983-A7055B63674B}"/>
              </a:ext>
            </a:extLst>
          </p:cNvPr>
          <p:cNvSpPr>
            <a:spLocks noGrp="1"/>
          </p:cNvSpPr>
          <p:nvPr>
            <p:ph idx="1"/>
          </p:nvPr>
        </p:nvSpPr>
        <p:spPr/>
        <p:txBody>
          <a:bodyPr>
            <a:normAutofit/>
          </a:bodyPr>
          <a:lstStyle/>
          <a:p>
            <a:r>
              <a:rPr lang="en-GB" sz="3600" b="1" dirty="0"/>
              <a:t>Definition:</a:t>
            </a:r>
            <a:r>
              <a:rPr lang="en-GB" sz="3600" dirty="0"/>
              <a:t> Bias in GenAI refers to systematic and unfair preferences or prejudices reflected in the AI’s responses. These biases often mirror and amplify the inequities, stereotypes, or skewed patterns found in the training data the model learned from.</a:t>
            </a:r>
            <a:endParaRPr lang="en-IE" sz="3600" dirty="0"/>
          </a:p>
        </p:txBody>
      </p:sp>
      <p:pic>
        <p:nvPicPr>
          <p:cNvPr id="8194" name="Picture 2" descr="3,900+ Bias Stock Photos, Pictures &amp; Royalty-Free Images - iStock |  Prejudice, Bias concept, Racism">
            <a:extLst>
              <a:ext uri="{FF2B5EF4-FFF2-40B4-BE49-F238E27FC236}">
                <a16:creationId xmlns:a16="http://schemas.microsoft.com/office/drawing/2014/main" id="{C81FB639-B35E-2DDD-8DE3-A58903E68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856" y="4592143"/>
            <a:ext cx="2830287" cy="1900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130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36F4E-8727-717D-5AD6-D6B66B48D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B19DF-D4F9-627F-183D-A435F7E1C1FF}"/>
              </a:ext>
            </a:extLst>
          </p:cNvPr>
          <p:cNvSpPr>
            <a:spLocks noGrp="1"/>
          </p:cNvSpPr>
          <p:nvPr>
            <p:ph type="title"/>
          </p:nvPr>
        </p:nvSpPr>
        <p:spPr/>
        <p:txBody>
          <a:bodyPr>
            <a:normAutofit/>
          </a:bodyPr>
          <a:lstStyle/>
          <a:p>
            <a:r>
              <a:rPr lang="en-IE" sz="5400" b="1" dirty="0"/>
              <a:t>Four Types of Bias</a:t>
            </a:r>
          </a:p>
        </p:txBody>
      </p:sp>
      <p:sp>
        <p:nvSpPr>
          <p:cNvPr id="3" name="Content Placeholder 2">
            <a:extLst>
              <a:ext uri="{FF2B5EF4-FFF2-40B4-BE49-F238E27FC236}">
                <a16:creationId xmlns:a16="http://schemas.microsoft.com/office/drawing/2014/main" id="{B5BF0C80-8A35-B610-3E8C-D596D99A11F7}"/>
              </a:ext>
            </a:extLst>
          </p:cNvPr>
          <p:cNvSpPr>
            <a:spLocks noGrp="1"/>
          </p:cNvSpPr>
          <p:nvPr>
            <p:ph idx="1"/>
          </p:nvPr>
        </p:nvSpPr>
        <p:spPr/>
        <p:txBody>
          <a:bodyPr>
            <a:normAutofit/>
          </a:bodyPr>
          <a:lstStyle/>
          <a:p>
            <a:r>
              <a:rPr lang="en-GB" sz="3600" b="1" dirty="0"/>
              <a:t>1. Political Bias</a:t>
            </a:r>
            <a:r>
              <a:rPr lang="en-GB" sz="3600" dirty="0"/>
              <a:t>: Favouring one ideology, party, or point of view over another. </a:t>
            </a:r>
          </a:p>
          <a:p>
            <a:r>
              <a:rPr lang="en-GB" sz="3600" dirty="0"/>
              <a:t>====================================</a:t>
            </a:r>
          </a:p>
          <a:p>
            <a:r>
              <a:rPr lang="en-GB" sz="3600" dirty="0"/>
              <a:t>For example: </a:t>
            </a:r>
          </a:p>
          <a:p>
            <a:r>
              <a:rPr lang="en-GB" sz="3600" dirty="0"/>
              <a:t>Offering unbalanced perspectives on contentious topics like immigration or climate change.</a:t>
            </a:r>
            <a:endParaRPr lang="en-IE" sz="3600" dirty="0"/>
          </a:p>
        </p:txBody>
      </p:sp>
    </p:spTree>
    <p:extLst>
      <p:ext uri="{BB962C8B-B14F-4D97-AF65-F5344CB8AC3E}">
        <p14:creationId xmlns:p14="http://schemas.microsoft.com/office/powerpoint/2010/main" val="22090444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1CA8-43A7-B69D-3561-D24FC994F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9FB2B-DFED-2259-6F36-13952255FCF5}"/>
              </a:ext>
            </a:extLst>
          </p:cNvPr>
          <p:cNvSpPr>
            <a:spLocks noGrp="1"/>
          </p:cNvSpPr>
          <p:nvPr>
            <p:ph type="title"/>
          </p:nvPr>
        </p:nvSpPr>
        <p:spPr/>
        <p:txBody>
          <a:bodyPr>
            <a:normAutofit/>
          </a:bodyPr>
          <a:lstStyle/>
          <a:p>
            <a:r>
              <a:rPr lang="en-IE" sz="5400" b="1" dirty="0"/>
              <a:t>Four Types of Bias</a:t>
            </a:r>
          </a:p>
        </p:txBody>
      </p:sp>
      <p:sp>
        <p:nvSpPr>
          <p:cNvPr id="3" name="Content Placeholder 2">
            <a:extLst>
              <a:ext uri="{FF2B5EF4-FFF2-40B4-BE49-F238E27FC236}">
                <a16:creationId xmlns:a16="http://schemas.microsoft.com/office/drawing/2014/main" id="{95242EAC-D82B-F7EA-CB23-AC0BA204ED2F}"/>
              </a:ext>
            </a:extLst>
          </p:cNvPr>
          <p:cNvSpPr>
            <a:spLocks noGrp="1"/>
          </p:cNvSpPr>
          <p:nvPr>
            <p:ph idx="1"/>
          </p:nvPr>
        </p:nvSpPr>
        <p:spPr/>
        <p:txBody>
          <a:bodyPr>
            <a:normAutofit/>
          </a:bodyPr>
          <a:lstStyle/>
          <a:p>
            <a:r>
              <a:rPr lang="en-GB" sz="3600" b="1" dirty="0"/>
              <a:t>2. Cultural or Ethnic Bias: </a:t>
            </a:r>
            <a:r>
              <a:rPr lang="en-GB" sz="3600" dirty="0"/>
              <a:t>Overrepresenting certain cultures, languages, or experiences while marginalizing others. </a:t>
            </a:r>
          </a:p>
          <a:p>
            <a:r>
              <a:rPr lang="en-GB" sz="3600" dirty="0"/>
              <a:t>====================================</a:t>
            </a:r>
          </a:p>
          <a:p>
            <a:r>
              <a:rPr lang="en-GB" sz="3600" dirty="0"/>
              <a:t>For example: </a:t>
            </a:r>
          </a:p>
          <a:p>
            <a:r>
              <a:rPr lang="en-GB" sz="3600" dirty="0"/>
              <a:t>Assuming "default" cultural norms are Western.</a:t>
            </a:r>
            <a:endParaRPr lang="en-IE" sz="3600" dirty="0"/>
          </a:p>
        </p:txBody>
      </p:sp>
    </p:spTree>
    <p:extLst>
      <p:ext uri="{BB962C8B-B14F-4D97-AF65-F5344CB8AC3E}">
        <p14:creationId xmlns:p14="http://schemas.microsoft.com/office/powerpoint/2010/main" val="34791310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B48F4-CD7D-E2DD-AFAE-2BE4CF311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93C92-D33D-FDE9-AE70-A1A52C3FA75C}"/>
              </a:ext>
            </a:extLst>
          </p:cNvPr>
          <p:cNvSpPr>
            <a:spLocks noGrp="1"/>
          </p:cNvSpPr>
          <p:nvPr>
            <p:ph type="title"/>
          </p:nvPr>
        </p:nvSpPr>
        <p:spPr/>
        <p:txBody>
          <a:bodyPr>
            <a:normAutofit/>
          </a:bodyPr>
          <a:lstStyle/>
          <a:p>
            <a:r>
              <a:rPr lang="en-IE" sz="5400" b="1" dirty="0"/>
              <a:t>Four Types of Bias</a:t>
            </a:r>
          </a:p>
        </p:txBody>
      </p:sp>
      <p:sp>
        <p:nvSpPr>
          <p:cNvPr id="3" name="Content Placeholder 2">
            <a:extLst>
              <a:ext uri="{FF2B5EF4-FFF2-40B4-BE49-F238E27FC236}">
                <a16:creationId xmlns:a16="http://schemas.microsoft.com/office/drawing/2014/main" id="{DE97F37D-0A6B-0A82-3BA2-BBC003EDB965}"/>
              </a:ext>
            </a:extLst>
          </p:cNvPr>
          <p:cNvSpPr>
            <a:spLocks noGrp="1"/>
          </p:cNvSpPr>
          <p:nvPr>
            <p:ph idx="1"/>
          </p:nvPr>
        </p:nvSpPr>
        <p:spPr/>
        <p:txBody>
          <a:bodyPr>
            <a:normAutofit/>
          </a:bodyPr>
          <a:lstStyle/>
          <a:p>
            <a:r>
              <a:rPr lang="en-GB" sz="3600" b="1" dirty="0"/>
              <a:t>3. Geo-linguistic Bias: </a:t>
            </a:r>
            <a:r>
              <a:rPr lang="en-GB" sz="3600" dirty="0"/>
              <a:t>Prioritizing English and U.S./UK perspectives over others. </a:t>
            </a:r>
          </a:p>
          <a:p>
            <a:r>
              <a:rPr lang="en-GB" sz="3600" dirty="0"/>
              <a:t>====================================</a:t>
            </a:r>
          </a:p>
          <a:p>
            <a:r>
              <a:rPr lang="en-GB" sz="3600" dirty="0"/>
              <a:t>For example: </a:t>
            </a:r>
          </a:p>
          <a:p>
            <a:r>
              <a:rPr lang="en-GB" sz="3600" dirty="0"/>
              <a:t>Giving poor quality responses in underrepresented languages.</a:t>
            </a:r>
            <a:endParaRPr lang="en-IE" sz="3600" dirty="0"/>
          </a:p>
        </p:txBody>
      </p:sp>
    </p:spTree>
    <p:extLst>
      <p:ext uri="{BB962C8B-B14F-4D97-AF65-F5344CB8AC3E}">
        <p14:creationId xmlns:p14="http://schemas.microsoft.com/office/powerpoint/2010/main" val="18266372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5DA4F-2CA9-2932-D772-00F227FB0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E3B51-1D92-024B-653D-45BF301CF178}"/>
              </a:ext>
            </a:extLst>
          </p:cNvPr>
          <p:cNvSpPr>
            <a:spLocks noGrp="1"/>
          </p:cNvSpPr>
          <p:nvPr>
            <p:ph type="title"/>
          </p:nvPr>
        </p:nvSpPr>
        <p:spPr/>
        <p:txBody>
          <a:bodyPr>
            <a:normAutofit/>
          </a:bodyPr>
          <a:lstStyle/>
          <a:p>
            <a:r>
              <a:rPr lang="en-IE" sz="5400" b="1" dirty="0"/>
              <a:t>Four Types of Bias</a:t>
            </a:r>
          </a:p>
        </p:txBody>
      </p:sp>
      <p:sp>
        <p:nvSpPr>
          <p:cNvPr id="3" name="Content Placeholder 2">
            <a:extLst>
              <a:ext uri="{FF2B5EF4-FFF2-40B4-BE49-F238E27FC236}">
                <a16:creationId xmlns:a16="http://schemas.microsoft.com/office/drawing/2014/main" id="{3A862A65-D9C9-046C-3298-2C4EFA9481C5}"/>
              </a:ext>
            </a:extLst>
          </p:cNvPr>
          <p:cNvSpPr>
            <a:spLocks noGrp="1"/>
          </p:cNvSpPr>
          <p:nvPr>
            <p:ph idx="1"/>
          </p:nvPr>
        </p:nvSpPr>
        <p:spPr/>
        <p:txBody>
          <a:bodyPr>
            <a:normAutofit/>
          </a:bodyPr>
          <a:lstStyle/>
          <a:p>
            <a:r>
              <a:rPr lang="en-GB" sz="3600" b="1" dirty="0"/>
              <a:t>4. Confirmation Bias Reinforcement: </a:t>
            </a:r>
            <a:r>
              <a:rPr lang="en-GB" sz="3600" dirty="0"/>
              <a:t>Agreeing with user assumptions without challenge. </a:t>
            </a:r>
          </a:p>
          <a:p>
            <a:r>
              <a:rPr lang="en-GB" sz="3600" dirty="0"/>
              <a:t>====================================</a:t>
            </a:r>
          </a:p>
          <a:p>
            <a:r>
              <a:rPr lang="en-GB" sz="3600" dirty="0"/>
              <a:t>For example: </a:t>
            </a:r>
          </a:p>
          <a:p>
            <a:r>
              <a:rPr lang="en-GB" sz="3600" dirty="0"/>
              <a:t>A user says, “Vaccines are dangerous,” and the model supports it instead of offering balance.</a:t>
            </a:r>
            <a:endParaRPr lang="en-IE" sz="3600" dirty="0"/>
          </a:p>
        </p:txBody>
      </p:sp>
    </p:spTree>
    <p:extLst>
      <p:ext uri="{BB962C8B-B14F-4D97-AF65-F5344CB8AC3E}">
        <p14:creationId xmlns:p14="http://schemas.microsoft.com/office/powerpoint/2010/main" val="9624667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91154-63E6-32EE-1CC7-50C5A414E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39C31-882D-B46F-5782-08A4E977ABEB}"/>
              </a:ext>
            </a:extLst>
          </p:cNvPr>
          <p:cNvSpPr>
            <a:spLocks noGrp="1"/>
          </p:cNvSpPr>
          <p:nvPr>
            <p:ph type="title"/>
          </p:nvPr>
        </p:nvSpPr>
        <p:spPr/>
        <p:txBody>
          <a:bodyPr>
            <a:normAutofit/>
          </a:bodyPr>
          <a:lstStyle/>
          <a:p>
            <a:r>
              <a:rPr lang="en-IE" sz="5400" b="1" dirty="0"/>
              <a:t>Why AI Models have Bias</a:t>
            </a:r>
          </a:p>
        </p:txBody>
      </p:sp>
      <p:sp>
        <p:nvSpPr>
          <p:cNvPr id="3" name="Content Placeholder 2">
            <a:extLst>
              <a:ext uri="{FF2B5EF4-FFF2-40B4-BE49-F238E27FC236}">
                <a16:creationId xmlns:a16="http://schemas.microsoft.com/office/drawing/2014/main" id="{AE8E6C18-A4C7-304E-9DF7-D92E0C379037}"/>
              </a:ext>
            </a:extLst>
          </p:cNvPr>
          <p:cNvSpPr>
            <a:spLocks noGrp="1"/>
          </p:cNvSpPr>
          <p:nvPr>
            <p:ph idx="1"/>
          </p:nvPr>
        </p:nvSpPr>
        <p:spPr/>
        <p:txBody>
          <a:bodyPr>
            <a:normAutofit fontScale="92500" lnSpcReduction="10000"/>
          </a:bodyPr>
          <a:lstStyle/>
          <a:p>
            <a:r>
              <a:rPr lang="en-GB" sz="3600" b="1" dirty="0"/>
              <a:t>Biased training data:</a:t>
            </a:r>
            <a:r>
              <a:rPr lang="en-GB" sz="3600" dirty="0"/>
              <a:t> Web data, books, and human interactions often contain stereotypes. </a:t>
            </a:r>
          </a:p>
          <a:p>
            <a:r>
              <a:rPr lang="en-GB" sz="3600" b="1" dirty="0"/>
              <a:t>Popularity bias:</a:t>
            </a:r>
            <a:r>
              <a:rPr lang="en-GB" sz="3600" dirty="0"/>
              <a:t> Models tend to repeat what appears most frequently in training - not what is most fair or true. </a:t>
            </a:r>
          </a:p>
          <a:p>
            <a:r>
              <a:rPr lang="en-GB" sz="3600" b="1" dirty="0"/>
              <a:t>Lack of grounding in values or ethics: </a:t>
            </a:r>
            <a:r>
              <a:rPr lang="en-GB" sz="3600" dirty="0"/>
              <a:t>Models don’t inherently understand morality, equity, or harm. </a:t>
            </a:r>
            <a:r>
              <a:rPr lang="en-GB" sz="3600" b="1" dirty="0"/>
              <a:t>Maximizing engagement:</a:t>
            </a:r>
            <a:r>
              <a:rPr lang="en-GB" sz="3600" dirty="0"/>
              <a:t> AI may generate content that reflects sensational or polarizing views (because those dominate online).</a:t>
            </a:r>
            <a:endParaRPr lang="en-IE" sz="3600" dirty="0"/>
          </a:p>
        </p:txBody>
      </p:sp>
    </p:spTree>
    <p:extLst>
      <p:ext uri="{BB962C8B-B14F-4D97-AF65-F5344CB8AC3E}">
        <p14:creationId xmlns:p14="http://schemas.microsoft.com/office/powerpoint/2010/main" val="2765844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9A09A-E484-538A-10DB-11E1564E0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CE814-9601-B3D1-DE4C-680BE4359E80}"/>
              </a:ext>
            </a:extLst>
          </p:cNvPr>
          <p:cNvSpPr>
            <a:spLocks noGrp="1"/>
          </p:cNvSpPr>
          <p:nvPr>
            <p:ph type="title"/>
          </p:nvPr>
        </p:nvSpPr>
        <p:spPr/>
        <p:txBody>
          <a:bodyPr>
            <a:normAutofit/>
          </a:bodyPr>
          <a:lstStyle/>
          <a:p>
            <a:r>
              <a:rPr lang="en-IE" sz="5400" b="1" dirty="0"/>
              <a:t>How to Reduce Bias</a:t>
            </a:r>
          </a:p>
        </p:txBody>
      </p:sp>
      <p:sp>
        <p:nvSpPr>
          <p:cNvPr id="3" name="Content Placeholder 2">
            <a:extLst>
              <a:ext uri="{FF2B5EF4-FFF2-40B4-BE49-F238E27FC236}">
                <a16:creationId xmlns:a16="http://schemas.microsoft.com/office/drawing/2014/main" id="{67D9E9D3-C7FB-41E3-87F8-B69703A110AD}"/>
              </a:ext>
            </a:extLst>
          </p:cNvPr>
          <p:cNvSpPr>
            <a:spLocks noGrp="1"/>
          </p:cNvSpPr>
          <p:nvPr>
            <p:ph idx="1"/>
          </p:nvPr>
        </p:nvSpPr>
        <p:spPr/>
        <p:txBody>
          <a:bodyPr>
            <a:normAutofit fontScale="92500" lnSpcReduction="10000"/>
          </a:bodyPr>
          <a:lstStyle/>
          <a:p>
            <a:r>
              <a:rPr lang="en-GB" sz="3600" b="1" dirty="0"/>
              <a:t>Bias Auditing:</a:t>
            </a:r>
            <a:r>
              <a:rPr lang="en-GB" sz="3600" dirty="0"/>
              <a:t> Use tools to test how a model responds to prompts involving race, gender, religion, etc. </a:t>
            </a:r>
          </a:p>
          <a:p>
            <a:r>
              <a:rPr lang="en-GB" sz="3600" b="1" dirty="0"/>
              <a:t>Diversify training data:</a:t>
            </a:r>
            <a:r>
              <a:rPr lang="en-GB" sz="3600" dirty="0"/>
              <a:t> Include more perspectives from underrepresented groups and cultures.</a:t>
            </a:r>
            <a:r>
              <a:rPr lang="en-GB" sz="3600" b="1" dirty="0"/>
              <a:t> </a:t>
            </a:r>
          </a:p>
          <a:p>
            <a:r>
              <a:rPr lang="en-GB" sz="3600" b="1" dirty="0"/>
              <a:t>Debiasing algorithms: </a:t>
            </a:r>
            <a:r>
              <a:rPr lang="en-GB" sz="3600" dirty="0"/>
              <a:t>Use mitigation layers that balance or correct biased tendencies before or after generation.</a:t>
            </a:r>
            <a:r>
              <a:rPr lang="en-GB" sz="3600" b="1" dirty="0"/>
              <a:t> </a:t>
            </a:r>
          </a:p>
          <a:p>
            <a:r>
              <a:rPr lang="en-GB" sz="3600" b="1" dirty="0"/>
              <a:t>Transparency and documentation: </a:t>
            </a:r>
            <a:r>
              <a:rPr lang="en-GB" sz="3600" dirty="0"/>
              <a:t>Provide model cards and disclosure about known biases or limitations. </a:t>
            </a:r>
            <a:endParaRPr lang="en-IE" sz="3600" dirty="0"/>
          </a:p>
        </p:txBody>
      </p:sp>
    </p:spTree>
    <p:extLst>
      <p:ext uri="{BB962C8B-B14F-4D97-AF65-F5344CB8AC3E}">
        <p14:creationId xmlns:p14="http://schemas.microsoft.com/office/powerpoint/2010/main" val="21036644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AB7E53-FE14-CA56-B8B3-E0C09AF20B48}"/>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15980A-E55C-60FB-B105-D9B15CEEA1F6}"/>
              </a:ext>
            </a:extLst>
          </p:cNvPr>
          <p:cNvSpPr>
            <a:spLocks noGrp="1"/>
          </p:cNvSpPr>
          <p:nvPr>
            <p:ph type="ctrTitle"/>
          </p:nvPr>
        </p:nvSpPr>
        <p:spPr>
          <a:xfrm>
            <a:off x="4162567" y="818984"/>
            <a:ext cx="6714699" cy="3178689"/>
          </a:xfrm>
        </p:spPr>
        <p:txBody>
          <a:bodyPr>
            <a:normAutofit/>
          </a:bodyPr>
          <a:lstStyle/>
          <a:p>
            <a:pPr algn="l"/>
            <a:r>
              <a:rPr lang="en-GB" sz="4800" b="1" dirty="0">
                <a:solidFill>
                  <a:srgbClr val="FFFFFF"/>
                </a:solidFill>
              </a:rPr>
              <a:t>Overgeneralization</a:t>
            </a:r>
            <a:endParaRPr lang="en-IE" sz="4800" b="1" dirty="0">
              <a:solidFill>
                <a:srgbClr val="FFFFFF"/>
              </a:solidFill>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561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3672D-16CD-A81B-613D-3A8E3D4A1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4BAAA-C6AD-8B30-961F-38866C1DC271}"/>
              </a:ext>
            </a:extLst>
          </p:cNvPr>
          <p:cNvSpPr>
            <a:spLocks noGrp="1"/>
          </p:cNvSpPr>
          <p:nvPr>
            <p:ph type="title"/>
          </p:nvPr>
        </p:nvSpPr>
        <p:spPr/>
        <p:txBody>
          <a:bodyPr>
            <a:normAutofit/>
          </a:bodyPr>
          <a:lstStyle/>
          <a:p>
            <a:r>
              <a:rPr lang="en-IE" sz="5400" b="1" dirty="0"/>
              <a:t>Overgeneralization</a:t>
            </a:r>
          </a:p>
        </p:txBody>
      </p:sp>
      <p:sp>
        <p:nvSpPr>
          <p:cNvPr id="3" name="Content Placeholder 2">
            <a:extLst>
              <a:ext uri="{FF2B5EF4-FFF2-40B4-BE49-F238E27FC236}">
                <a16:creationId xmlns:a16="http://schemas.microsoft.com/office/drawing/2014/main" id="{94237CA6-41CF-0DAB-A852-8764DF9F1076}"/>
              </a:ext>
            </a:extLst>
          </p:cNvPr>
          <p:cNvSpPr>
            <a:spLocks noGrp="1"/>
          </p:cNvSpPr>
          <p:nvPr>
            <p:ph idx="1"/>
          </p:nvPr>
        </p:nvSpPr>
        <p:spPr/>
        <p:txBody>
          <a:bodyPr>
            <a:normAutofit/>
          </a:bodyPr>
          <a:lstStyle/>
          <a:p>
            <a:r>
              <a:rPr lang="en-GB" sz="3600" b="1" dirty="0"/>
              <a:t>Definition</a:t>
            </a:r>
            <a:r>
              <a:rPr lang="en-GB" sz="3600" dirty="0"/>
              <a:t>: Overgeneralization occurs when a model applies a concept or pattern too broadly or simplistically, ignoring exceptions, complexity, or nuance. It often leads to sweeping statements that sound plausible but are misleading or even harmful.</a:t>
            </a:r>
            <a:endParaRPr lang="en-IE" sz="3600" dirty="0"/>
          </a:p>
        </p:txBody>
      </p:sp>
    </p:spTree>
    <p:extLst>
      <p:ext uri="{BB962C8B-B14F-4D97-AF65-F5344CB8AC3E}">
        <p14:creationId xmlns:p14="http://schemas.microsoft.com/office/powerpoint/2010/main" val="41673248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3365D-7B05-D591-26D5-AF6D60FFE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97B01-C426-834F-C375-2731E29D647D}"/>
              </a:ext>
            </a:extLst>
          </p:cNvPr>
          <p:cNvSpPr>
            <a:spLocks noGrp="1"/>
          </p:cNvSpPr>
          <p:nvPr>
            <p:ph type="title"/>
          </p:nvPr>
        </p:nvSpPr>
        <p:spPr/>
        <p:txBody>
          <a:bodyPr>
            <a:normAutofit/>
          </a:bodyPr>
          <a:lstStyle/>
          <a:p>
            <a:r>
              <a:rPr lang="en-IE" sz="5400" b="1" dirty="0"/>
              <a:t>Four Types of Overgeneralization</a:t>
            </a:r>
          </a:p>
        </p:txBody>
      </p:sp>
      <p:sp>
        <p:nvSpPr>
          <p:cNvPr id="3" name="Content Placeholder 2">
            <a:extLst>
              <a:ext uri="{FF2B5EF4-FFF2-40B4-BE49-F238E27FC236}">
                <a16:creationId xmlns:a16="http://schemas.microsoft.com/office/drawing/2014/main" id="{C918E794-354B-7E4C-7A1A-E6147C74D220}"/>
              </a:ext>
            </a:extLst>
          </p:cNvPr>
          <p:cNvSpPr>
            <a:spLocks noGrp="1"/>
          </p:cNvSpPr>
          <p:nvPr>
            <p:ph idx="1"/>
          </p:nvPr>
        </p:nvSpPr>
        <p:spPr/>
        <p:txBody>
          <a:bodyPr>
            <a:normAutofit/>
          </a:bodyPr>
          <a:lstStyle/>
          <a:p>
            <a:r>
              <a:rPr lang="en-GB" sz="3600" b="1" dirty="0"/>
              <a:t>1. Factual Overgeneralization:</a:t>
            </a:r>
            <a:r>
              <a:rPr lang="en-GB" sz="3600" dirty="0"/>
              <a:t> Stating something as universally true when it’s not.</a:t>
            </a:r>
            <a:r>
              <a:rPr lang="en-GB" sz="3600" b="1" dirty="0"/>
              <a:t> </a:t>
            </a:r>
          </a:p>
          <a:p>
            <a:r>
              <a:rPr lang="en-GB" sz="3600" b="1" dirty="0"/>
              <a:t>==============================</a:t>
            </a:r>
          </a:p>
          <a:p>
            <a:r>
              <a:rPr lang="en-GB" sz="3600" dirty="0"/>
              <a:t>For example: </a:t>
            </a:r>
          </a:p>
          <a:p>
            <a:r>
              <a:rPr lang="en-GB" sz="3600" dirty="0">
                <a:latin typeface="Courier New" panose="02070309020205020404" pitchFamily="49" charset="0"/>
                <a:cs typeface="Courier New" panose="02070309020205020404" pitchFamily="49" charset="0"/>
              </a:rPr>
              <a:t>“All mammals live on land.” </a:t>
            </a:r>
          </a:p>
          <a:p>
            <a:r>
              <a:rPr lang="en-GB" sz="3600" dirty="0"/>
              <a:t>Ignores whales and dolphins.</a:t>
            </a:r>
            <a:endParaRPr lang="en-IE" sz="3600" dirty="0"/>
          </a:p>
        </p:txBody>
      </p:sp>
    </p:spTree>
    <p:extLst>
      <p:ext uri="{BB962C8B-B14F-4D97-AF65-F5344CB8AC3E}">
        <p14:creationId xmlns:p14="http://schemas.microsoft.com/office/powerpoint/2010/main" val="17026331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0F1C9-561F-8D38-6A54-F68122910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A38D5-3761-AFF5-FF00-111D743746C2}"/>
              </a:ext>
            </a:extLst>
          </p:cNvPr>
          <p:cNvSpPr>
            <a:spLocks noGrp="1"/>
          </p:cNvSpPr>
          <p:nvPr>
            <p:ph type="title"/>
          </p:nvPr>
        </p:nvSpPr>
        <p:spPr/>
        <p:txBody>
          <a:bodyPr>
            <a:normAutofit/>
          </a:bodyPr>
          <a:lstStyle/>
          <a:p>
            <a:r>
              <a:rPr lang="en-IE" sz="5400" b="1" dirty="0"/>
              <a:t>Four Types of Overgeneralization</a:t>
            </a:r>
          </a:p>
        </p:txBody>
      </p:sp>
      <p:sp>
        <p:nvSpPr>
          <p:cNvPr id="3" name="Content Placeholder 2">
            <a:extLst>
              <a:ext uri="{FF2B5EF4-FFF2-40B4-BE49-F238E27FC236}">
                <a16:creationId xmlns:a16="http://schemas.microsoft.com/office/drawing/2014/main" id="{DB03EF24-AC17-E784-FBE5-F9B4CF27C608}"/>
              </a:ext>
            </a:extLst>
          </p:cNvPr>
          <p:cNvSpPr>
            <a:spLocks noGrp="1"/>
          </p:cNvSpPr>
          <p:nvPr>
            <p:ph idx="1"/>
          </p:nvPr>
        </p:nvSpPr>
        <p:spPr/>
        <p:txBody>
          <a:bodyPr>
            <a:normAutofit/>
          </a:bodyPr>
          <a:lstStyle/>
          <a:p>
            <a:r>
              <a:rPr lang="en-GB" sz="3600" b="1" dirty="0"/>
              <a:t>2. Stereotype Reinforcement: </a:t>
            </a:r>
            <a:r>
              <a:rPr lang="en-GB" sz="3600" dirty="0"/>
              <a:t>A subtype of overgeneralization that assigns characteristics to whole groups. </a:t>
            </a:r>
          </a:p>
          <a:p>
            <a:r>
              <a:rPr lang="en-GB" sz="3600" b="1" dirty="0"/>
              <a:t>==============================</a:t>
            </a:r>
            <a:endParaRPr lang="en-GB" sz="3600" dirty="0"/>
          </a:p>
          <a:p>
            <a:r>
              <a:rPr lang="en-GB" sz="3600" dirty="0"/>
              <a:t>For example: </a:t>
            </a:r>
          </a:p>
          <a:p>
            <a:r>
              <a:rPr lang="en-GB" sz="3600" dirty="0">
                <a:latin typeface="Courier New" panose="02070309020205020404" pitchFamily="49" charset="0"/>
                <a:cs typeface="Courier New" panose="02070309020205020404" pitchFamily="49" charset="0"/>
              </a:rPr>
              <a:t>“Men are dumb.” </a:t>
            </a:r>
          </a:p>
          <a:p>
            <a:r>
              <a:rPr lang="en-GB" sz="3600" dirty="0"/>
              <a:t>Overgeneralizes based on biased assumptions.</a:t>
            </a:r>
            <a:endParaRPr lang="en-IE" sz="3600" dirty="0"/>
          </a:p>
        </p:txBody>
      </p:sp>
    </p:spTree>
    <p:extLst>
      <p:ext uri="{BB962C8B-B14F-4D97-AF65-F5344CB8AC3E}">
        <p14:creationId xmlns:p14="http://schemas.microsoft.com/office/powerpoint/2010/main" val="8885926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DD8BE-D968-DAD2-8FE4-900D5F1FB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12275-2487-1210-3153-68BA1B8A3E78}"/>
              </a:ext>
            </a:extLst>
          </p:cNvPr>
          <p:cNvSpPr>
            <a:spLocks noGrp="1"/>
          </p:cNvSpPr>
          <p:nvPr>
            <p:ph type="title"/>
          </p:nvPr>
        </p:nvSpPr>
        <p:spPr/>
        <p:txBody>
          <a:bodyPr>
            <a:normAutofit/>
          </a:bodyPr>
          <a:lstStyle/>
          <a:p>
            <a:r>
              <a:rPr lang="en-IE" sz="5400" b="1" dirty="0"/>
              <a:t>Four Types of Overgeneralization</a:t>
            </a:r>
          </a:p>
        </p:txBody>
      </p:sp>
      <p:sp>
        <p:nvSpPr>
          <p:cNvPr id="3" name="Content Placeholder 2">
            <a:extLst>
              <a:ext uri="{FF2B5EF4-FFF2-40B4-BE49-F238E27FC236}">
                <a16:creationId xmlns:a16="http://schemas.microsoft.com/office/drawing/2014/main" id="{5750CB06-6C1F-8A0B-57F9-740E1C575809}"/>
              </a:ext>
            </a:extLst>
          </p:cNvPr>
          <p:cNvSpPr>
            <a:spLocks noGrp="1"/>
          </p:cNvSpPr>
          <p:nvPr>
            <p:ph idx="1"/>
          </p:nvPr>
        </p:nvSpPr>
        <p:spPr/>
        <p:txBody>
          <a:bodyPr>
            <a:normAutofit lnSpcReduction="10000"/>
          </a:bodyPr>
          <a:lstStyle/>
          <a:p>
            <a:r>
              <a:rPr lang="en-GB" sz="3600" b="1" dirty="0"/>
              <a:t>3. Language/Style Overgeneralization:</a:t>
            </a:r>
            <a:r>
              <a:rPr lang="en-GB" sz="3600" dirty="0"/>
              <a:t> Responses become overly templated or formulaic.</a:t>
            </a:r>
          </a:p>
          <a:p>
            <a:r>
              <a:rPr lang="en-GB" sz="3600" b="1" dirty="0"/>
              <a:t>==============================</a:t>
            </a:r>
            <a:endParaRPr lang="en-GB" sz="3600" dirty="0"/>
          </a:p>
          <a:p>
            <a:r>
              <a:rPr lang="en-GB" sz="3600" dirty="0"/>
              <a:t>For example: </a:t>
            </a:r>
          </a:p>
          <a:p>
            <a:r>
              <a:rPr lang="en-GB" sz="3600" dirty="0">
                <a:latin typeface="Courier New" panose="02070309020205020404" pitchFamily="49" charset="0"/>
                <a:cs typeface="Courier New" panose="02070309020205020404" pitchFamily="49" charset="0"/>
              </a:rPr>
              <a:t>“There are many advantages and disadvantages to this issue...” </a:t>
            </a:r>
          </a:p>
          <a:p>
            <a:r>
              <a:rPr lang="en-GB" sz="3600" dirty="0"/>
              <a:t>Generic and content-light — applies to almost anything.</a:t>
            </a:r>
          </a:p>
        </p:txBody>
      </p:sp>
    </p:spTree>
    <p:extLst>
      <p:ext uri="{BB962C8B-B14F-4D97-AF65-F5344CB8AC3E}">
        <p14:creationId xmlns:p14="http://schemas.microsoft.com/office/powerpoint/2010/main" val="391349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64848-246E-417D-548B-14F05880E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F32BC-5B15-BAEC-AA22-22EA640B4711}"/>
              </a:ext>
            </a:extLst>
          </p:cNvPr>
          <p:cNvSpPr>
            <a:spLocks noGrp="1"/>
          </p:cNvSpPr>
          <p:nvPr>
            <p:ph type="title"/>
          </p:nvPr>
        </p:nvSpPr>
        <p:spPr/>
        <p:txBody>
          <a:bodyPr>
            <a:normAutofit/>
          </a:bodyPr>
          <a:lstStyle/>
          <a:p>
            <a:r>
              <a:rPr lang="en-IE" sz="5400" b="1" dirty="0"/>
              <a:t>Four Types of Overgeneralization</a:t>
            </a:r>
          </a:p>
        </p:txBody>
      </p:sp>
      <p:sp>
        <p:nvSpPr>
          <p:cNvPr id="3" name="Content Placeholder 2">
            <a:extLst>
              <a:ext uri="{FF2B5EF4-FFF2-40B4-BE49-F238E27FC236}">
                <a16:creationId xmlns:a16="http://schemas.microsoft.com/office/drawing/2014/main" id="{7F359400-F88E-F532-4905-DBF0E6290015}"/>
              </a:ext>
            </a:extLst>
          </p:cNvPr>
          <p:cNvSpPr>
            <a:spLocks noGrp="1"/>
          </p:cNvSpPr>
          <p:nvPr>
            <p:ph idx="1"/>
          </p:nvPr>
        </p:nvSpPr>
        <p:spPr/>
        <p:txBody>
          <a:bodyPr>
            <a:normAutofit lnSpcReduction="10000"/>
          </a:bodyPr>
          <a:lstStyle/>
          <a:p>
            <a:r>
              <a:rPr lang="en-GB" sz="3600" b="1" dirty="0"/>
              <a:t>4. Educational or Instructional Overgeneralization: </a:t>
            </a:r>
            <a:r>
              <a:rPr lang="en-GB" sz="3600" dirty="0"/>
              <a:t>Simplifying technical or nuanced explanations too much. </a:t>
            </a:r>
          </a:p>
          <a:p>
            <a:r>
              <a:rPr lang="en-GB" sz="3600" b="1" dirty="0"/>
              <a:t>==============================</a:t>
            </a:r>
            <a:endParaRPr lang="en-GB" sz="3600" dirty="0"/>
          </a:p>
          <a:p>
            <a:r>
              <a:rPr lang="en-GB" sz="3600" dirty="0"/>
              <a:t>For example: </a:t>
            </a:r>
          </a:p>
          <a:p>
            <a:r>
              <a:rPr lang="en-GB" sz="3600" dirty="0">
                <a:latin typeface="Courier New" panose="02070309020205020404" pitchFamily="49" charset="0"/>
                <a:cs typeface="Courier New" panose="02070309020205020404" pitchFamily="49" charset="0"/>
              </a:rPr>
              <a:t>“AI always makes decisions based on logic.”</a:t>
            </a:r>
            <a:r>
              <a:rPr lang="en-GB" sz="3600" dirty="0"/>
              <a:t> Ignores probabilistic and statistical nature of models.</a:t>
            </a:r>
          </a:p>
        </p:txBody>
      </p:sp>
    </p:spTree>
    <p:extLst>
      <p:ext uri="{BB962C8B-B14F-4D97-AF65-F5344CB8AC3E}">
        <p14:creationId xmlns:p14="http://schemas.microsoft.com/office/powerpoint/2010/main" val="22771793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AACF-618D-E9E4-599A-50B8310EA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1B029-893C-3762-EDE6-1242A7F29C0C}"/>
              </a:ext>
            </a:extLst>
          </p:cNvPr>
          <p:cNvSpPr>
            <a:spLocks noGrp="1"/>
          </p:cNvSpPr>
          <p:nvPr>
            <p:ph type="title"/>
          </p:nvPr>
        </p:nvSpPr>
        <p:spPr/>
        <p:txBody>
          <a:bodyPr>
            <a:noAutofit/>
          </a:bodyPr>
          <a:lstStyle/>
          <a:p>
            <a:r>
              <a:rPr lang="en-IE" sz="4800" b="1" dirty="0"/>
              <a:t>Why AI Models Overgeneralize</a:t>
            </a:r>
          </a:p>
        </p:txBody>
      </p:sp>
      <p:sp>
        <p:nvSpPr>
          <p:cNvPr id="3" name="Content Placeholder 2">
            <a:extLst>
              <a:ext uri="{FF2B5EF4-FFF2-40B4-BE49-F238E27FC236}">
                <a16:creationId xmlns:a16="http://schemas.microsoft.com/office/drawing/2014/main" id="{5511B47D-A8DF-0EB8-37D3-5C65BEC2DACB}"/>
              </a:ext>
            </a:extLst>
          </p:cNvPr>
          <p:cNvSpPr>
            <a:spLocks noGrp="1"/>
          </p:cNvSpPr>
          <p:nvPr>
            <p:ph idx="1"/>
          </p:nvPr>
        </p:nvSpPr>
        <p:spPr/>
        <p:txBody>
          <a:bodyPr>
            <a:normAutofit fontScale="92500"/>
          </a:bodyPr>
          <a:lstStyle/>
          <a:p>
            <a:r>
              <a:rPr lang="en-GB" sz="3600" b="1" dirty="0"/>
              <a:t>Training Data Problems:</a:t>
            </a:r>
            <a:r>
              <a:rPr lang="en-GB" sz="3600" dirty="0"/>
              <a:t> Online content often favours bold, sweeping claims (e.g., blog posts, social media). </a:t>
            </a:r>
          </a:p>
          <a:p>
            <a:r>
              <a:rPr lang="en-GB" sz="3600" b="1" dirty="0"/>
              <a:t>Statistical Modelling:</a:t>
            </a:r>
            <a:r>
              <a:rPr lang="en-GB" sz="3600" dirty="0"/>
              <a:t> Models optimize for the most likely sequences - which are often general statements. </a:t>
            </a:r>
          </a:p>
          <a:p>
            <a:r>
              <a:rPr lang="en-GB" sz="3600" b="1" dirty="0"/>
              <a:t>Avoiding Controversy:</a:t>
            </a:r>
            <a:r>
              <a:rPr lang="en-GB" sz="3600" dirty="0"/>
              <a:t> When uncertain, models may default to “safe,” non-specific outputs. </a:t>
            </a:r>
          </a:p>
          <a:p>
            <a:r>
              <a:rPr lang="en-GB" sz="3600" b="1" dirty="0"/>
              <a:t>Prompt Ambiguity:</a:t>
            </a:r>
            <a:r>
              <a:rPr lang="en-GB" sz="3600" dirty="0"/>
              <a:t> If a prompt is too vague, the model may answer in an overly broad way to cover all bases.</a:t>
            </a:r>
          </a:p>
        </p:txBody>
      </p:sp>
    </p:spTree>
    <p:extLst>
      <p:ext uri="{BB962C8B-B14F-4D97-AF65-F5344CB8AC3E}">
        <p14:creationId xmlns:p14="http://schemas.microsoft.com/office/powerpoint/2010/main" val="10258564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2BEE6-C4F0-0602-3C8C-6F408C3C6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1E8D1-B5D9-0A38-6CF4-CE5058E6BCDE}"/>
              </a:ext>
            </a:extLst>
          </p:cNvPr>
          <p:cNvSpPr>
            <a:spLocks noGrp="1"/>
          </p:cNvSpPr>
          <p:nvPr>
            <p:ph type="title"/>
          </p:nvPr>
        </p:nvSpPr>
        <p:spPr/>
        <p:txBody>
          <a:bodyPr>
            <a:noAutofit/>
          </a:bodyPr>
          <a:lstStyle/>
          <a:p>
            <a:r>
              <a:rPr lang="en-IE" sz="4800" b="1" dirty="0"/>
              <a:t>How to Reduce Overgeneralization</a:t>
            </a:r>
          </a:p>
        </p:txBody>
      </p:sp>
      <p:sp>
        <p:nvSpPr>
          <p:cNvPr id="3" name="Content Placeholder 2">
            <a:extLst>
              <a:ext uri="{FF2B5EF4-FFF2-40B4-BE49-F238E27FC236}">
                <a16:creationId xmlns:a16="http://schemas.microsoft.com/office/drawing/2014/main" id="{613C2B04-3AA2-BA82-056B-F2FA8BD7620B}"/>
              </a:ext>
            </a:extLst>
          </p:cNvPr>
          <p:cNvSpPr>
            <a:spLocks noGrp="1"/>
          </p:cNvSpPr>
          <p:nvPr>
            <p:ph idx="1"/>
          </p:nvPr>
        </p:nvSpPr>
        <p:spPr/>
        <p:txBody>
          <a:bodyPr>
            <a:normAutofit fontScale="92500" lnSpcReduction="20000"/>
          </a:bodyPr>
          <a:lstStyle/>
          <a:p>
            <a:r>
              <a:rPr lang="en-GB" sz="3600" b="1" dirty="0"/>
              <a:t>Prompt more specifically:</a:t>
            </a:r>
            <a:r>
              <a:rPr lang="en-GB" sz="3600" dirty="0"/>
              <a:t> Ask for details, examples, or limits: </a:t>
            </a:r>
            <a:r>
              <a:rPr lang="en-GB" sz="3600" dirty="0">
                <a:latin typeface="Courier New" panose="02070309020205020404" pitchFamily="49" charset="0"/>
                <a:cs typeface="Courier New" panose="02070309020205020404" pitchFamily="49" charset="0"/>
              </a:rPr>
              <a:t>“Give me 3 specific examples,”</a:t>
            </a:r>
            <a:r>
              <a:rPr lang="en-GB" sz="3600" dirty="0"/>
              <a:t> or </a:t>
            </a:r>
            <a:r>
              <a:rPr lang="en-GB" sz="3600" dirty="0">
                <a:latin typeface="Courier New" panose="02070309020205020404" pitchFamily="49" charset="0"/>
                <a:cs typeface="Courier New" panose="02070309020205020404" pitchFamily="49" charset="0"/>
              </a:rPr>
              <a:t>“What are the exceptions?” </a:t>
            </a:r>
          </a:p>
          <a:p>
            <a:r>
              <a:rPr lang="en-GB" sz="3600" b="1" dirty="0"/>
              <a:t>Teach model to self-qualify:</a:t>
            </a:r>
            <a:r>
              <a:rPr lang="en-GB" sz="3600" dirty="0"/>
              <a:t> Encourage language like: </a:t>
            </a:r>
            <a:r>
              <a:rPr lang="en-GB" sz="3600" dirty="0">
                <a:latin typeface="Courier New" panose="02070309020205020404" pitchFamily="49" charset="0"/>
                <a:cs typeface="Courier New" panose="02070309020205020404" pitchFamily="49" charset="0"/>
              </a:rPr>
              <a:t>“In many cases…” “Typically, but not always…” “Depending on the context…” </a:t>
            </a:r>
          </a:p>
          <a:p>
            <a:r>
              <a:rPr lang="en-GB" sz="3600" b="1" dirty="0"/>
              <a:t>Post-processing filters:</a:t>
            </a:r>
            <a:r>
              <a:rPr lang="en-GB" sz="3600" dirty="0"/>
              <a:t> Flag content with overly broad claims or missing qualifiers. </a:t>
            </a:r>
          </a:p>
          <a:p>
            <a:r>
              <a:rPr lang="en-GB" sz="3600" b="1" dirty="0"/>
              <a:t>Human-in-the-loop review:</a:t>
            </a:r>
            <a:r>
              <a:rPr lang="en-GB" sz="3600" dirty="0"/>
              <a:t> Add editorial oversight in contexts where nuance is critical.</a:t>
            </a:r>
          </a:p>
        </p:txBody>
      </p:sp>
    </p:spTree>
    <p:extLst>
      <p:ext uri="{BB962C8B-B14F-4D97-AF65-F5344CB8AC3E}">
        <p14:creationId xmlns:p14="http://schemas.microsoft.com/office/powerpoint/2010/main" val="31831833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31C0B9-102B-4323-35DC-B151C1C447D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0DE6DA-FF44-5909-602E-ABDB39023839}"/>
              </a:ext>
            </a:extLst>
          </p:cNvPr>
          <p:cNvSpPr>
            <a:spLocks noGrp="1"/>
          </p:cNvSpPr>
          <p:nvPr>
            <p:ph type="ctrTitle"/>
          </p:nvPr>
        </p:nvSpPr>
        <p:spPr>
          <a:xfrm>
            <a:off x="4162567" y="818984"/>
            <a:ext cx="6714699" cy="3178689"/>
          </a:xfrm>
        </p:spPr>
        <p:txBody>
          <a:bodyPr>
            <a:normAutofit/>
          </a:bodyPr>
          <a:lstStyle/>
          <a:p>
            <a:pPr algn="l"/>
            <a:r>
              <a:rPr lang="en-GB" sz="4800" b="1" dirty="0">
                <a:solidFill>
                  <a:srgbClr val="FFFFFF"/>
                </a:solidFill>
              </a:rPr>
              <a:t>Toxicity</a:t>
            </a:r>
            <a:endParaRPr lang="en-IE" sz="4800" b="1" dirty="0">
              <a:solidFill>
                <a:srgbClr val="FFFFFF"/>
              </a:solidFill>
            </a:endParaRPr>
          </a:p>
        </p:txBody>
      </p:sp>
      <p:sp>
        <p:nvSpPr>
          <p:cNvPr id="4" name="Rectangle 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933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3C0C5-E329-9703-2214-35B82B7AD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5F8FB-D9F1-77F0-E0D3-0BFAD3513B3F}"/>
              </a:ext>
            </a:extLst>
          </p:cNvPr>
          <p:cNvSpPr>
            <a:spLocks noGrp="1"/>
          </p:cNvSpPr>
          <p:nvPr>
            <p:ph type="title"/>
          </p:nvPr>
        </p:nvSpPr>
        <p:spPr/>
        <p:txBody>
          <a:bodyPr>
            <a:normAutofit/>
          </a:bodyPr>
          <a:lstStyle/>
          <a:p>
            <a:r>
              <a:rPr lang="en-IE" sz="5400" b="1" dirty="0"/>
              <a:t>Toxicity</a:t>
            </a:r>
          </a:p>
        </p:txBody>
      </p:sp>
      <p:sp>
        <p:nvSpPr>
          <p:cNvPr id="3" name="Content Placeholder 2">
            <a:extLst>
              <a:ext uri="{FF2B5EF4-FFF2-40B4-BE49-F238E27FC236}">
                <a16:creationId xmlns:a16="http://schemas.microsoft.com/office/drawing/2014/main" id="{1348735D-0C3A-05C8-107F-3CBEBBC3EF99}"/>
              </a:ext>
            </a:extLst>
          </p:cNvPr>
          <p:cNvSpPr>
            <a:spLocks noGrp="1"/>
          </p:cNvSpPr>
          <p:nvPr>
            <p:ph idx="1"/>
          </p:nvPr>
        </p:nvSpPr>
        <p:spPr/>
        <p:txBody>
          <a:bodyPr>
            <a:normAutofit/>
          </a:bodyPr>
          <a:lstStyle/>
          <a:p>
            <a:r>
              <a:rPr lang="en-GB" sz="3600" b="1" dirty="0"/>
              <a:t>Definition: </a:t>
            </a:r>
            <a:r>
              <a:rPr lang="en-GB" sz="3600" dirty="0"/>
              <a:t>Toxicity in GenAI refers to any generated content that is harmful, offensive, or abusive — either explicitly or implicitly. This includes hate speech, slurs, personal attacks, violent threats, or language that is demeaning, discriminatory, or inflammatory.</a:t>
            </a:r>
            <a:endParaRPr lang="en-IE" sz="3600" dirty="0"/>
          </a:p>
        </p:txBody>
      </p:sp>
    </p:spTree>
    <p:extLst>
      <p:ext uri="{BB962C8B-B14F-4D97-AF65-F5344CB8AC3E}">
        <p14:creationId xmlns:p14="http://schemas.microsoft.com/office/powerpoint/2010/main" val="28482288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199B0-5CD3-F30F-E8B5-47042D582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22994-B383-26B8-7FFB-F5888DB73E55}"/>
              </a:ext>
            </a:extLst>
          </p:cNvPr>
          <p:cNvSpPr>
            <a:spLocks noGrp="1"/>
          </p:cNvSpPr>
          <p:nvPr>
            <p:ph type="title"/>
          </p:nvPr>
        </p:nvSpPr>
        <p:spPr/>
        <p:txBody>
          <a:bodyPr>
            <a:normAutofit/>
          </a:bodyPr>
          <a:lstStyle/>
          <a:p>
            <a:r>
              <a:rPr lang="en-IE" sz="5400" b="1" dirty="0"/>
              <a:t>Four Types of Toxicity</a:t>
            </a:r>
          </a:p>
        </p:txBody>
      </p:sp>
      <p:sp>
        <p:nvSpPr>
          <p:cNvPr id="3" name="Content Placeholder 2">
            <a:extLst>
              <a:ext uri="{FF2B5EF4-FFF2-40B4-BE49-F238E27FC236}">
                <a16:creationId xmlns:a16="http://schemas.microsoft.com/office/drawing/2014/main" id="{ED67040A-580B-38DD-0BB1-15ECEE194A88}"/>
              </a:ext>
            </a:extLst>
          </p:cNvPr>
          <p:cNvSpPr>
            <a:spLocks noGrp="1"/>
          </p:cNvSpPr>
          <p:nvPr>
            <p:ph idx="1"/>
          </p:nvPr>
        </p:nvSpPr>
        <p:spPr/>
        <p:txBody>
          <a:bodyPr>
            <a:normAutofit/>
          </a:bodyPr>
          <a:lstStyle/>
          <a:p>
            <a:r>
              <a:rPr lang="en-GB" sz="3600" b="1" dirty="0"/>
              <a:t>1. Hate Speech &amp; Slurs: </a:t>
            </a:r>
          </a:p>
          <a:p>
            <a:r>
              <a:rPr lang="en-GB" sz="3600" dirty="0"/>
              <a:t>Content that targets individuals or groups based on race, ethnicity, religion, gender, sexuality, etc.</a:t>
            </a:r>
          </a:p>
          <a:p>
            <a:r>
              <a:rPr lang="en-GB" sz="3600" dirty="0"/>
              <a:t>==================================</a:t>
            </a:r>
          </a:p>
          <a:p>
            <a:r>
              <a:rPr lang="en-GB" sz="3600" dirty="0"/>
              <a:t>No example needed</a:t>
            </a:r>
            <a:endParaRPr lang="en-IE" sz="3600" dirty="0"/>
          </a:p>
        </p:txBody>
      </p:sp>
    </p:spTree>
    <p:extLst>
      <p:ext uri="{BB962C8B-B14F-4D97-AF65-F5344CB8AC3E}">
        <p14:creationId xmlns:p14="http://schemas.microsoft.com/office/powerpoint/2010/main" val="11088215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DDFA0-0E3B-3D2D-4D56-AF695A9F2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4A01F-D3C7-D1B4-2812-E3C7C2860BB3}"/>
              </a:ext>
            </a:extLst>
          </p:cNvPr>
          <p:cNvSpPr>
            <a:spLocks noGrp="1"/>
          </p:cNvSpPr>
          <p:nvPr>
            <p:ph type="title"/>
          </p:nvPr>
        </p:nvSpPr>
        <p:spPr/>
        <p:txBody>
          <a:bodyPr>
            <a:normAutofit/>
          </a:bodyPr>
          <a:lstStyle/>
          <a:p>
            <a:r>
              <a:rPr lang="en-IE" sz="5400" b="1" dirty="0"/>
              <a:t>Four Types of Toxicity</a:t>
            </a:r>
          </a:p>
        </p:txBody>
      </p:sp>
      <p:sp>
        <p:nvSpPr>
          <p:cNvPr id="3" name="Content Placeholder 2">
            <a:extLst>
              <a:ext uri="{FF2B5EF4-FFF2-40B4-BE49-F238E27FC236}">
                <a16:creationId xmlns:a16="http://schemas.microsoft.com/office/drawing/2014/main" id="{2CED14DA-C0CE-F0F2-7982-58AA2D8626E9}"/>
              </a:ext>
            </a:extLst>
          </p:cNvPr>
          <p:cNvSpPr>
            <a:spLocks noGrp="1"/>
          </p:cNvSpPr>
          <p:nvPr>
            <p:ph idx="1"/>
          </p:nvPr>
        </p:nvSpPr>
        <p:spPr/>
        <p:txBody>
          <a:bodyPr>
            <a:normAutofit/>
          </a:bodyPr>
          <a:lstStyle/>
          <a:p>
            <a:r>
              <a:rPr lang="en-GB" sz="3600" b="1" dirty="0"/>
              <a:t>2. Violent or Aggressive Language:</a:t>
            </a:r>
          </a:p>
          <a:p>
            <a:r>
              <a:rPr lang="en-GB" sz="3600" dirty="0"/>
              <a:t>Encouraging harm or using threatening speech.</a:t>
            </a:r>
          </a:p>
          <a:p>
            <a:r>
              <a:rPr lang="en-GB" sz="3600" dirty="0"/>
              <a:t>==================================</a:t>
            </a:r>
          </a:p>
          <a:p>
            <a:r>
              <a:rPr lang="en-GB" sz="3600" dirty="0"/>
              <a:t>No example needed</a:t>
            </a:r>
            <a:endParaRPr lang="en-IE" sz="3600" dirty="0"/>
          </a:p>
        </p:txBody>
      </p:sp>
    </p:spTree>
    <p:extLst>
      <p:ext uri="{BB962C8B-B14F-4D97-AF65-F5344CB8AC3E}">
        <p14:creationId xmlns:p14="http://schemas.microsoft.com/office/powerpoint/2010/main" val="9528370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3FC42-4CA8-6030-7EC8-37D240B4E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A56FC-2FFC-4375-5687-9E92170786EF}"/>
              </a:ext>
            </a:extLst>
          </p:cNvPr>
          <p:cNvSpPr>
            <a:spLocks noGrp="1"/>
          </p:cNvSpPr>
          <p:nvPr>
            <p:ph type="title"/>
          </p:nvPr>
        </p:nvSpPr>
        <p:spPr/>
        <p:txBody>
          <a:bodyPr>
            <a:normAutofit/>
          </a:bodyPr>
          <a:lstStyle/>
          <a:p>
            <a:r>
              <a:rPr lang="en-IE" sz="5400" b="1" dirty="0"/>
              <a:t>Four Types of Toxicity</a:t>
            </a:r>
          </a:p>
        </p:txBody>
      </p:sp>
      <p:sp>
        <p:nvSpPr>
          <p:cNvPr id="3" name="Content Placeholder 2">
            <a:extLst>
              <a:ext uri="{FF2B5EF4-FFF2-40B4-BE49-F238E27FC236}">
                <a16:creationId xmlns:a16="http://schemas.microsoft.com/office/drawing/2014/main" id="{06804056-9D5B-5843-9A92-25AF1232F3D3}"/>
              </a:ext>
            </a:extLst>
          </p:cNvPr>
          <p:cNvSpPr>
            <a:spLocks noGrp="1"/>
          </p:cNvSpPr>
          <p:nvPr>
            <p:ph idx="1"/>
          </p:nvPr>
        </p:nvSpPr>
        <p:spPr/>
        <p:txBody>
          <a:bodyPr>
            <a:normAutofit/>
          </a:bodyPr>
          <a:lstStyle/>
          <a:p>
            <a:r>
              <a:rPr lang="en-GB" sz="3600" b="1" dirty="0"/>
              <a:t>3. Bullying or Mocking: </a:t>
            </a:r>
            <a:r>
              <a:rPr lang="en-GB" sz="3600" dirty="0"/>
              <a:t>Derisive or belittling language toward people, beliefs, or conditions.</a:t>
            </a:r>
          </a:p>
          <a:p>
            <a:r>
              <a:rPr lang="en-GB" sz="3600" dirty="0"/>
              <a:t>==================================</a:t>
            </a:r>
          </a:p>
          <a:p>
            <a:r>
              <a:rPr lang="en-GB" sz="3600" dirty="0"/>
              <a:t>No example needed</a:t>
            </a:r>
            <a:endParaRPr lang="en-IE" sz="3600" dirty="0"/>
          </a:p>
        </p:txBody>
      </p:sp>
    </p:spTree>
    <p:extLst>
      <p:ext uri="{BB962C8B-B14F-4D97-AF65-F5344CB8AC3E}">
        <p14:creationId xmlns:p14="http://schemas.microsoft.com/office/powerpoint/2010/main" val="18275785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12B8F-77AF-665E-33FB-B3BA44BC1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3AC11-FBE3-1292-293C-6D6BB5D67818}"/>
              </a:ext>
            </a:extLst>
          </p:cNvPr>
          <p:cNvSpPr>
            <a:spLocks noGrp="1"/>
          </p:cNvSpPr>
          <p:nvPr>
            <p:ph type="title"/>
          </p:nvPr>
        </p:nvSpPr>
        <p:spPr/>
        <p:txBody>
          <a:bodyPr>
            <a:normAutofit/>
          </a:bodyPr>
          <a:lstStyle/>
          <a:p>
            <a:r>
              <a:rPr lang="en-IE" sz="5400" b="1" dirty="0"/>
              <a:t>Four Types of Toxicity</a:t>
            </a:r>
          </a:p>
        </p:txBody>
      </p:sp>
      <p:sp>
        <p:nvSpPr>
          <p:cNvPr id="3" name="Content Placeholder 2">
            <a:extLst>
              <a:ext uri="{FF2B5EF4-FFF2-40B4-BE49-F238E27FC236}">
                <a16:creationId xmlns:a16="http://schemas.microsoft.com/office/drawing/2014/main" id="{53B7BBD3-07F6-9294-E02D-8A65B7929930}"/>
              </a:ext>
            </a:extLst>
          </p:cNvPr>
          <p:cNvSpPr>
            <a:spLocks noGrp="1"/>
          </p:cNvSpPr>
          <p:nvPr>
            <p:ph idx="1"/>
          </p:nvPr>
        </p:nvSpPr>
        <p:spPr/>
        <p:txBody>
          <a:bodyPr>
            <a:normAutofit/>
          </a:bodyPr>
          <a:lstStyle/>
          <a:p>
            <a:r>
              <a:rPr lang="en-GB" sz="3600" b="1" dirty="0"/>
              <a:t>4. Self-harm Encouragement: </a:t>
            </a:r>
            <a:r>
              <a:rPr lang="en-GB" sz="3600" dirty="0"/>
              <a:t>Dangerous responses that inadvertently validate harmful thoughts.</a:t>
            </a:r>
          </a:p>
          <a:p>
            <a:r>
              <a:rPr lang="en-GB" sz="3600" dirty="0"/>
              <a:t>==================================</a:t>
            </a:r>
          </a:p>
          <a:p>
            <a:r>
              <a:rPr lang="en-GB" sz="3600" dirty="0"/>
              <a:t>No example needed</a:t>
            </a:r>
            <a:endParaRPr lang="en-IE" sz="3600" dirty="0"/>
          </a:p>
        </p:txBody>
      </p:sp>
    </p:spTree>
    <p:extLst>
      <p:ext uri="{BB962C8B-B14F-4D97-AF65-F5344CB8AC3E}">
        <p14:creationId xmlns:p14="http://schemas.microsoft.com/office/powerpoint/2010/main" val="13567848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9875E-BED6-B725-864A-BBE8EC30F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E304E-4209-03F6-DCC5-6E7E3CD3FFEE}"/>
              </a:ext>
            </a:extLst>
          </p:cNvPr>
          <p:cNvSpPr>
            <a:spLocks noGrp="1"/>
          </p:cNvSpPr>
          <p:nvPr>
            <p:ph type="title"/>
          </p:nvPr>
        </p:nvSpPr>
        <p:spPr/>
        <p:txBody>
          <a:bodyPr>
            <a:normAutofit/>
          </a:bodyPr>
          <a:lstStyle/>
          <a:p>
            <a:r>
              <a:rPr lang="en-GB" sz="5400" b="1" dirty="0"/>
              <a:t>Why AI models can </a:t>
            </a:r>
            <a:r>
              <a:rPr lang="en-GB" sz="5400" b="1"/>
              <a:t>be Toxic</a:t>
            </a:r>
            <a:endParaRPr lang="en-IE" sz="5400" b="1" dirty="0"/>
          </a:p>
        </p:txBody>
      </p:sp>
      <p:sp>
        <p:nvSpPr>
          <p:cNvPr id="3" name="Content Placeholder 2">
            <a:extLst>
              <a:ext uri="{FF2B5EF4-FFF2-40B4-BE49-F238E27FC236}">
                <a16:creationId xmlns:a16="http://schemas.microsoft.com/office/drawing/2014/main" id="{9EABFA70-4912-F261-FEBB-7988644F3260}"/>
              </a:ext>
            </a:extLst>
          </p:cNvPr>
          <p:cNvSpPr>
            <a:spLocks noGrp="1"/>
          </p:cNvSpPr>
          <p:nvPr>
            <p:ph idx="1"/>
          </p:nvPr>
        </p:nvSpPr>
        <p:spPr/>
        <p:txBody>
          <a:bodyPr>
            <a:normAutofit fontScale="77500" lnSpcReduction="20000"/>
          </a:bodyPr>
          <a:lstStyle/>
          <a:p>
            <a:r>
              <a:rPr lang="en-GB" sz="3600" b="1" dirty="0"/>
              <a:t>Training data from the internet: </a:t>
            </a:r>
            <a:r>
              <a:rPr lang="en-GB" sz="3600" dirty="0"/>
              <a:t>The internet contains a lot of toxic, unmoderated content — especially from social media, forums, etc. </a:t>
            </a:r>
          </a:p>
          <a:p>
            <a:r>
              <a:rPr lang="en-GB" sz="3600" b="1" dirty="0"/>
              <a:t>Context misunderstanding: </a:t>
            </a:r>
            <a:r>
              <a:rPr lang="en-GB" sz="3600" dirty="0"/>
              <a:t>The AI may not recognize the line between irony, humour, or aggression — especially when nuance is involved. </a:t>
            </a:r>
          </a:p>
          <a:p>
            <a:r>
              <a:rPr lang="en-GB" sz="3600" b="1" dirty="0"/>
              <a:t>Prompt manipulation (jailbreaking): </a:t>
            </a:r>
            <a:r>
              <a:rPr lang="en-GB" sz="3600" dirty="0"/>
              <a:t>Users may intentionally trick the model into generating toxic content using clever phrasing or obfuscation. </a:t>
            </a:r>
          </a:p>
          <a:p>
            <a:r>
              <a:rPr lang="en-GB" sz="3600" b="1" dirty="0"/>
              <a:t>Lack of ethical grounding: </a:t>
            </a:r>
            <a:r>
              <a:rPr lang="en-GB" sz="3600" dirty="0"/>
              <a:t>LLMs don’t inherently understand morality or harm — they generate based on what’s likely, not what’s right.</a:t>
            </a:r>
            <a:endParaRPr lang="en-IE" sz="3600" dirty="0"/>
          </a:p>
        </p:txBody>
      </p:sp>
    </p:spTree>
    <p:extLst>
      <p:ext uri="{BB962C8B-B14F-4D97-AF65-F5344CB8AC3E}">
        <p14:creationId xmlns:p14="http://schemas.microsoft.com/office/powerpoint/2010/main" val="7179056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CAECA-96D8-D69D-F883-A74018429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C6EE1-D66E-0E98-017F-71FE317A3F35}"/>
              </a:ext>
            </a:extLst>
          </p:cNvPr>
          <p:cNvSpPr>
            <a:spLocks noGrp="1"/>
          </p:cNvSpPr>
          <p:nvPr>
            <p:ph type="title"/>
          </p:nvPr>
        </p:nvSpPr>
        <p:spPr/>
        <p:txBody>
          <a:bodyPr>
            <a:normAutofit/>
          </a:bodyPr>
          <a:lstStyle/>
          <a:p>
            <a:r>
              <a:rPr lang="en-GB" sz="5400" b="1" dirty="0"/>
              <a:t>How to Mitigate Toxicity</a:t>
            </a:r>
            <a:endParaRPr lang="en-IE" sz="5400" b="1" dirty="0"/>
          </a:p>
        </p:txBody>
      </p:sp>
      <p:sp>
        <p:nvSpPr>
          <p:cNvPr id="3" name="Content Placeholder 2">
            <a:extLst>
              <a:ext uri="{FF2B5EF4-FFF2-40B4-BE49-F238E27FC236}">
                <a16:creationId xmlns:a16="http://schemas.microsoft.com/office/drawing/2014/main" id="{B7A39BDC-A6A9-0BD8-48DC-5A4A93EA53D2}"/>
              </a:ext>
            </a:extLst>
          </p:cNvPr>
          <p:cNvSpPr>
            <a:spLocks noGrp="1"/>
          </p:cNvSpPr>
          <p:nvPr>
            <p:ph idx="1"/>
          </p:nvPr>
        </p:nvSpPr>
        <p:spPr/>
        <p:txBody>
          <a:bodyPr>
            <a:normAutofit fontScale="92500" lnSpcReduction="20000"/>
          </a:bodyPr>
          <a:lstStyle/>
          <a:p>
            <a:r>
              <a:rPr lang="en-GB" sz="3600" b="1" dirty="0"/>
              <a:t>Toxicity classifiers (e.g., Perspective API, OpenAI's moderation models): </a:t>
            </a:r>
            <a:r>
              <a:rPr lang="en-GB" sz="3600" dirty="0"/>
              <a:t>Use pre- or post-generation filters to flag harmful outputs. </a:t>
            </a:r>
          </a:p>
          <a:p>
            <a:r>
              <a:rPr lang="en-GB" sz="3600" b="1" dirty="0"/>
              <a:t>Prompt moderation: </a:t>
            </a:r>
            <a:r>
              <a:rPr lang="en-GB" sz="3600" dirty="0"/>
              <a:t>Block or sanitize problematic inputs before generation even begins. </a:t>
            </a:r>
          </a:p>
          <a:p>
            <a:r>
              <a:rPr lang="en-GB" sz="3600" b="1" dirty="0"/>
              <a:t>Fine-tuning with curated data: </a:t>
            </a:r>
            <a:r>
              <a:rPr lang="en-GB" sz="3600" dirty="0"/>
              <a:t>Train the AI on examples that demonstrate safe, respectful language. </a:t>
            </a:r>
          </a:p>
          <a:p>
            <a:r>
              <a:rPr lang="en-GB" sz="3600" b="1" dirty="0"/>
              <a:t>Safety disclaimers or refusals: </a:t>
            </a:r>
            <a:r>
              <a:rPr lang="en-GB" sz="3600" dirty="0"/>
              <a:t>Teach the AI to say: </a:t>
            </a:r>
            <a:r>
              <a:rPr lang="en-GB" sz="3600" dirty="0">
                <a:latin typeface="Courier New" panose="02070309020205020404" pitchFamily="49" charset="0"/>
                <a:cs typeface="Courier New" panose="02070309020205020404" pitchFamily="49" charset="0"/>
              </a:rPr>
              <a:t>“I’m sorry, but I can’t help with that request.”</a:t>
            </a:r>
            <a:endParaRPr lang="en-IE" sz="3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797289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55B80-80A8-A58D-8B53-B92B8853E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9835E-D288-99FA-9A7B-BDAFCEBDC07D}"/>
              </a:ext>
            </a:extLst>
          </p:cNvPr>
          <p:cNvSpPr>
            <a:spLocks noGrp="1"/>
          </p:cNvSpPr>
          <p:nvPr>
            <p:ph type="title"/>
          </p:nvPr>
        </p:nvSpPr>
        <p:spPr>
          <a:xfrm>
            <a:off x="576942" y="343354"/>
            <a:ext cx="10515600" cy="1325563"/>
          </a:xfrm>
        </p:spPr>
        <p:txBody>
          <a:bodyPr/>
          <a:lstStyle/>
          <a:p>
            <a:r>
              <a:rPr lang="en-GB" dirty="0"/>
              <a:t>Types of Errors that</a:t>
            </a:r>
            <a:br>
              <a:rPr lang="en-GB" dirty="0"/>
            </a:br>
            <a:r>
              <a:rPr lang="en-GB" dirty="0"/>
              <a:t>GenAI Produces</a:t>
            </a:r>
            <a:endParaRPr lang="en-IE" dirty="0"/>
          </a:p>
        </p:txBody>
      </p:sp>
      <p:sp>
        <p:nvSpPr>
          <p:cNvPr id="3" name="Content Placeholder 2">
            <a:extLst>
              <a:ext uri="{FF2B5EF4-FFF2-40B4-BE49-F238E27FC236}">
                <a16:creationId xmlns:a16="http://schemas.microsoft.com/office/drawing/2014/main" id="{4AE152AE-747F-1456-3A90-3B1069640558}"/>
              </a:ext>
            </a:extLst>
          </p:cNvPr>
          <p:cNvSpPr>
            <a:spLocks noGrp="1"/>
          </p:cNvSpPr>
          <p:nvPr>
            <p:ph idx="1"/>
          </p:nvPr>
        </p:nvSpPr>
        <p:spPr/>
        <p:txBody>
          <a:bodyPr/>
          <a:lstStyle/>
          <a:p>
            <a:r>
              <a:rPr lang="en-IE" b="1" dirty="0"/>
              <a:t>C</a:t>
            </a:r>
            <a:r>
              <a:rPr lang="en-IE" dirty="0"/>
              <a:t>ontradictions</a:t>
            </a:r>
          </a:p>
          <a:p>
            <a:r>
              <a:rPr lang="en-IE" b="1" dirty="0"/>
              <a:t>R</a:t>
            </a:r>
            <a:r>
              <a:rPr lang="en-IE" dirty="0"/>
              <a:t>epetition</a:t>
            </a:r>
          </a:p>
          <a:p>
            <a:r>
              <a:rPr lang="en-IE" b="1" dirty="0"/>
              <a:t>A</a:t>
            </a:r>
            <a:r>
              <a:rPr lang="en-IE" dirty="0"/>
              <a:t>mbiguity</a:t>
            </a:r>
          </a:p>
          <a:p>
            <a:r>
              <a:rPr lang="en-IE" b="1" dirty="0"/>
              <a:t>S</a:t>
            </a:r>
            <a:r>
              <a:rPr lang="en-IE" dirty="0"/>
              <a:t>tereotyping</a:t>
            </a:r>
          </a:p>
          <a:p>
            <a:r>
              <a:rPr lang="en-IE" b="1" dirty="0"/>
              <a:t>H</a:t>
            </a:r>
            <a:r>
              <a:rPr lang="en-IE" dirty="0"/>
              <a:t>allucinations</a:t>
            </a:r>
          </a:p>
          <a:p>
            <a:r>
              <a:rPr lang="en-IE" b="1" dirty="0"/>
              <a:t>B</a:t>
            </a:r>
            <a:r>
              <a:rPr lang="en-IE" dirty="0"/>
              <a:t>ias</a:t>
            </a:r>
          </a:p>
          <a:p>
            <a:r>
              <a:rPr lang="en-IE" b="1" dirty="0"/>
              <a:t>O</a:t>
            </a:r>
            <a:r>
              <a:rPr lang="en-IE" dirty="0"/>
              <a:t>vergeneralization</a:t>
            </a:r>
          </a:p>
          <a:p>
            <a:r>
              <a:rPr lang="en-IE" b="1" dirty="0"/>
              <a:t>T</a:t>
            </a:r>
            <a:r>
              <a:rPr lang="en-IE" dirty="0"/>
              <a:t>oxicity</a:t>
            </a:r>
          </a:p>
        </p:txBody>
      </p:sp>
      <p:pic>
        <p:nvPicPr>
          <p:cNvPr id="6" name="Picture 5">
            <a:extLst>
              <a:ext uri="{FF2B5EF4-FFF2-40B4-BE49-F238E27FC236}">
                <a16:creationId xmlns:a16="http://schemas.microsoft.com/office/drawing/2014/main" id="{285D855F-18CD-293B-09D9-278FD7D044BB}"/>
              </a:ext>
            </a:extLst>
          </p:cNvPr>
          <p:cNvPicPr>
            <a:picLocks noChangeAspect="1"/>
          </p:cNvPicPr>
          <p:nvPr/>
        </p:nvPicPr>
        <p:blipFill>
          <a:blip r:embed="rId2"/>
          <a:srcRect l="781" r="4155"/>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Tree>
    <p:extLst>
      <p:ext uri="{BB962C8B-B14F-4D97-AF65-F5344CB8AC3E}">
        <p14:creationId xmlns:p14="http://schemas.microsoft.com/office/powerpoint/2010/main" val="3076861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3024</Words>
  <Application>Microsoft Office PowerPoint</Application>
  <PresentationFormat>Widescreen</PresentationFormat>
  <Paragraphs>348</Paragraphs>
  <Slides>88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Aptos</vt:lpstr>
      <vt:lpstr>Aptos Display</vt:lpstr>
      <vt:lpstr>Arial</vt:lpstr>
      <vt:lpstr>Courier New</vt:lpstr>
      <vt:lpstr>Office Theme</vt:lpstr>
      <vt:lpstr>Types of Errors  that GenAI Produces</vt:lpstr>
      <vt:lpstr>Generative AI</vt:lpstr>
      <vt:lpstr>PowerPoint Presentation</vt:lpstr>
      <vt:lpstr>PowerPoint Presentation</vt:lpstr>
      <vt:lpstr>PowerPoint Presentation</vt:lpstr>
      <vt:lpstr>PowerPoint Presentation</vt:lpstr>
      <vt:lpstr>PowerPoint Presentation</vt:lpstr>
      <vt:lpstr>They get too busy:</vt:lpstr>
      <vt:lpstr>And even if you can log in, you might not stay logged in:</vt:lpstr>
      <vt:lpstr>It’s not as smart as it seems:</vt:lpstr>
      <vt:lpstr>It’s not as smart as it seems:</vt:lpstr>
      <vt:lpstr>In this case the GenAI doesn’t understand the words “last name”:</vt:lpstr>
      <vt:lpstr>It will always be out of date:</vt:lpstr>
      <vt:lpstr>It will always be out of date:</vt:lpstr>
      <vt:lpstr>Generative AI</vt:lpstr>
      <vt:lpstr>Types of Errors that GenAI Produces</vt:lpstr>
      <vt:lpstr>Types of Errors that GenAI Produces</vt:lpstr>
      <vt:lpstr>Types of Errors that GenAI Produces</vt:lpstr>
      <vt:lpstr>PowerPoint Presentation</vt:lpstr>
      <vt:lpstr>Types of Errors that GenAI Produces</vt:lpstr>
      <vt:lpstr>Let’s look at each of those:</vt:lpstr>
      <vt:lpstr>Contradictions</vt:lpstr>
      <vt:lpstr>Contradictions</vt:lpstr>
      <vt:lpstr>Four Types of Contradictions</vt:lpstr>
      <vt:lpstr>Four Types of Contradictions</vt:lpstr>
      <vt:lpstr>Four Types of Contradictions</vt:lpstr>
      <vt:lpstr>Four Types of Contradictions</vt:lpstr>
      <vt:lpstr>Why GenAI Models Contradict</vt:lpstr>
      <vt:lpstr>How to Mitigate Contradictions</vt:lpstr>
      <vt:lpstr>Repetitions</vt:lpstr>
      <vt:lpstr>Repetition</vt:lpstr>
      <vt:lpstr>PowerPoint Presentation</vt:lpstr>
      <vt:lpstr>Four Types of Repetition</vt:lpstr>
      <vt:lpstr>Four Types of Repetition</vt:lpstr>
      <vt:lpstr>Four Types of Repetition</vt:lpstr>
      <vt:lpstr>Four Types of Repetition</vt:lpstr>
      <vt:lpstr>Why GenAI Models Repeat</vt:lpstr>
      <vt:lpstr>How to Mitigate Repetition</vt:lpstr>
      <vt:lpstr>Ambiguity</vt:lpstr>
      <vt:lpstr>Ambiguity</vt:lpstr>
      <vt:lpstr>Four Types of Ambiguity</vt:lpstr>
      <vt:lpstr>Four Types of Ambiguity</vt:lpstr>
      <vt:lpstr>Four Types of Ambiguity</vt:lpstr>
      <vt:lpstr>Four Types of Ambiguity</vt:lpstr>
      <vt:lpstr>Why GenAI Models Produce Ambiguity</vt:lpstr>
      <vt:lpstr>How to Reduce Ambiguity</vt:lpstr>
      <vt:lpstr>Stereotyping</vt:lpstr>
      <vt:lpstr>Stereotyping</vt:lpstr>
      <vt:lpstr>Four Types of Stereotyping</vt:lpstr>
      <vt:lpstr>Four Types of Stereotyping</vt:lpstr>
      <vt:lpstr>Four Types of Stereotyping</vt:lpstr>
      <vt:lpstr>Four Types of Stereotyping</vt:lpstr>
      <vt:lpstr>Why AI Models Stereotype</vt:lpstr>
      <vt:lpstr>How to Reduce Stereotyping</vt:lpstr>
      <vt:lpstr>Hallucinations</vt:lpstr>
      <vt:lpstr>Hallucinations</vt:lpstr>
      <vt:lpstr>PowerPoint Presentation</vt:lpstr>
      <vt:lpstr>Four Types of Hallucinations</vt:lpstr>
      <vt:lpstr>Four Types of Hallucinations</vt:lpstr>
      <vt:lpstr>Four Types of Hallucinations</vt:lpstr>
      <vt:lpstr>Four Types of Hallucinations</vt:lpstr>
      <vt:lpstr>Why AI Models Hallucinate</vt:lpstr>
      <vt:lpstr>How to Reduce Hallucinations</vt:lpstr>
      <vt:lpstr>Bias</vt:lpstr>
      <vt:lpstr>Bias</vt:lpstr>
      <vt:lpstr>Four Types of Bias</vt:lpstr>
      <vt:lpstr>Four Types of Bias</vt:lpstr>
      <vt:lpstr>Four Types of Bias</vt:lpstr>
      <vt:lpstr>Four Types of Bias</vt:lpstr>
      <vt:lpstr>Why AI Models have Bias</vt:lpstr>
      <vt:lpstr>How to Reduce Bias</vt:lpstr>
      <vt:lpstr>Overgeneralization</vt:lpstr>
      <vt:lpstr>Overgeneralization</vt:lpstr>
      <vt:lpstr>Four Types of Overgeneralization</vt:lpstr>
      <vt:lpstr>Four Types of Overgeneralization</vt:lpstr>
      <vt:lpstr>Four Types of Overgeneralization</vt:lpstr>
      <vt:lpstr>Four Types of Overgeneralization</vt:lpstr>
      <vt:lpstr>Why AI Models Overgeneralize</vt:lpstr>
      <vt:lpstr>How to Reduce Overgeneralization</vt:lpstr>
      <vt:lpstr>Toxicity</vt:lpstr>
      <vt:lpstr>Toxicity</vt:lpstr>
      <vt:lpstr>Four Types of Toxicity</vt:lpstr>
      <vt:lpstr>Four Types of Toxicity</vt:lpstr>
      <vt:lpstr>Four Types of Toxicity</vt:lpstr>
      <vt:lpstr>Four Types of Toxicity</vt:lpstr>
      <vt:lpstr>Why AI models can be Toxic</vt:lpstr>
      <vt:lpstr>How to Mitigate Toxicity</vt:lpstr>
      <vt:lpstr>Types of Errors that GenAI Produces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Gordon</dc:creator>
  <cp:lastModifiedBy>Eamonn Kelly</cp:lastModifiedBy>
  <cp:revision>2</cp:revision>
  <dcterms:created xsi:type="dcterms:W3CDTF">2025-04-02T09:06:18Z</dcterms:created>
  <dcterms:modified xsi:type="dcterms:W3CDTF">2026-02-01T13:29:53Z</dcterms:modified>
</cp:coreProperties>
</file>