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56" r:id="rId2"/>
    <p:sldId id="314" r:id="rId3"/>
    <p:sldId id="402" r:id="rId4"/>
    <p:sldId id="317" r:id="rId5"/>
    <p:sldId id="316" r:id="rId6"/>
    <p:sldId id="319" r:id="rId7"/>
    <p:sldId id="262" r:id="rId8"/>
    <p:sldId id="320" r:id="rId9"/>
    <p:sldId id="322" r:id="rId10"/>
    <p:sldId id="323" r:id="rId11"/>
    <p:sldId id="326" r:id="rId12"/>
    <p:sldId id="327" r:id="rId13"/>
    <p:sldId id="328" r:id="rId14"/>
    <p:sldId id="494" r:id="rId15"/>
    <p:sldId id="490" r:id="rId16"/>
    <p:sldId id="588" r:id="rId17"/>
    <p:sldId id="593" r:id="rId18"/>
    <p:sldId id="594" r:id="rId19"/>
    <p:sldId id="453" r:id="rId20"/>
    <p:sldId id="548" r:id="rId21"/>
    <p:sldId id="539" r:id="rId22"/>
    <p:sldId id="589" r:id="rId23"/>
    <p:sldId id="508" r:id="rId24"/>
    <p:sldId id="526" r:id="rId25"/>
    <p:sldId id="623" r:id="rId26"/>
    <p:sldId id="616" r:id="rId27"/>
    <p:sldId id="591" r:id="rId28"/>
    <p:sldId id="590" r:id="rId29"/>
    <p:sldId id="463" r:id="rId30"/>
    <p:sldId id="417" r:id="rId31"/>
    <p:sldId id="335" r:id="rId32"/>
    <p:sldId id="336" r:id="rId33"/>
    <p:sldId id="491" r:id="rId34"/>
    <p:sldId id="529" r:id="rId35"/>
    <p:sldId id="49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212121"/>
    <a:srgbClr val="424242"/>
    <a:srgbClr val="EBEBEB"/>
    <a:srgbClr val="A81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1787"/>
  </p:normalViewPr>
  <p:slideViewPr>
    <p:cSldViewPr snapToGrid="0" snapToObjects="1">
      <p:cViewPr varScale="1">
        <p:scale>
          <a:sx n="110" d="100"/>
          <a:sy n="110" d="100"/>
        </p:scale>
        <p:origin x="6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04CC4-CA7B-CF47-B367-2DB2A964BE5A}" type="datetimeFigureOut">
              <a:rPr lang="en-IE" smtClean="0"/>
              <a:t>16/03/2026</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ED25D2-51EC-3942-AF1A-495249E301F1}" type="slidenum">
              <a:rPr lang="en-IE" smtClean="0"/>
              <a:t>‹#›</a:t>
            </a:fld>
            <a:endParaRPr lang="en-IE"/>
          </a:p>
        </p:txBody>
      </p:sp>
    </p:spTree>
    <p:extLst>
      <p:ext uri="{BB962C8B-B14F-4D97-AF65-F5344CB8AC3E}">
        <p14:creationId xmlns:p14="http://schemas.microsoft.com/office/powerpoint/2010/main" val="141839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Norman’s perspective on Human </a:t>
            </a:r>
            <a:r>
              <a:rPr lang="en-US" dirty="0" err="1"/>
              <a:t>Centred</a:t>
            </a:r>
            <a:r>
              <a:rPr lang="en-US" dirty="0"/>
              <a:t> Design </a:t>
            </a:r>
            <a:r>
              <a:rPr lang="en-GB" dirty="0"/>
              <a:t>begins with a commitment to the full diversity of human experience</a:t>
            </a:r>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14</a:t>
            </a:fld>
            <a:endParaRPr lang="en-IE"/>
          </a:p>
        </p:txBody>
      </p:sp>
    </p:spTree>
    <p:extLst>
      <p:ext uri="{BB962C8B-B14F-4D97-AF65-F5344CB8AC3E}">
        <p14:creationId xmlns:p14="http://schemas.microsoft.com/office/powerpoint/2010/main" val="3817206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understand how exclusion occurs we need to acknowledge and recognize that people are not all the same</a:t>
            </a:r>
          </a:p>
        </p:txBody>
      </p:sp>
      <p:sp>
        <p:nvSpPr>
          <p:cNvPr id="4" name="Slide Number Placeholder 3"/>
          <p:cNvSpPr>
            <a:spLocks noGrp="1"/>
          </p:cNvSpPr>
          <p:nvPr>
            <p:ph type="sldNum" sz="quarter" idx="5"/>
          </p:nvPr>
        </p:nvSpPr>
        <p:spPr/>
        <p:txBody>
          <a:bodyPr/>
          <a:lstStyle/>
          <a:p>
            <a:fld id="{2CED25D2-51EC-3942-AF1A-495249E301F1}" type="slidenum">
              <a:rPr lang="en-IE" smtClean="0"/>
              <a:t>16</a:t>
            </a:fld>
            <a:endParaRPr lang="en-IE"/>
          </a:p>
        </p:txBody>
      </p:sp>
    </p:spTree>
    <p:extLst>
      <p:ext uri="{BB962C8B-B14F-4D97-AF65-F5344CB8AC3E}">
        <p14:creationId xmlns:p14="http://schemas.microsoft.com/office/powerpoint/2010/main" val="2032985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understand the issues around exclusion and minorities in data </a:t>
            </a:r>
            <a:r>
              <a:rPr lang="en-US" sz="1200" dirty="0"/>
              <a:t>Accessibility Researcher Jutta </a:t>
            </a:r>
            <a:r>
              <a:rPr lang="en-US" sz="1200" dirty="0" err="1"/>
              <a:t>Treviranus</a:t>
            </a:r>
            <a:r>
              <a:rPr lang="en-US" sz="1200" dirty="0"/>
              <a:t> has an insightful anecdote about her experience testing autonomous driving models in the Department of Transportation in Canada</a:t>
            </a:r>
            <a:endParaRPr lang="en-GB" sz="1200" dirty="0"/>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17</a:t>
            </a:fld>
            <a:endParaRPr lang="en-IE"/>
          </a:p>
        </p:txBody>
      </p:sp>
    </p:spTree>
    <p:extLst>
      <p:ext uri="{BB962C8B-B14F-4D97-AF65-F5344CB8AC3E}">
        <p14:creationId xmlns:p14="http://schemas.microsoft.com/office/powerpoint/2010/main" val="3724548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want to propose today are two research practices that I think are key to addressing issues of bias and exclusion in research </a:t>
            </a:r>
          </a:p>
        </p:txBody>
      </p:sp>
      <p:sp>
        <p:nvSpPr>
          <p:cNvPr id="4" name="Slide Number Placeholder 3"/>
          <p:cNvSpPr>
            <a:spLocks noGrp="1"/>
          </p:cNvSpPr>
          <p:nvPr>
            <p:ph type="sldNum" sz="quarter" idx="5"/>
          </p:nvPr>
        </p:nvSpPr>
        <p:spPr/>
        <p:txBody>
          <a:bodyPr/>
          <a:lstStyle/>
          <a:p>
            <a:fld id="{2CED25D2-51EC-3942-AF1A-495249E301F1}" type="slidenum">
              <a:rPr lang="en-IE" smtClean="0"/>
              <a:t>22</a:t>
            </a:fld>
            <a:endParaRPr lang="en-IE"/>
          </a:p>
        </p:txBody>
      </p:sp>
    </p:spTree>
    <p:extLst>
      <p:ext uri="{BB962C8B-B14F-4D97-AF65-F5344CB8AC3E}">
        <p14:creationId xmlns:p14="http://schemas.microsoft.com/office/powerpoint/2010/main" val="4057938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ctr"/>
          <a:lstStyle>
            <a:lvl1pPr marL="11113" indent="0" algn="ctr">
              <a:tabLst/>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16/03/2026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99698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50000"/>
            </a:schemeClr>
          </a:solidFill>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16/03/2026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8322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EE69FE-388F-5D4C-A4DC-9C723CDC16BB}" type="datetimeFigureOut">
              <a:rPr lang="en-IE" smtClean="0"/>
              <a:t>16/03/2026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63355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E69FE-388F-5D4C-A4DC-9C723CDC16BB}" type="datetimeFigureOut">
              <a:rPr lang="en-IE" smtClean="0"/>
              <a:t>16/03/2026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94924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EE69FE-388F-5D4C-A4DC-9C723CDC16BB}" type="datetimeFigureOut">
              <a:rPr lang="en-IE" smtClean="0"/>
              <a:t>16/03/2026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7401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EE69FE-388F-5D4C-A4DC-9C723CDC16BB}" type="datetimeFigureOut">
              <a:rPr lang="en-IE" smtClean="0"/>
              <a:t>16/03/2026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60343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EE69FE-388F-5D4C-A4DC-9C723CDC16BB}" type="datetimeFigureOut">
              <a:rPr lang="en-IE" smtClean="0"/>
              <a:t>16/03/2026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93790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16/03/2026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204186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16/03/2026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879183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16/03/2026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74739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16/03/2026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56877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325563"/>
          </a:xfrm>
          <a:prstGeom prst="rect">
            <a:avLst/>
          </a:prstGeom>
          <a:solidFill>
            <a:srgbClr val="424242"/>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EE69FE-388F-5D4C-A4DC-9C723CDC16BB}" type="datetimeFigureOut">
              <a:rPr lang="en-IE" smtClean="0"/>
              <a:t>16/03/2026</a:t>
            </a:fld>
            <a:endParaRPr lang="en-I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FC98B2-182F-0F4F-9C10-BF49F2475135}" type="slidenum">
              <a:rPr lang="en-IE" smtClean="0"/>
              <a:t>‹#›</a:t>
            </a:fld>
            <a:endParaRPr lang="en-IE"/>
          </a:p>
        </p:txBody>
      </p:sp>
    </p:spTree>
    <p:extLst>
      <p:ext uri="{BB962C8B-B14F-4D97-AF65-F5344CB8AC3E}">
        <p14:creationId xmlns:p14="http://schemas.microsoft.com/office/powerpoint/2010/main" val="1987886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542925" indent="-7938" algn="l" defTabSz="914400" rtl="0" eaLnBrk="1" latinLnBrk="0" hangingPunct="1">
        <a:lnSpc>
          <a:spcPct val="90000"/>
        </a:lnSpc>
        <a:spcBef>
          <a:spcPct val="0"/>
        </a:spcBef>
        <a:buNone/>
        <a:tabLst/>
        <a:defRPr sz="4400" b="0" i="0" kern="1200">
          <a:solidFill>
            <a:srgbClr val="EBEBEB"/>
          </a:solidFill>
          <a:latin typeface="Helvetica Neue Medium" charset="0"/>
          <a:ea typeface="Helvetica Neue Medium" charset="0"/>
          <a:cs typeface="Helvetica Neue Medium"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b="0" i="0" kern="1200">
          <a:solidFill>
            <a:srgbClr val="212121"/>
          </a:solidFill>
          <a:latin typeface="Helvetica Neue Thin" charset="0"/>
          <a:ea typeface="Helvetica Neue Thin" charset="0"/>
          <a:cs typeface="Helvetica Neue Thin"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rgbClr val="212121"/>
          </a:solidFill>
          <a:latin typeface="Helvetica Neue Thin" charset="0"/>
          <a:ea typeface="Helvetica Neue Thin" charset="0"/>
          <a:cs typeface="Helvetica Neue Thin"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rgbClr val="212121"/>
          </a:solidFill>
          <a:latin typeface="Helvetica Neue Thin" charset="0"/>
          <a:ea typeface="Helvetica Neue Thin" charset="0"/>
          <a:cs typeface="Helvetica Neue Thin"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euters.com/article/us-amazon-com-jobs-automation-insight/amazon-scraps-secret-ai-recruiting-tool-that-showed-bias-against-women-idUSKCN1MK08G"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euronews.com/next/2022/03/08/gender-bias-in-recruitment-how-ai-hiring-tools-are-hindering-women-s-careers"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ethicsinnlp.org/workshop/pdf/EthNLP06.pd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cbc.ca/radio/spark/362-machine-learning-outliers-smart-device-ownership-and-more-1.4279433/ai-s-problem-with-disability-and-diversity-1.427944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tudublin.ie/research-innovation/research/discover-our-research/research-centres/towards-people-oriented-technology/people/postgraduate-researchers/tlamelo-makati-.php"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euronews.com/next/2021/05/26/google-s-new-ai-skincare-tool-may-not-work-on-patients-with-darker-skin-ton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1">
              <a:lumMod val="50000"/>
            </a:schemeClr>
          </a:solidFill>
        </p:spPr>
        <p:txBody>
          <a:bodyPr>
            <a:normAutofit/>
          </a:bodyPr>
          <a:lstStyle/>
          <a:p>
            <a:pPr algn="l"/>
            <a:r>
              <a:rPr lang="en-US" sz="4800" dirty="0"/>
              <a:t>Data Management: </a:t>
            </a:r>
            <a:br>
              <a:rPr lang="en-US" sz="4800" dirty="0"/>
            </a:br>
            <a:r>
              <a:rPr lang="en-US" sz="4800" dirty="0"/>
              <a:t>Data Bias and Exclusion</a:t>
            </a:r>
            <a:endParaRPr lang="en-IE" sz="4800" dirty="0"/>
          </a:p>
        </p:txBody>
      </p:sp>
      <p:sp>
        <p:nvSpPr>
          <p:cNvPr id="3" name="Subtitle 2"/>
          <p:cNvSpPr>
            <a:spLocks noGrp="1"/>
          </p:cNvSpPr>
          <p:nvPr>
            <p:ph type="subTitle" idx="1"/>
          </p:nvPr>
        </p:nvSpPr>
        <p:spPr>
          <a:xfrm>
            <a:off x="685800" y="4340352"/>
            <a:ext cx="6858000" cy="1719071"/>
          </a:xfrm>
        </p:spPr>
        <p:txBody>
          <a:bodyPr>
            <a:normAutofit/>
          </a:bodyPr>
          <a:lstStyle/>
          <a:p>
            <a:pPr algn="l"/>
            <a:r>
              <a:rPr lang="en-US" altLang="en-US" dirty="0"/>
              <a:t> </a:t>
            </a:r>
          </a:p>
          <a:p>
            <a:pPr algn="l"/>
            <a:r>
              <a:rPr lang="en-IE" dirty="0"/>
              <a:t>Dr Emma Murphy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959" y="4092689"/>
            <a:ext cx="2539314" cy="1398322"/>
          </a:xfrm>
          <a:prstGeom prst="rect">
            <a:avLst/>
          </a:prstGeom>
        </p:spPr>
      </p:pic>
    </p:spTree>
    <p:extLst>
      <p:ext uri="{BB962C8B-B14F-4D97-AF65-F5344CB8AC3E}">
        <p14:creationId xmlns:p14="http://schemas.microsoft.com/office/powerpoint/2010/main" val="25503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5B65C-9BE7-1148-A98E-8583D9A99DA7}"/>
              </a:ext>
            </a:extLst>
          </p:cNvPr>
          <p:cNvSpPr>
            <a:spLocks noGrp="1"/>
          </p:cNvSpPr>
          <p:nvPr>
            <p:ph type="title"/>
          </p:nvPr>
        </p:nvSpPr>
        <p:spPr/>
        <p:txBody>
          <a:bodyPr/>
          <a:lstStyle/>
          <a:p>
            <a:r>
              <a:rPr lang="en-US" dirty="0"/>
              <a:t>Headlines</a:t>
            </a:r>
          </a:p>
        </p:txBody>
      </p:sp>
      <p:pic>
        <p:nvPicPr>
          <p:cNvPr id="5" name="Content Placeholder 4" descr="A screenshot of a cell phone&#10;&#10;Description automatically generated">
            <a:extLst>
              <a:ext uri="{FF2B5EF4-FFF2-40B4-BE49-F238E27FC236}">
                <a16:creationId xmlns:a16="http://schemas.microsoft.com/office/drawing/2014/main" id="{18D15F48-EB04-5F42-AE6E-D3DD09C459D6}"/>
              </a:ext>
            </a:extLst>
          </p:cNvPr>
          <p:cNvPicPr>
            <a:picLocks noGrp="1" noChangeAspect="1"/>
          </p:cNvPicPr>
          <p:nvPr>
            <p:ph idx="1"/>
          </p:nvPr>
        </p:nvPicPr>
        <p:blipFill>
          <a:blip r:embed="rId2"/>
          <a:stretch>
            <a:fillRect/>
          </a:stretch>
        </p:blipFill>
        <p:spPr>
          <a:xfrm>
            <a:off x="628650" y="1532171"/>
            <a:ext cx="7886700" cy="3430714"/>
          </a:xfrm>
        </p:spPr>
      </p:pic>
      <p:sp>
        <p:nvSpPr>
          <p:cNvPr id="3" name="TextBox 2">
            <a:extLst>
              <a:ext uri="{FF2B5EF4-FFF2-40B4-BE49-F238E27FC236}">
                <a16:creationId xmlns:a16="http://schemas.microsoft.com/office/drawing/2014/main" id="{56FD0727-5A7F-4F43-AE58-229A9BE64240}"/>
              </a:ext>
            </a:extLst>
          </p:cNvPr>
          <p:cNvSpPr txBox="1"/>
          <p:nvPr/>
        </p:nvSpPr>
        <p:spPr>
          <a:xfrm>
            <a:off x="729049" y="6462584"/>
            <a:ext cx="8042586" cy="230832"/>
          </a:xfrm>
          <a:prstGeom prst="rect">
            <a:avLst/>
          </a:prstGeom>
          <a:noFill/>
        </p:spPr>
        <p:txBody>
          <a:bodyPr wrap="none" rtlCol="0">
            <a:spAutoFit/>
          </a:bodyPr>
          <a:lstStyle/>
          <a:p>
            <a:r>
              <a:rPr lang="en-IE" sz="900" dirty="0">
                <a:hlinkClick r:id="rId3"/>
              </a:rPr>
              <a:t>https://www.reuters.com/article/us-amazon-com-jobs-automation-insight/amazon-scraps-secret-ai-recruiting-tool-that-showed-bias-against-women-idUSKCN1MK08G</a:t>
            </a:r>
            <a:endParaRPr lang="en-US" sz="900" dirty="0"/>
          </a:p>
        </p:txBody>
      </p:sp>
      <p:sp>
        <p:nvSpPr>
          <p:cNvPr id="4" name="TextBox 3">
            <a:extLst>
              <a:ext uri="{FF2B5EF4-FFF2-40B4-BE49-F238E27FC236}">
                <a16:creationId xmlns:a16="http://schemas.microsoft.com/office/drawing/2014/main" id="{FFC16DE5-EFEC-DF48-B577-2862AE7C0ACC}"/>
              </a:ext>
            </a:extLst>
          </p:cNvPr>
          <p:cNvSpPr txBox="1"/>
          <p:nvPr/>
        </p:nvSpPr>
        <p:spPr>
          <a:xfrm>
            <a:off x="1037967" y="5169493"/>
            <a:ext cx="6734433" cy="1815882"/>
          </a:xfrm>
          <a:prstGeom prst="rect">
            <a:avLst/>
          </a:prstGeom>
          <a:noFill/>
        </p:spPr>
        <p:txBody>
          <a:bodyPr wrap="square" rtlCol="0">
            <a:spAutoFit/>
          </a:bodyPr>
          <a:lstStyle/>
          <a:p>
            <a:pPr fontAlgn="base"/>
            <a:r>
              <a:rPr lang="en-IE" sz="1400" dirty="0"/>
              <a:t>…the company realized its new system was not rating candidates for software developer jobs and other technical posts in a gender-neutral way… because Amazon’s computer models were trained to vet applicants by observing patterns in resumes submitted to the company over a 10-year period. Most came from men, a reflection of male dominance across the tech industry….</a:t>
            </a:r>
          </a:p>
          <a:p>
            <a:pPr fontAlgn="base"/>
            <a:br>
              <a:rPr lang="en-IE" sz="1400" dirty="0"/>
            </a:br>
            <a:endParaRPr lang="en-IE" sz="1400" dirty="0"/>
          </a:p>
          <a:p>
            <a:endParaRPr lang="en-US" sz="1400" dirty="0"/>
          </a:p>
        </p:txBody>
      </p:sp>
    </p:spTree>
    <p:extLst>
      <p:ext uri="{BB962C8B-B14F-4D97-AF65-F5344CB8AC3E}">
        <p14:creationId xmlns:p14="http://schemas.microsoft.com/office/powerpoint/2010/main" val="1597008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46525-0F81-174E-8782-AF5F256CCD0C}"/>
              </a:ext>
            </a:extLst>
          </p:cNvPr>
          <p:cNvSpPr>
            <a:spLocks noGrp="1"/>
          </p:cNvSpPr>
          <p:nvPr>
            <p:ph type="title"/>
          </p:nvPr>
        </p:nvSpPr>
        <p:spPr/>
        <p:txBody>
          <a:bodyPr/>
          <a:lstStyle/>
          <a:p>
            <a:r>
              <a:rPr lang="en-US" dirty="0"/>
              <a:t>Headlines</a:t>
            </a:r>
          </a:p>
        </p:txBody>
      </p:sp>
      <p:pic>
        <p:nvPicPr>
          <p:cNvPr id="6" name="Content Placeholder 5" descr="A picture containing text, building&#10;&#10;Description automatically generated">
            <a:extLst>
              <a:ext uri="{FF2B5EF4-FFF2-40B4-BE49-F238E27FC236}">
                <a16:creationId xmlns:a16="http://schemas.microsoft.com/office/drawing/2014/main" id="{8934F961-26B3-914E-AFD2-C209CC7A24A3}"/>
              </a:ext>
            </a:extLst>
          </p:cNvPr>
          <p:cNvPicPr>
            <a:picLocks noGrp="1" noChangeAspect="1"/>
          </p:cNvPicPr>
          <p:nvPr>
            <p:ph idx="1"/>
          </p:nvPr>
        </p:nvPicPr>
        <p:blipFill>
          <a:blip r:embed="rId2"/>
          <a:stretch>
            <a:fillRect/>
          </a:stretch>
        </p:blipFill>
        <p:spPr>
          <a:xfrm>
            <a:off x="1399734" y="1825625"/>
            <a:ext cx="6344531" cy="4351338"/>
          </a:xfrm>
        </p:spPr>
      </p:pic>
      <p:sp>
        <p:nvSpPr>
          <p:cNvPr id="9" name="TextBox 8">
            <a:extLst>
              <a:ext uri="{FF2B5EF4-FFF2-40B4-BE49-F238E27FC236}">
                <a16:creationId xmlns:a16="http://schemas.microsoft.com/office/drawing/2014/main" id="{99F5A411-BD7A-844B-9E00-E3989ED8FB5E}"/>
              </a:ext>
            </a:extLst>
          </p:cNvPr>
          <p:cNvSpPr txBox="1"/>
          <p:nvPr/>
        </p:nvSpPr>
        <p:spPr>
          <a:xfrm>
            <a:off x="2139370" y="6399428"/>
            <a:ext cx="7346197" cy="253916"/>
          </a:xfrm>
          <a:prstGeom prst="rect">
            <a:avLst/>
          </a:prstGeom>
          <a:noFill/>
        </p:spPr>
        <p:txBody>
          <a:bodyPr wrap="square" rtlCol="0">
            <a:spAutoFit/>
          </a:bodyPr>
          <a:lstStyle/>
          <a:p>
            <a:r>
              <a:rPr lang="en-US" sz="1050" dirty="0">
                <a:hlinkClick r:id="rId3"/>
              </a:rPr>
              <a:t>https://www.euronews.com/next/2022/03/08/gender-bias-in-recruitment-how-ai-hiring-tools-are-hindering-women-s-careers</a:t>
            </a:r>
            <a:r>
              <a:rPr lang="en-US" sz="1050" dirty="0"/>
              <a:t> </a:t>
            </a:r>
          </a:p>
        </p:txBody>
      </p:sp>
    </p:spTree>
    <p:extLst>
      <p:ext uri="{BB962C8B-B14F-4D97-AF65-F5344CB8AC3E}">
        <p14:creationId xmlns:p14="http://schemas.microsoft.com/office/powerpoint/2010/main" val="127064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70DEE-2447-834D-8941-B200129CC203}"/>
              </a:ext>
            </a:extLst>
          </p:cNvPr>
          <p:cNvSpPr>
            <a:spLocks noGrp="1"/>
          </p:cNvSpPr>
          <p:nvPr>
            <p:ph type="title"/>
          </p:nvPr>
        </p:nvSpPr>
        <p:spPr/>
        <p:txBody>
          <a:bodyPr/>
          <a:lstStyle/>
          <a:p>
            <a:r>
              <a:rPr lang="en-US" dirty="0"/>
              <a:t>Headlines</a:t>
            </a:r>
          </a:p>
        </p:txBody>
      </p:sp>
      <p:pic>
        <p:nvPicPr>
          <p:cNvPr id="4" name="Picture 3" descr="A screenshot of a social media post&#10;&#10;Description automatically generated">
            <a:extLst>
              <a:ext uri="{FF2B5EF4-FFF2-40B4-BE49-F238E27FC236}">
                <a16:creationId xmlns:a16="http://schemas.microsoft.com/office/drawing/2014/main" id="{FA15470C-38C1-0C42-A541-E2FE815A09B6}"/>
              </a:ext>
            </a:extLst>
          </p:cNvPr>
          <p:cNvPicPr>
            <a:picLocks noChangeAspect="1"/>
          </p:cNvPicPr>
          <p:nvPr/>
        </p:nvPicPr>
        <p:blipFill>
          <a:blip r:embed="rId2"/>
          <a:stretch>
            <a:fillRect/>
          </a:stretch>
        </p:blipFill>
        <p:spPr>
          <a:xfrm>
            <a:off x="1014500" y="1376384"/>
            <a:ext cx="7114997" cy="3329633"/>
          </a:xfrm>
          <a:prstGeom prst="rect">
            <a:avLst/>
          </a:prstGeom>
        </p:spPr>
      </p:pic>
      <p:sp>
        <p:nvSpPr>
          <p:cNvPr id="5" name="TextBox 4">
            <a:extLst>
              <a:ext uri="{FF2B5EF4-FFF2-40B4-BE49-F238E27FC236}">
                <a16:creationId xmlns:a16="http://schemas.microsoft.com/office/drawing/2014/main" id="{B2A9A1CB-A54F-5940-83A2-F852D725BBAB}"/>
              </a:ext>
            </a:extLst>
          </p:cNvPr>
          <p:cNvSpPr txBox="1"/>
          <p:nvPr/>
        </p:nvSpPr>
        <p:spPr>
          <a:xfrm>
            <a:off x="1739878" y="6409258"/>
            <a:ext cx="5664243" cy="646331"/>
          </a:xfrm>
          <a:prstGeom prst="rect">
            <a:avLst/>
          </a:prstGeom>
          <a:noFill/>
        </p:spPr>
        <p:txBody>
          <a:bodyPr wrap="none" rtlCol="0">
            <a:spAutoFit/>
          </a:bodyPr>
          <a:lstStyle/>
          <a:p>
            <a:r>
              <a:rPr lang="en-US" u="sng" dirty="0">
                <a:solidFill>
                  <a:srgbClr val="0000FF"/>
                </a:solidFill>
              </a:rPr>
              <a:t>https://</a:t>
            </a:r>
            <a:r>
              <a:rPr lang="en-US" u="sng" dirty="0" err="1">
                <a:solidFill>
                  <a:srgbClr val="0000FF"/>
                </a:solidFill>
              </a:rPr>
              <a:t>hbr.org</a:t>
            </a:r>
            <a:r>
              <a:rPr lang="en-US" u="sng" dirty="0">
                <a:solidFill>
                  <a:srgbClr val="0000FF"/>
                </a:solidFill>
              </a:rPr>
              <a:t>/2016/12/hiring-algorithms-are-not-neutral</a:t>
            </a:r>
            <a:endParaRPr lang="en-US" dirty="0"/>
          </a:p>
          <a:p>
            <a:endParaRPr lang="en-US" dirty="0"/>
          </a:p>
        </p:txBody>
      </p:sp>
      <p:sp>
        <p:nvSpPr>
          <p:cNvPr id="6" name="TextBox 5">
            <a:extLst>
              <a:ext uri="{FF2B5EF4-FFF2-40B4-BE49-F238E27FC236}">
                <a16:creationId xmlns:a16="http://schemas.microsoft.com/office/drawing/2014/main" id="{151825E8-660F-B649-A360-861A15F9A933}"/>
              </a:ext>
            </a:extLst>
          </p:cNvPr>
          <p:cNvSpPr txBox="1"/>
          <p:nvPr/>
        </p:nvSpPr>
        <p:spPr>
          <a:xfrm>
            <a:off x="898902" y="5223432"/>
            <a:ext cx="7718155" cy="954107"/>
          </a:xfrm>
          <a:prstGeom prst="rect">
            <a:avLst/>
          </a:prstGeom>
          <a:noFill/>
        </p:spPr>
        <p:txBody>
          <a:bodyPr wrap="square" rtlCol="0">
            <a:spAutoFit/>
          </a:bodyPr>
          <a:lstStyle/>
          <a:p>
            <a:r>
              <a:rPr lang="en-IE" sz="1400" dirty="0"/>
              <a:t> When humans build algorithmic screening software, they may unintentionally determine which applicants will be selected or rejected based on outdated information — going back to a time when there were fewer women in the workforce, for example — leading to a legally and morally unacceptable result.</a:t>
            </a:r>
            <a:endParaRPr lang="en-US" sz="1400" dirty="0"/>
          </a:p>
        </p:txBody>
      </p:sp>
    </p:spTree>
    <p:extLst>
      <p:ext uri="{BB962C8B-B14F-4D97-AF65-F5344CB8AC3E}">
        <p14:creationId xmlns:p14="http://schemas.microsoft.com/office/powerpoint/2010/main" val="744681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7A556-4A93-6847-892C-63BCA8F25229}"/>
              </a:ext>
            </a:extLst>
          </p:cNvPr>
          <p:cNvSpPr>
            <a:spLocks noGrp="1"/>
          </p:cNvSpPr>
          <p:nvPr>
            <p:ph type="title"/>
          </p:nvPr>
        </p:nvSpPr>
        <p:spPr/>
        <p:txBody>
          <a:bodyPr/>
          <a:lstStyle/>
          <a:p>
            <a:r>
              <a:rPr lang="en-US" dirty="0"/>
              <a:t>Headlines</a:t>
            </a:r>
          </a:p>
        </p:txBody>
      </p:sp>
      <p:pic>
        <p:nvPicPr>
          <p:cNvPr id="9" name="Content Placeholder 8" descr="A picture containing knife&#10;&#10;Description automatically generated">
            <a:extLst>
              <a:ext uri="{FF2B5EF4-FFF2-40B4-BE49-F238E27FC236}">
                <a16:creationId xmlns:a16="http://schemas.microsoft.com/office/drawing/2014/main" id="{13BB70DC-A6B4-B944-9C34-79038985234C}"/>
              </a:ext>
            </a:extLst>
          </p:cNvPr>
          <p:cNvPicPr>
            <a:picLocks noGrp="1" noChangeAspect="1"/>
          </p:cNvPicPr>
          <p:nvPr>
            <p:ph idx="1"/>
          </p:nvPr>
        </p:nvPicPr>
        <p:blipFill>
          <a:blip r:embed="rId2"/>
          <a:stretch>
            <a:fillRect/>
          </a:stretch>
        </p:blipFill>
        <p:spPr>
          <a:xfrm>
            <a:off x="804014" y="1695820"/>
            <a:ext cx="7886700" cy="2957512"/>
          </a:xfrm>
        </p:spPr>
      </p:pic>
      <p:sp>
        <p:nvSpPr>
          <p:cNvPr id="12" name="TextBox 11">
            <a:extLst>
              <a:ext uri="{FF2B5EF4-FFF2-40B4-BE49-F238E27FC236}">
                <a16:creationId xmlns:a16="http://schemas.microsoft.com/office/drawing/2014/main" id="{A0B336F0-DD47-D54A-90CD-190F50B8C2E2}"/>
              </a:ext>
            </a:extLst>
          </p:cNvPr>
          <p:cNvSpPr txBox="1"/>
          <p:nvPr/>
        </p:nvSpPr>
        <p:spPr>
          <a:xfrm>
            <a:off x="804014" y="6211669"/>
            <a:ext cx="8254632" cy="646331"/>
          </a:xfrm>
          <a:prstGeom prst="rect">
            <a:avLst/>
          </a:prstGeom>
          <a:noFill/>
        </p:spPr>
        <p:txBody>
          <a:bodyPr wrap="none" rtlCol="0">
            <a:spAutoFit/>
          </a:bodyPr>
          <a:lstStyle/>
          <a:p>
            <a:r>
              <a:rPr lang="en-US" u="sng" dirty="0">
                <a:solidFill>
                  <a:srgbClr val="0000FF"/>
                </a:solidFill>
              </a:rPr>
              <a:t>https://</a:t>
            </a:r>
            <a:r>
              <a:rPr lang="en-US" u="sng" dirty="0" err="1">
                <a:solidFill>
                  <a:srgbClr val="0000FF"/>
                </a:solidFill>
              </a:rPr>
              <a:t>hbr.org</a:t>
            </a:r>
            <a:r>
              <a:rPr lang="en-US" u="sng" dirty="0">
                <a:solidFill>
                  <a:srgbClr val="0000FF"/>
                </a:solidFill>
              </a:rPr>
              <a:t>/2019/05/voice-recognition-still-has-significant-race-and-gender-biases</a:t>
            </a:r>
            <a:endParaRPr lang="en-US" dirty="0"/>
          </a:p>
          <a:p>
            <a:endParaRPr lang="en-US" dirty="0"/>
          </a:p>
        </p:txBody>
      </p:sp>
      <p:sp>
        <p:nvSpPr>
          <p:cNvPr id="3" name="TextBox 2">
            <a:extLst>
              <a:ext uri="{FF2B5EF4-FFF2-40B4-BE49-F238E27FC236}">
                <a16:creationId xmlns:a16="http://schemas.microsoft.com/office/drawing/2014/main" id="{940D85A1-0E50-FE44-8039-F5A8B096794A}"/>
              </a:ext>
            </a:extLst>
          </p:cNvPr>
          <p:cNvSpPr txBox="1"/>
          <p:nvPr/>
        </p:nvSpPr>
        <p:spPr>
          <a:xfrm>
            <a:off x="1052874" y="4693836"/>
            <a:ext cx="7038251" cy="738664"/>
          </a:xfrm>
          <a:prstGeom prst="rect">
            <a:avLst/>
          </a:prstGeom>
          <a:noFill/>
        </p:spPr>
        <p:txBody>
          <a:bodyPr wrap="square" rtlCol="0">
            <a:spAutoFit/>
          </a:bodyPr>
          <a:lstStyle/>
          <a:p>
            <a:r>
              <a:rPr lang="en-IE" sz="1400" dirty="0">
                <a:hlinkClick r:id="rId3"/>
              </a:rPr>
              <a:t>Research</a:t>
            </a:r>
            <a:r>
              <a:rPr lang="en-IE" sz="1400" dirty="0"/>
              <a:t> by </a:t>
            </a:r>
            <a:r>
              <a:rPr lang="en-IE" sz="1400" dirty="0" err="1"/>
              <a:t>Dr.</a:t>
            </a:r>
            <a:r>
              <a:rPr lang="en-IE" sz="1400" dirty="0"/>
              <a:t> </a:t>
            </a:r>
            <a:r>
              <a:rPr lang="en-IE" sz="1400" dirty="0" err="1"/>
              <a:t>Tatman</a:t>
            </a:r>
            <a:r>
              <a:rPr lang="en-IE" sz="1400" dirty="0"/>
              <a:t> published by the North American Chapter of the Association for Computational Linguistics (NAACL) indicates that Google’s speech recognition is 13% more accurate for men than it is for women. </a:t>
            </a:r>
            <a:endParaRPr lang="en-US" sz="1400" dirty="0"/>
          </a:p>
        </p:txBody>
      </p:sp>
    </p:spTree>
    <p:extLst>
      <p:ext uri="{BB962C8B-B14F-4D97-AF65-F5344CB8AC3E}">
        <p14:creationId xmlns:p14="http://schemas.microsoft.com/office/powerpoint/2010/main" val="184288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8E65-86C1-9142-9A01-DAEA67C541EE}"/>
              </a:ext>
            </a:extLst>
          </p:cNvPr>
          <p:cNvSpPr>
            <a:spLocks noGrp="1"/>
          </p:cNvSpPr>
          <p:nvPr>
            <p:ph type="title"/>
          </p:nvPr>
        </p:nvSpPr>
        <p:spPr/>
        <p:txBody>
          <a:bodyPr/>
          <a:lstStyle/>
          <a:p>
            <a:r>
              <a:rPr lang="en-US" dirty="0"/>
              <a:t>Data and discrimination</a:t>
            </a:r>
          </a:p>
        </p:txBody>
      </p:sp>
      <p:sp>
        <p:nvSpPr>
          <p:cNvPr id="3" name="Content Placeholder 2">
            <a:extLst>
              <a:ext uri="{FF2B5EF4-FFF2-40B4-BE49-F238E27FC236}">
                <a16:creationId xmlns:a16="http://schemas.microsoft.com/office/drawing/2014/main" id="{70D2AF13-E19B-4F48-9FF2-6F6C9F754519}"/>
              </a:ext>
            </a:extLst>
          </p:cNvPr>
          <p:cNvSpPr>
            <a:spLocks noGrp="1"/>
          </p:cNvSpPr>
          <p:nvPr>
            <p:ph idx="1"/>
          </p:nvPr>
        </p:nvSpPr>
        <p:spPr/>
        <p:txBody>
          <a:bodyPr/>
          <a:lstStyle/>
          <a:p>
            <a:pPr>
              <a:lnSpc>
                <a:spcPct val="100000"/>
              </a:lnSpc>
              <a:buFont typeface="Arial"/>
              <a:buChar char="•"/>
            </a:pPr>
            <a:r>
              <a:rPr lang="en-US" dirty="0">
                <a:solidFill>
                  <a:srgbClr val="000000"/>
                </a:solidFill>
                <a:latin typeface="Calibri"/>
              </a:rPr>
              <a:t>Machine learning classifiers train themselves on historical datasets</a:t>
            </a:r>
            <a:endParaRPr lang="en-US" dirty="0"/>
          </a:p>
          <a:p>
            <a:pPr>
              <a:lnSpc>
                <a:spcPct val="100000"/>
              </a:lnSpc>
              <a:buFont typeface="Arial"/>
              <a:buChar char="•"/>
            </a:pPr>
            <a:r>
              <a:rPr lang="en-US" dirty="0">
                <a:solidFill>
                  <a:srgbClr val="000000"/>
                </a:solidFill>
                <a:latin typeface="Calibri"/>
              </a:rPr>
              <a:t>Any problems with data become problems for the classifiers</a:t>
            </a:r>
            <a:endParaRPr lang="en-US" dirty="0"/>
          </a:p>
          <a:p>
            <a:pPr>
              <a:lnSpc>
                <a:spcPct val="100000"/>
              </a:lnSpc>
              <a:buFont typeface="Arial"/>
              <a:buChar char="•"/>
            </a:pPr>
            <a:r>
              <a:rPr lang="en-US" dirty="0">
                <a:solidFill>
                  <a:srgbClr val="000000"/>
                </a:solidFill>
                <a:latin typeface="Calibri"/>
              </a:rPr>
              <a:t>These problems lead to exclusion or poor representation or poor performance especially when dealing with minorities</a:t>
            </a:r>
            <a:endParaRPr lang="en-US" dirty="0"/>
          </a:p>
          <a:p>
            <a:pPr marL="0" indent="0">
              <a:buNone/>
            </a:pPr>
            <a:endParaRPr lang="en-US" dirty="0"/>
          </a:p>
        </p:txBody>
      </p:sp>
    </p:spTree>
    <p:extLst>
      <p:ext uri="{BB962C8B-B14F-4D97-AF65-F5344CB8AC3E}">
        <p14:creationId xmlns:p14="http://schemas.microsoft.com/office/powerpoint/2010/main" val="186750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E735-A53E-B44F-88F4-547D4C53ADBE}"/>
              </a:ext>
            </a:extLst>
          </p:cNvPr>
          <p:cNvSpPr>
            <a:spLocks noGrp="1"/>
          </p:cNvSpPr>
          <p:nvPr>
            <p:ph type="title"/>
          </p:nvPr>
        </p:nvSpPr>
        <p:spPr/>
        <p:txBody>
          <a:bodyPr>
            <a:normAutofit/>
          </a:bodyPr>
          <a:lstStyle/>
          <a:p>
            <a:r>
              <a:rPr lang="en-US" dirty="0">
                <a:solidFill>
                  <a:schemeClr val="bg1"/>
                </a:solidFill>
                <a:latin typeface="Calibri"/>
              </a:rPr>
              <a:t>Stages in typical Machine Learning Application</a:t>
            </a:r>
            <a:endParaRPr lang="en-US" dirty="0">
              <a:solidFill>
                <a:schemeClr val="bg1"/>
              </a:solidFill>
            </a:endParaRPr>
          </a:p>
        </p:txBody>
      </p:sp>
      <p:sp>
        <p:nvSpPr>
          <p:cNvPr id="4" name="CustomShape 2">
            <a:extLst>
              <a:ext uri="{FF2B5EF4-FFF2-40B4-BE49-F238E27FC236}">
                <a16:creationId xmlns:a16="http://schemas.microsoft.com/office/drawing/2014/main" id="{9813F3A7-470F-6046-9ABA-81D0E4C2ECE7}"/>
              </a:ext>
            </a:extLst>
          </p:cNvPr>
          <p:cNvSpPr/>
          <p:nvPr/>
        </p:nvSpPr>
        <p:spPr>
          <a:xfrm>
            <a:off x="1074240" y="1600200"/>
            <a:ext cx="6994800" cy="4525560"/>
          </a:xfrm>
          <a:prstGeom prst="rightArrow">
            <a:avLst>
              <a:gd name="adj1" fmla="val 50000"/>
              <a:gd name="adj2" fmla="val 50000"/>
            </a:avLst>
          </a:prstGeom>
          <a:solidFill>
            <a:schemeClr val="accent4">
              <a:tint val="40000"/>
              <a:hueOff val="0"/>
              <a:satOff val="0"/>
              <a:lumOff val="0"/>
              <a:alphaOff val="0"/>
            </a:schemeClr>
          </a:solidFill>
          <a:ln>
            <a:noFill/>
          </a:ln>
        </p:spPr>
        <p:style>
          <a:lnRef idx="0">
            <a:scrgbClr r="0" g="0" b="0"/>
          </a:lnRef>
          <a:fillRef idx="0">
            <a:scrgbClr r="0" g="0" b="0"/>
          </a:fillRef>
          <a:effectRef idx="0">
            <a:scrgbClr r="0" g="0" b="0"/>
          </a:effectRef>
          <a:fontRef idx="minor"/>
        </p:style>
        <p:txBody>
          <a:bodyPr/>
          <a:lstStyle/>
          <a:p>
            <a:endParaRPr lang="en-US"/>
          </a:p>
        </p:txBody>
      </p:sp>
      <p:sp>
        <p:nvSpPr>
          <p:cNvPr id="5" name="CustomShape 3">
            <a:extLst>
              <a:ext uri="{FF2B5EF4-FFF2-40B4-BE49-F238E27FC236}">
                <a16:creationId xmlns:a16="http://schemas.microsoft.com/office/drawing/2014/main" id="{85588D3D-6D3D-AA48-A01F-B457BCF7C68C}"/>
              </a:ext>
            </a:extLst>
          </p:cNvPr>
          <p:cNvSpPr/>
          <p:nvPr/>
        </p:nvSpPr>
        <p:spPr>
          <a:xfrm>
            <a:off x="461160" y="2958120"/>
            <a:ext cx="1980720" cy="1810080"/>
          </a:xfrm>
          <a:prstGeom prst="roundRect">
            <a:avLst>
              <a:gd name="adj" fmla="val 16667"/>
            </a:avLst>
          </a:prstGeom>
          <a:solidFill>
            <a:schemeClr val="accent4">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2040" tIns="210240" rIns="122040" bIns="210600" anchor="ctr"/>
          <a:lstStyle/>
          <a:p>
            <a:pPr algn="ctr">
              <a:lnSpc>
                <a:spcPct val="90000"/>
              </a:lnSpc>
            </a:pPr>
            <a:r>
              <a:rPr lang="en-IE" sz="3200" strike="noStrike">
                <a:solidFill>
                  <a:srgbClr val="FFFFFF"/>
                </a:solidFill>
                <a:latin typeface="Calibri"/>
              </a:rPr>
              <a:t>Gather Data</a:t>
            </a:r>
            <a:endParaRPr/>
          </a:p>
        </p:txBody>
      </p:sp>
      <p:sp>
        <p:nvSpPr>
          <p:cNvPr id="6" name="CustomShape 4">
            <a:extLst>
              <a:ext uri="{FF2B5EF4-FFF2-40B4-BE49-F238E27FC236}">
                <a16:creationId xmlns:a16="http://schemas.microsoft.com/office/drawing/2014/main" id="{4886E76F-B91C-5D43-BA8E-F06AB3E0C1A8}"/>
              </a:ext>
            </a:extLst>
          </p:cNvPr>
          <p:cNvSpPr/>
          <p:nvPr/>
        </p:nvSpPr>
        <p:spPr>
          <a:xfrm>
            <a:off x="2541600" y="2958120"/>
            <a:ext cx="1980720" cy="1810080"/>
          </a:xfrm>
          <a:prstGeom prst="roundRect">
            <a:avLst>
              <a:gd name="adj" fmla="val 16667"/>
            </a:avLst>
          </a:prstGeom>
          <a:solidFill>
            <a:schemeClr val="accent4">
              <a:hueOff val="-1488257"/>
              <a:satOff val="8966"/>
              <a:lumOff val="71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2040" tIns="210240" rIns="122040" bIns="210600" anchor="ctr"/>
          <a:lstStyle/>
          <a:p>
            <a:pPr algn="ctr">
              <a:lnSpc>
                <a:spcPct val="90000"/>
              </a:lnSpc>
            </a:pPr>
            <a:r>
              <a:rPr lang="en-IE" sz="3200" strike="noStrike">
                <a:solidFill>
                  <a:srgbClr val="FFFFFF"/>
                </a:solidFill>
                <a:latin typeface="Calibri"/>
              </a:rPr>
              <a:t>Pre-process Data</a:t>
            </a:r>
            <a:endParaRPr/>
          </a:p>
        </p:txBody>
      </p:sp>
      <p:sp>
        <p:nvSpPr>
          <p:cNvPr id="7" name="CustomShape 5">
            <a:extLst>
              <a:ext uri="{FF2B5EF4-FFF2-40B4-BE49-F238E27FC236}">
                <a16:creationId xmlns:a16="http://schemas.microsoft.com/office/drawing/2014/main" id="{4150E25A-9E45-2B41-8657-7EFE30CDE777}"/>
              </a:ext>
            </a:extLst>
          </p:cNvPr>
          <p:cNvSpPr/>
          <p:nvPr/>
        </p:nvSpPr>
        <p:spPr>
          <a:xfrm>
            <a:off x="4621680" y="2958120"/>
            <a:ext cx="1980720" cy="1810080"/>
          </a:xfrm>
          <a:prstGeom prst="roundRect">
            <a:avLst>
              <a:gd name="adj" fmla="val 16667"/>
            </a:avLst>
          </a:prstGeom>
          <a:solidFill>
            <a:schemeClr val="accent4">
              <a:hueOff val="-2976513"/>
              <a:satOff val="17933"/>
              <a:lumOff val="1437"/>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2040" tIns="210240" rIns="122040" bIns="210600" anchor="ctr"/>
          <a:lstStyle/>
          <a:p>
            <a:pPr algn="ctr">
              <a:lnSpc>
                <a:spcPct val="90000"/>
              </a:lnSpc>
            </a:pPr>
            <a:r>
              <a:rPr lang="en-IE" sz="3200" strike="noStrike" dirty="0">
                <a:solidFill>
                  <a:srgbClr val="FFFFFF"/>
                </a:solidFill>
                <a:latin typeface="Calibri"/>
              </a:rPr>
              <a:t>Train and Test ML Model</a:t>
            </a:r>
            <a:endParaRPr dirty="0"/>
          </a:p>
        </p:txBody>
      </p:sp>
      <p:sp>
        <p:nvSpPr>
          <p:cNvPr id="8" name="CustomShape 6">
            <a:extLst>
              <a:ext uri="{FF2B5EF4-FFF2-40B4-BE49-F238E27FC236}">
                <a16:creationId xmlns:a16="http://schemas.microsoft.com/office/drawing/2014/main" id="{7B8BE075-CC15-B347-AA00-B7CA18E3105E}"/>
              </a:ext>
            </a:extLst>
          </p:cNvPr>
          <p:cNvSpPr/>
          <p:nvPr/>
        </p:nvSpPr>
        <p:spPr>
          <a:xfrm>
            <a:off x="6701760" y="2958120"/>
            <a:ext cx="1980720" cy="1810080"/>
          </a:xfrm>
          <a:prstGeom prst="roundRect">
            <a:avLst>
              <a:gd name="adj" fmla="val 16667"/>
            </a:avLst>
          </a:prstGeom>
          <a:solidFill>
            <a:schemeClr val="accent4">
              <a:hueOff val="-4464770"/>
              <a:satOff val="26899"/>
              <a:lumOff val="2156"/>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122040" tIns="210240" rIns="122040" bIns="210600" anchor="ctr"/>
          <a:lstStyle/>
          <a:p>
            <a:pPr algn="ctr">
              <a:lnSpc>
                <a:spcPct val="90000"/>
              </a:lnSpc>
            </a:pPr>
            <a:r>
              <a:rPr lang="en-IE" sz="3200" strike="noStrike">
                <a:solidFill>
                  <a:srgbClr val="FFFFFF"/>
                </a:solidFill>
                <a:latin typeface="Calibri"/>
              </a:rPr>
              <a:t>Deploy Model</a:t>
            </a:r>
            <a:endParaRPr/>
          </a:p>
        </p:txBody>
      </p:sp>
    </p:spTree>
    <p:extLst>
      <p:ext uri="{BB962C8B-B14F-4D97-AF65-F5344CB8AC3E}">
        <p14:creationId xmlns:p14="http://schemas.microsoft.com/office/powerpoint/2010/main" val="2256801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686B8-6BD8-C44C-AD57-73A44F07A6F5}"/>
              </a:ext>
            </a:extLst>
          </p:cNvPr>
          <p:cNvSpPr>
            <a:spLocks noGrp="1"/>
          </p:cNvSpPr>
          <p:nvPr>
            <p:ph type="title"/>
          </p:nvPr>
        </p:nvSpPr>
        <p:spPr/>
        <p:txBody>
          <a:bodyPr/>
          <a:lstStyle/>
          <a:p>
            <a:r>
              <a:rPr lang="en-US" dirty="0"/>
              <a:t>Areas of Discrimination</a:t>
            </a:r>
          </a:p>
        </p:txBody>
      </p:sp>
      <p:sp>
        <p:nvSpPr>
          <p:cNvPr id="3" name="Content Placeholder 2">
            <a:extLst>
              <a:ext uri="{FF2B5EF4-FFF2-40B4-BE49-F238E27FC236}">
                <a16:creationId xmlns:a16="http://schemas.microsoft.com/office/drawing/2014/main" id="{EF270C7E-5E81-4844-9C49-4F41E066BEB4}"/>
              </a:ext>
            </a:extLst>
          </p:cNvPr>
          <p:cNvSpPr>
            <a:spLocks noGrp="1"/>
          </p:cNvSpPr>
          <p:nvPr>
            <p:ph idx="1"/>
          </p:nvPr>
        </p:nvSpPr>
        <p:spPr/>
        <p:txBody>
          <a:bodyPr>
            <a:normAutofit/>
          </a:bodyPr>
          <a:lstStyle/>
          <a:p>
            <a:pPr marL="0" indent="0">
              <a:lnSpc>
                <a:spcPct val="100000"/>
              </a:lnSpc>
              <a:buNone/>
            </a:pPr>
            <a:r>
              <a:rPr lang="en-US" dirty="0">
                <a:solidFill>
                  <a:srgbClr val="000000"/>
                </a:solidFill>
                <a:latin typeface="Calibri"/>
              </a:rPr>
              <a:t>Areas of concern where discrimination is possible</a:t>
            </a:r>
            <a:endParaRPr lang="en-US" dirty="0"/>
          </a:p>
          <a:p>
            <a:pPr>
              <a:lnSpc>
                <a:spcPct val="100000"/>
              </a:lnSpc>
              <a:buFont typeface="Arial"/>
              <a:buChar char="•"/>
            </a:pPr>
            <a:r>
              <a:rPr lang="en-US" dirty="0">
                <a:solidFill>
                  <a:srgbClr val="000000"/>
                </a:solidFill>
                <a:latin typeface="Calibri"/>
              </a:rPr>
              <a:t>Access to Credit</a:t>
            </a:r>
            <a:endParaRPr lang="en-US" dirty="0"/>
          </a:p>
          <a:p>
            <a:pPr>
              <a:lnSpc>
                <a:spcPct val="100000"/>
              </a:lnSpc>
              <a:buFont typeface="Arial"/>
              <a:buChar char="•"/>
            </a:pPr>
            <a:r>
              <a:rPr lang="en-US" dirty="0">
                <a:solidFill>
                  <a:srgbClr val="000000"/>
                </a:solidFill>
                <a:latin typeface="Calibri"/>
              </a:rPr>
              <a:t>Access to Employment</a:t>
            </a:r>
            <a:endParaRPr lang="en-US" dirty="0"/>
          </a:p>
          <a:p>
            <a:pPr>
              <a:lnSpc>
                <a:spcPct val="100000"/>
              </a:lnSpc>
              <a:buFont typeface="Arial"/>
              <a:buChar char="•"/>
            </a:pPr>
            <a:r>
              <a:rPr lang="en-US" dirty="0">
                <a:solidFill>
                  <a:srgbClr val="000000"/>
                </a:solidFill>
                <a:latin typeface="Calibri"/>
              </a:rPr>
              <a:t>Access to Higher Education</a:t>
            </a:r>
            <a:endParaRPr lang="en-US" dirty="0"/>
          </a:p>
          <a:p>
            <a:pPr>
              <a:lnSpc>
                <a:spcPct val="100000"/>
              </a:lnSpc>
              <a:buFont typeface="Arial"/>
              <a:buChar char="•"/>
            </a:pPr>
            <a:r>
              <a:rPr lang="en-US" dirty="0">
                <a:solidFill>
                  <a:srgbClr val="000000"/>
                </a:solidFill>
                <a:latin typeface="Calibri"/>
              </a:rPr>
              <a:t>Criminal Justice</a:t>
            </a:r>
            <a:endParaRPr lang="en-US" dirty="0"/>
          </a:p>
          <a:p>
            <a:endParaRPr lang="en-US" dirty="0"/>
          </a:p>
        </p:txBody>
      </p:sp>
      <p:sp>
        <p:nvSpPr>
          <p:cNvPr id="4" name="TextBox 3">
            <a:extLst>
              <a:ext uri="{FF2B5EF4-FFF2-40B4-BE49-F238E27FC236}">
                <a16:creationId xmlns:a16="http://schemas.microsoft.com/office/drawing/2014/main" id="{AAB7EACF-487C-C24F-818B-FB379EF52326}"/>
              </a:ext>
            </a:extLst>
          </p:cNvPr>
          <p:cNvSpPr txBox="1"/>
          <p:nvPr/>
        </p:nvSpPr>
        <p:spPr>
          <a:xfrm>
            <a:off x="3845490" y="6551112"/>
            <a:ext cx="3542829" cy="369332"/>
          </a:xfrm>
          <a:prstGeom prst="rect">
            <a:avLst/>
          </a:prstGeom>
          <a:noFill/>
        </p:spPr>
        <p:txBody>
          <a:bodyPr wrap="none" rtlCol="0">
            <a:spAutoFit/>
          </a:bodyPr>
          <a:lstStyle/>
          <a:p>
            <a:r>
              <a:rPr lang="en-US" dirty="0"/>
              <a:t>(Obama White House Report, 2016)</a:t>
            </a:r>
          </a:p>
        </p:txBody>
      </p:sp>
    </p:spTree>
    <p:extLst>
      <p:ext uri="{BB962C8B-B14F-4D97-AF65-F5344CB8AC3E}">
        <p14:creationId xmlns:p14="http://schemas.microsoft.com/office/powerpoint/2010/main" val="1042789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A8F11-7852-484F-A0EE-77665AB231BD}"/>
              </a:ext>
            </a:extLst>
          </p:cNvPr>
          <p:cNvSpPr>
            <a:spLocks noGrp="1"/>
          </p:cNvSpPr>
          <p:nvPr>
            <p:ph type="title"/>
          </p:nvPr>
        </p:nvSpPr>
        <p:spPr/>
        <p:txBody>
          <a:bodyPr/>
          <a:lstStyle/>
          <a:p>
            <a:r>
              <a:rPr lang="en-US" dirty="0"/>
              <a:t>Preventing Discrimination</a:t>
            </a:r>
          </a:p>
        </p:txBody>
      </p:sp>
      <p:sp>
        <p:nvSpPr>
          <p:cNvPr id="3" name="Content Placeholder 2">
            <a:extLst>
              <a:ext uri="{FF2B5EF4-FFF2-40B4-BE49-F238E27FC236}">
                <a16:creationId xmlns:a16="http://schemas.microsoft.com/office/drawing/2014/main" id="{11CDF1F6-90ED-8644-A06B-956D8419B2DE}"/>
              </a:ext>
            </a:extLst>
          </p:cNvPr>
          <p:cNvSpPr>
            <a:spLocks noGrp="1"/>
          </p:cNvSpPr>
          <p:nvPr>
            <p:ph idx="1"/>
          </p:nvPr>
        </p:nvSpPr>
        <p:spPr/>
        <p:txBody>
          <a:bodyPr/>
          <a:lstStyle/>
          <a:p>
            <a:pPr marL="0" indent="0">
              <a:lnSpc>
                <a:spcPct val="100000"/>
              </a:lnSpc>
              <a:buNone/>
            </a:pPr>
            <a:r>
              <a:rPr lang="en-US" dirty="0">
                <a:solidFill>
                  <a:srgbClr val="000000"/>
                </a:solidFill>
                <a:latin typeface="Calibri"/>
              </a:rPr>
              <a:t>Recommendations</a:t>
            </a:r>
            <a:endParaRPr lang="en-US" dirty="0"/>
          </a:p>
          <a:p>
            <a:pPr marL="514350" indent="-514350">
              <a:lnSpc>
                <a:spcPct val="100000"/>
              </a:lnSpc>
              <a:buFont typeface="+mj-lt"/>
              <a:buAutoNum type="arabicPeriod"/>
            </a:pPr>
            <a:r>
              <a:rPr lang="en-US" dirty="0">
                <a:solidFill>
                  <a:srgbClr val="000000"/>
                </a:solidFill>
                <a:latin typeface="Calibri"/>
              </a:rPr>
              <a:t>Active Inclusion</a:t>
            </a:r>
            <a:endParaRPr lang="en-US" dirty="0"/>
          </a:p>
          <a:p>
            <a:pPr marL="514350" indent="-514350">
              <a:lnSpc>
                <a:spcPct val="100000"/>
              </a:lnSpc>
              <a:buFont typeface="+mj-lt"/>
              <a:buAutoNum type="arabicPeriod"/>
            </a:pPr>
            <a:r>
              <a:rPr lang="en-US" dirty="0">
                <a:solidFill>
                  <a:srgbClr val="000000"/>
                </a:solidFill>
                <a:latin typeface="Calibri"/>
              </a:rPr>
              <a:t>Fairness</a:t>
            </a:r>
            <a:endParaRPr lang="en-US" dirty="0"/>
          </a:p>
          <a:p>
            <a:pPr marL="514350" indent="-514350">
              <a:lnSpc>
                <a:spcPct val="100000"/>
              </a:lnSpc>
              <a:buFont typeface="+mj-lt"/>
              <a:buAutoNum type="arabicPeriod"/>
            </a:pPr>
            <a:r>
              <a:rPr lang="en-US" dirty="0">
                <a:solidFill>
                  <a:srgbClr val="000000"/>
                </a:solidFill>
                <a:latin typeface="Calibri"/>
              </a:rPr>
              <a:t>Right To Understanding</a:t>
            </a:r>
            <a:endParaRPr lang="en-US" dirty="0"/>
          </a:p>
          <a:p>
            <a:pPr marL="514350" indent="-514350">
              <a:lnSpc>
                <a:spcPct val="100000"/>
              </a:lnSpc>
              <a:buFont typeface="+mj-lt"/>
              <a:buAutoNum type="arabicPeriod"/>
            </a:pPr>
            <a:r>
              <a:rPr lang="en-US" dirty="0">
                <a:solidFill>
                  <a:srgbClr val="000000"/>
                </a:solidFill>
                <a:latin typeface="Calibri"/>
              </a:rPr>
              <a:t>Access to Redress</a:t>
            </a:r>
            <a:endParaRPr lang="en-US" dirty="0"/>
          </a:p>
          <a:p>
            <a:pPr marL="0" indent="0">
              <a:buNone/>
            </a:pPr>
            <a:endParaRPr lang="en-US" dirty="0">
              <a:solidFill>
                <a:srgbClr val="000000"/>
              </a:solidFill>
              <a:latin typeface="Calibri"/>
            </a:endParaRPr>
          </a:p>
          <a:p>
            <a:pPr marL="0" indent="0">
              <a:buNone/>
            </a:pPr>
            <a:r>
              <a:rPr lang="en-US" dirty="0">
                <a:solidFill>
                  <a:srgbClr val="000000"/>
                </a:solidFill>
                <a:latin typeface="Calibri"/>
              </a:rPr>
              <a:t>(World Economic Forum, 2018)</a:t>
            </a:r>
            <a:endParaRPr lang="en-US" dirty="0"/>
          </a:p>
        </p:txBody>
      </p:sp>
    </p:spTree>
    <p:extLst>
      <p:ext uri="{BB962C8B-B14F-4D97-AF65-F5344CB8AC3E}">
        <p14:creationId xmlns:p14="http://schemas.microsoft.com/office/powerpoint/2010/main" val="308139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4169F-DA96-5143-8E97-88E52BFCD9C6}"/>
              </a:ext>
            </a:extLst>
          </p:cNvPr>
          <p:cNvSpPr>
            <a:spLocks noGrp="1"/>
          </p:cNvSpPr>
          <p:nvPr>
            <p:ph type="title"/>
          </p:nvPr>
        </p:nvSpPr>
        <p:spPr/>
        <p:txBody>
          <a:bodyPr/>
          <a:lstStyle/>
          <a:p>
            <a:r>
              <a:rPr lang="en-US" dirty="0"/>
              <a:t>Preventing Discrimination</a:t>
            </a:r>
          </a:p>
        </p:txBody>
      </p:sp>
      <p:sp>
        <p:nvSpPr>
          <p:cNvPr id="3" name="Content Placeholder 2">
            <a:extLst>
              <a:ext uri="{FF2B5EF4-FFF2-40B4-BE49-F238E27FC236}">
                <a16:creationId xmlns:a16="http://schemas.microsoft.com/office/drawing/2014/main" id="{4C60479B-4335-E941-8928-8F235D724190}"/>
              </a:ext>
            </a:extLst>
          </p:cNvPr>
          <p:cNvSpPr>
            <a:spLocks noGrp="1"/>
          </p:cNvSpPr>
          <p:nvPr>
            <p:ph idx="1"/>
          </p:nvPr>
        </p:nvSpPr>
        <p:spPr/>
        <p:txBody>
          <a:bodyPr>
            <a:normAutofit/>
          </a:bodyPr>
          <a:lstStyle/>
          <a:p>
            <a:pPr>
              <a:lnSpc>
                <a:spcPct val="100000"/>
              </a:lnSpc>
              <a:buFont typeface="Arial"/>
              <a:buChar char="•"/>
            </a:pPr>
            <a:r>
              <a:rPr lang="en-US" b="1" dirty="0">
                <a:solidFill>
                  <a:srgbClr val="000000"/>
                </a:solidFill>
                <a:latin typeface="Calibri"/>
              </a:rPr>
              <a:t>Active Inclusion:</a:t>
            </a:r>
            <a:r>
              <a:rPr lang="en-US" dirty="0">
                <a:solidFill>
                  <a:srgbClr val="000000"/>
                </a:solidFill>
                <a:latin typeface="Calibri"/>
              </a:rPr>
              <a:t> The development and design of ML applications must actively seek a diversity of input, especially of the norms and values of specific populations affected by the output of AI systems. </a:t>
            </a:r>
            <a:endParaRPr lang="en-US" dirty="0"/>
          </a:p>
          <a:p>
            <a:endParaRPr lang="en-US" dirty="0"/>
          </a:p>
        </p:txBody>
      </p:sp>
      <p:sp>
        <p:nvSpPr>
          <p:cNvPr id="5" name="TextBox 4">
            <a:extLst>
              <a:ext uri="{FF2B5EF4-FFF2-40B4-BE49-F238E27FC236}">
                <a16:creationId xmlns:a16="http://schemas.microsoft.com/office/drawing/2014/main" id="{2E34F9FE-9DCA-21D3-BE66-C94033B2EC3B}"/>
              </a:ext>
            </a:extLst>
          </p:cNvPr>
          <p:cNvSpPr txBox="1"/>
          <p:nvPr/>
        </p:nvSpPr>
        <p:spPr>
          <a:xfrm>
            <a:off x="4482935" y="6307693"/>
            <a:ext cx="4572000" cy="369332"/>
          </a:xfrm>
          <a:prstGeom prst="rect">
            <a:avLst/>
          </a:prstGeom>
          <a:noFill/>
        </p:spPr>
        <p:txBody>
          <a:bodyPr wrap="square">
            <a:spAutoFit/>
          </a:bodyPr>
          <a:lstStyle/>
          <a:p>
            <a:pPr marL="0" indent="0">
              <a:buNone/>
            </a:pPr>
            <a:r>
              <a:rPr lang="en-US" dirty="0">
                <a:solidFill>
                  <a:srgbClr val="000000"/>
                </a:solidFill>
                <a:latin typeface="Calibri"/>
              </a:rPr>
              <a:t>(World Economic Forum, 2018)</a:t>
            </a:r>
            <a:endParaRPr lang="en-US" dirty="0"/>
          </a:p>
        </p:txBody>
      </p:sp>
    </p:spTree>
    <p:extLst>
      <p:ext uri="{BB962C8B-B14F-4D97-AF65-F5344CB8AC3E}">
        <p14:creationId xmlns:p14="http://schemas.microsoft.com/office/powerpoint/2010/main" val="716383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4169F-DA96-5143-8E97-88E52BFCD9C6}"/>
              </a:ext>
            </a:extLst>
          </p:cNvPr>
          <p:cNvSpPr>
            <a:spLocks noGrp="1"/>
          </p:cNvSpPr>
          <p:nvPr>
            <p:ph type="title"/>
          </p:nvPr>
        </p:nvSpPr>
        <p:spPr/>
        <p:txBody>
          <a:bodyPr/>
          <a:lstStyle/>
          <a:p>
            <a:r>
              <a:rPr lang="en-US" dirty="0"/>
              <a:t>Preventing Discrimination</a:t>
            </a:r>
          </a:p>
        </p:txBody>
      </p:sp>
      <p:sp>
        <p:nvSpPr>
          <p:cNvPr id="3" name="Content Placeholder 2">
            <a:extLst>
              <a:ext uri="{FF2B5EF4-FFF2-40B4-BE49-F238E27FC236}">
                <a16:creationId xmlns:a16="http://schemas.microsoft.com/office/drawing/2014/main" id="{4C60479B-4335-E941-8928-8F235D724190}"/>
              </a:ext>
            </a:extLst>
          </p:cNvPr>
          <p:cNvSpPr>
            <a:spLocks noGrp="1"/>
          </p:cNvSpPr>
          <p:nvPr>
            <p:ph idx="1"/>
          </p:nvPr>
        </p:nvSpPr>
        <p:spPr/>
        <p:txBody>
          <a:bodyPr>
            <a:normAutofit/>
          </a:bodyPr>
          <a:lstStyle/>
          <a:p>
            <a:pPr>
              <a:lnSpc>
                <a:spcPct val="100000"/>
              </a:lnSpc>
            </a:pPr>
            <a:r>
              <a:rPr lang="en-US" b="1" dirty="0">
                <a:solidFill>
                  <a:srgbClr val="000000"/>
                </a:solidFill>
                <a:latin typeface="Calibri"/>
              </a:rPr>
              <a:t>Fairness:</a:t>
            </a:r>
            <a:r>
              <a:rPr lang="en-US" dirty="0">
                <a:solidFill>
                  <a:srgbClr val="000000"/>
                </a:solidFill>
                <a:latin typeface="Calibri"/>
              </a:rPr>
              <a:t> People involved in conceptualizing, developing, and implementing machine learning systems should consider which definition of fairness best applies to their context and application, and prioritize it in the architecture of the machine learning system and its evaluation metrics. </a:t>
            </a:r>
            <a:endParaRPr lang="en-US" dirty="0"/>
          </a:p>
          <a:p>
            <a:pPr>
              <a:lnSpc>
                <a:spcPct val="100000"/>
              </a:lnSpc>
            </a:pPr>
            <a:endParaRPr lang="en-US" dirty="0"/>
          </a:p>
          <a:p>
            <a:endParaRPr lang="en-US" dirty="0"/>
          </a:p>
        </p:txBody>
      </p:sp>
      <p:sp>
        <p:nvSpPr>
          <p:cNvPr id="5" name="TextBox 4">
            <a:extLst>
              <a:ext uri="{FF2B5EF4-FFF2-40B4-BE49-F238E27FC236}">
                <a16:creationId xmlns:a16="http://schemas.microsoft.com/office/drawing/2014/main" id="{30D5776E-C893-249C-5085-9A7680930253}"/>
              </a:ext>
            </a:extLst>
          </p:cNvPr>
          <p:cNvSpPr txBox="1"/>
          <p:nvPr/>
        </p:nvSpPr>
        <p:spPr>
          <a:xfrm>
            <a:off x="5432961" y="6307693"/>
            <a:ext cx="4572000" cy="369332"/>
          </a:xfrm>
          <a:prstGeom prst="rect">
            <a:avLst/>
          </a:prstGeom>
          <a:noFill/>
        </p:spPr>
        <p:txBody>
          <a:bodyPr wrap="square">
            <a:spAutoFit/>
          </a:bodyPr>
          <a:lstStyle/>
          <a:p>
            <a:pPr marL="0" indent="0">
              <a:buNone/>
            </a:pPr>
            <a:r>
              <a:rPr lang="en-US" dirty="0">
                <a:solidFill>
                  <a:srgbClr val="000000"/>
                </a:solidFill>
                <a:latin typeface="Calibri"/>
              </a:rPr>
              <a:t>(World Economic Forum, 2018)</a:t>
            </a:r>
            <a:endParaRPr lang="en-US" dirty="0"/>
          </a:p>
        </p:txBody>
      </p:sp>
    </p:spTree>
    <p:extLst>
      <p:ext uri="{BB962C8B-B14F-4D97-AF65-F5344CB8AC3E}">
        <p14:creationId xmlns:p14="http://schemas.microsoft.com/office/powerpoint/2010/main" val="2928868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B91B9-FE43-0640-9D2D-EF093724637D}"/>
              </a:ext>
            </a:extLst>
          </p:cNvPr>
          <p:cNvSpPr>
            <a:spLocks noGrp="1"/>
          </p:cNvSpPr>
          <p:nvPr>
            <p:ph type="title"/>
          </p:nvPr>
        </p:nvSpPr>
        <p:spPr/>
        <p:txBody>
          <a:bodyPr/>
          <a:lstStyle/>
          <a:p>
            <a:r>
              <a:rPr lang="en-US" dirty="0"/>
              <a:t>Preventing Discrimination</a:t>
            </a:r>
          </a:p>
        </p:txBody>
      </p:sp>
      <p:sp>
        <p:nvSpPr>
          <p:cNvPr id="3" name="Content Placeholder 2">
            <a:extLst>
              <a:ext uri="{FF2B5EF4-FFF2-40B4-BE49-F238E27FC236}">
                <a16:creationId xmlns:a16="http://schemas.microsoft.com/office/drawing/2014/main" id="{470DFF3E-4368-6C41-A6BB-DA22EEBAB635}"/>
              </a:ext>
            </a:extLst>
          </p:cNvPr>
          <p:cNvSpPr>
            <a:spLocks noGrp="1"/>
          </p:cNvSpPr>
          <p:nvPr>
            <p:ph idx="1"/>
          </p:nvPr>
        </p:nvSpPr>
        <p:spPr/>
        <p:txBody>
          <a:bodyPr>
            <a:normAutofit lnSpcReduction="10000"/>
          </a:bodyPr>
          <a:lstStyle/>
          <a:p>
            <a:pPr>
              <a:lnSpc>
                <a:spcPct val="100000"/>
              </a:lnSpc>
              <a:buFont typeface="Arial"/>
              <a:buChar char="•"/>
            </a:pPr>
            <a:r>
              <a:rPr lang="en-US" b="1" dirty="0">
                <a:solidFill>
                  <a:srgbClr val="000000"/>
                </a:solidFill>
                <a:latin typeface="Calibri"/>
              </a:rPr>
              <a:t>Right to Understanding:</a:t>
            </a:r>
            <a:r>
              <a:rPr lang="en-US" dirty="0">
                <a:solidFill>
                  <a:srgbClr val="000000"/>
                </a:solidFill>
                <a:latin typeface="Calibri"/>
              </a:rPr>
              <a:t> Involvement of ML systems in decision-making that affects individual rights must be disclosed, and the systems must be able to provide an explanation of their decision-making that is understandable to end users and reviewable by a competent human authority. Where this is impossible and rights are at stake, leaders in the design, deployment and regulation of ML technology must question whether or not it should be used. – </a:t>
            </a:r>
            <a:endParaRPr lang="en-US" dirty="0"/>
          </a:p>
          <a:p>
            <a:pPr>
              <a:lnSpc>
                <a:spcPct val="100000"/>
              </a:lnSpc>
            </a:pPr>
            <a:endParaRPr lang="en-US" dirty="0"/>
          </a:p>
          <a:p>
            <a:pPr>
              <a:lnSpc>
                <a:spcPct val="100000"/>
              </a:lnSpc>
            </a:pPr>
            <a:endParaRPr lang="en-US" dirty="0"/>
          </a:p>
          <a:p>
            <a:endParaRPr lang="en-US" dirty="0"/>
          </a:p>
        </p:txBody>
      </p:sp>
      <p:sp>
        <p:nvSpPr>
          <p:cNvPr id="5" name="TextBox 4">
            <a:extLst>
              <a:ext uri="{FF2B5EF4-FFF2-40B4-BE49-F238E27FC236}">
                <a16:creationId xmlns:a16="http://schemas.microsoft.com/office/drawing/2014/main" id="{1A7D64E3-44C1-6F5A-7574-83788CAAA28C}"/>
              </a:ext>
            </a:extLst>
          </p:cNvPr>
          <p:cNvSpPr txBox="1"/>
          <p:nvPr/>
        </p:nvSpPr>
        <p:spPr>
          <a:xfrm>
            <a:off x="5112328" y="6176963"/>
            <a:ext cx="4572000" cy="369332"/>
          </a:xfrm>
          <a:prstGeom prst="rect">
            <a:avLst/>
          </a:prstGeom>
          <a:noFill/>
        </p:spPr>
        <p:txBody>
          <a:bodyPr wrap="square">
            <a:spAutoFit/>
          </a:bodyPr>
          <a:lstStyle/>
          <a:p>
            <a:pPr marL="0" indent="0">
              <a:buNone/>
            </a:pPr>
            <a:r>
              <a:rPr lang="en-US" dirty="0">
                <a:solidFill>
                  <a:srgbClr val="000000"/>
                </a:solidFill>
                <a:latin typeface="Calibri"/>
              </a:rPr>
              <a:t>(World Economic Forum, 2018)</a:t>
            </a:r>
            <a:endParaRPr lang="en-US" dirty="0"/>
          </a:p>
        </p:txBody>
      </p:sp>
    </p:spTree>
    <p:extLst>
      <p:ext uri="{BB962C8B-B14F-4D97-AF65-F5344CB8AC3E}">
        <p14:creationId xmlns:p14="http://schemas.microsoft.com/office/powerpoint/2010/main" val="2395029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B91B9-FE43-0640-9D2D-EF093724637D}"/>
              </a:ext>
            </a:extLst>
          </p:cNvPr>
          <p:cNvSpPr>
            <a:spLocks noGrp="1"/>
          </p:cNvSpPr>
          <p:nvPr>
            <p:ph type="title"/>
          </p:nvPr>
        </p:nvSpPr>
        <p:spPr/>
        <p:txBody>
          <a:bodyPr/>
          <a:lstStyle/>
          <a:p>
            <a:r>
              <a:rPr lang="en-US" dirty="0"/>
              <a:t>Preventing Discrimination</a:t>
            </a:r>
          </a:p>
        </p:txBody>
      </p:sp>
      <p:sp>
        <p:nvSpPr>
          <p:cNvPr id="3" name="Content Placeholder 2">
            <a:extLst>
              <a:ext uri="{FF2B5EF4-FFF2-40B4-BE49-F238E27FC236}">
                <a16:creationId xmlns:a16="http://schemas.microsoft.com/office/drawing/2014/main" id="{470DFF3E-4368-6C41-A6BB-DA22EEBAB635}"/>
              </a:ext>
            </a:extLst>
          </p:cNvPr>
          <p:cNvSpPr>
            <a:spLocks noGrp="1"/>
          </p:cNvSpPr>
          <p:nvPr>
            <p:ph idx="1"/>
          </p:nvPr>
        </p:nvSpPr>
        <p:spPr/>
        <p:txBody>
          <a:bodyPr>
            <a:normAutofit/>
          </a:bodyPr>
          <a:lstStyle/>
          <a:p>
            <a:pPr>
              <a:lnSpc>
                <a:spcPct val="100000"/>
              </a:lnSpc>
              <a:buFont typeface="Arial"/>
              <a:buChar char="•"/>
            </a:pPr>
            <a:r>
              <a:rPr lang="en-US" b="1" dirty="0">
                <a:solidFill>
                  <a:srgbClr val="000000"/>
                </a:solidFill>
                <a:latin typeface="Calibri"/>
              </a:rPr>
              <a:t>Access to Redress</a:t>
            </a:r>
            <a:r>
              <a:rPr lang="en-US" dirty="0">
                <a:solidFill>
                  <a:srgbClr val="000000"/>
                </a:solidFill>
                <a:latin typeface="Calibri"/>
              </a:rPr>
              <a:t>: Leaders, designers and developers of ML systems are responsible for identifying the potential negative human rights impacts of their systems. They must make visible avenues for redress for those affected by disparate impacts, and establish processes for the timely redress of any discriminatory outputs</a:t>
            </a:r>
            <a:endParaRPr lang="en-US" dirty="0"/>
          </a:p>
          <a:p>
            <a:pPr>
              <a:lnSpc>
                <a:spcPct val="100000"/>
              </a:lnSpc>
            </a:pPr>
            <a:endParaRPr lang="en-US" dirty="0"/>
          </a:p>
          <a:p>
            <a:endParaRPr lang="en-US" dirty="0"/>
          </a:p>
        </p:txBody>
      </p:sp>
      <p:sp>
        <p:nvSpPr>
          <p:cNvPr id="5" name="TextBox 4">
            <a:extLst>
              <a:ext uri="{FF2B5EF4-FFF2-40B4-BE49-F238E27FC236}">
                <a16:creationId xmlns:a16="http://schemas.microsoft.com/office/drawing/2014/main" id="{EDADA10B-7B68-3C7D-CC76-85D6D1B9D2E0}"/>
              </a:ext>
            </a:extLst>
          </p:cNvPr>
          <p:cNvSpPr txBox="1"/>
          <p:nvPr/>
        </p:nvSpPr>
        <p:spPr>
          <a:xfrm>
            <a:off x="5729844" y="6307693"/>
            <a:ext cx="4572000" cy="369332"/>
          </a:xfrm>
          <a:prstGeom prst="rect">
            <a:avLst/>
          </a:prstGeom>
          <a:noFill/>
        </p:spPr>
        <p:txBody>
          <a:bodyPr wrap="square">
            <a:spAutoFit/>
          </a:bodyPr>
          <a:lstStyle/>
          <a:p>
            <a:pPr marL="0" indent="0">
              <a:buNone/>
            </a:pPr>
            <a:r>
              <a:rPr lang="en-US" dirty="0">
                <a:solidFill>
                  <a:srgbClr val="000000"/>
                </a:solidFill>
                <a:latin typeface="Calibri"/>
              </a:rPr>
              <a:t>(World Economic Forum, 2018)</a:t>
            </a:r>
            <a:endParaRPr lang="en-US" dirty="0"/>
          </a:p>
        </p:txBody>
      </p:sp>
    </p:spTree>
    <p:extLst>
      <p:ext uri="{BB962C8B-B14F-4D97-AF65-F5344CB8AC3E}">
        <p14:creationId xmlns:p14="http://schemas.microsoft.com/office/powerpoint/2010/main" val="2244388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17820-AF81-5F77-B76E-1556527B062E}"/>
              </a:ext>
            </a:extLst>
          </p:cNvPr>
          <p:cNvSpPr>
            <a:spLocks noGrp="1"/>
          </p:cNvSpPr>
          <p:nvPr>
            <p:ph type="title"/>
          </p:nvPr>
        </p:nvSpPr>
        <p:spPr/>
        <p:txBody>
          <a:bodyPr/>
          <a:lstStyle/>
          <a:p>
            <a:r>
              <a:rPr lang="en-US" dirty="0"/>
              <a:t>Technologies that exclude</a:t>
            </a:r>
          </a:p>
        </p:txBody>
      </p:sp>
      <p:sp>
        <p:nvSpPr>
          <p:cNvPr id="3" name="Content Placeholder 2">
            <a:extLst>
              <a:ext uri="{FF2B5EF4-FFF2-40B4-BE49-F238E27FC236}">
                <a16:creationId xmlns:a16="http://schemas.microsoft.com/office/drawing/2014/main" id="{1AE0FD4B-8A05-757F-C50A-D17FCB98BFA5}"/>
              </a:ext>
            </a:extLst>
          </p:cNvPr>
          <p:cNvSpPr>
            <a:spLocks noGrp="1"/>
          </p:cNvSpPr>
          <p:nvPr>
            <p:ph idx="1"/>
          </p:nvPr>
        </p:nvSpPr>
        <p:spPr/>
        <p:txBody>
          <a:bodyPr>
            <a:normAutofit/>
          </a:bodyPr>
          <a:lstStyle/>
          <a:p>
            <a:r>
              <a:rPr lang="en-US" dirty="0"/>
              <a:t>Even though we have decades of work already identifying people who are at risk of discrimination (for example people with disabilities, women, racial minorities) </a:t>
            </a:r>
          </a:p>
          <a:p>
            <a:r>
              <a:rPr lang="en-US" dirty="0"/>
              <a:t>And have created laws to protect them, </a:t>
            </a:r>
          </a:p>
          <a:p>
            <a:r>
              <a:rPr lang="en-US" dirty="0"/>
              <a:t>We are </a:t>
            </a:r>
            <a:r>
              <a:rPr lang="en-US" b="1" i="1" dirty="0"/>
              <a:t>still</a:t>
            </a:r>
            <a:r>
              <a:rPr lang="en-US" dirty="0"/>
              <a:t> creating technologies that exclude or amplify bias against at risk groups. </a:t>
            </a:r>
          </a:p>
        </p:txBody>
      </p:sp>
    </p:spTree>
    <p:extLst>
      <p:ext uri="{BB962C8B-B14F-4D97-AF65-F5344CB8AC3E}">
        <p14:creationId xmlns:p14="http://schemas.microsoft.com/office/powerpoint/2010/main" val="687492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21EA-CE5D-74FD-0551-A8A6D6CB048B}"/>
              </a:ext>
            </a:extLst>
          </p:cNvPr>
          <p:cNvSpPr>
            <a:spLocks noGrp="1"/>
          </p:cNvSpPr>
          <p:nvPr>
            <p:ph type="title"/>
          </p:nvPr>
        </p:nvSpPr>
        <p:spPr/>
        <p:txBody>
          <a:bodyPr/>
          <a:lstStyle/>
          <a:p>
            <a:r>
              <a:rPr lang="en-US" dirty="0"/>
              <a:t>Technology and Exclusion</a:t>
            </a:r>
          </a:p>
        </p:txBody>
      </p:sp>
      <p:sp>
        <p:nvSpPr>
          <p:cNvPr id="3" name="Content Placeholder 2">
            <a:extLst>
              <a:ext uri="{FF2B5EF4-FFF2-40B4-BE49-F238E27FC236}">
                <a16:creationId xmlns:a16="http://schemas.microsoft.com/office/drawing/2014/main" id="{4240E75F-C106-A176-CB73-97D1C058664F}"/>
              </a:ext>
            </a:extLst>
          </p:cNvPr>
          <p:cNvSpPr>
            <a:spLocks noGrp="1"/>
          </p:cNvSpPr>
          <p:nvPr>
            <p:ph idx="1"/>
          </p:nvPr>
        </p:nvSpPr>
        <p:spPr/>
        <p:txBody>
          <a:bodyPr/>
          <a:lstStyle/>
          <a:p>
            <a:r>
              <a:rPr lang="en-US" dirty="0"/>
              <a:t>Understand how people can be left behind or excluded from data and technical systems</a:t>
            </a:r>
          </a:p>
          <a:p>
            <a:r>
              <a:rPr lang="en-US" dirty="0"/>
              <a:t>how we can try to overcome this to build genuinely inclusive human </a:t>
            </a:r>
            <a:r>
              <a:rPr lang="en-US" dirty="0" err="1"/>
              <a:t>centred</a:t>
            </a:r>
            <a:r>
              <a:rPr lang="en-US" dirty="0"/>
              <a:t> technologies.</a:t>
            </a:r>
          </a:p>
          <a:p>
            <a:endParaRPr lang="en-US" dirty="0"/>
          </a:p>
          <a:p>
            <a:endParaRPr lang="en-US" dirty="0"/>
          </a:p>
        </p:txBody>
      </p:sp>
    </p:spTree>
    <p:extLst>
      <p:ext uri="{BB962C8B-B14F-4D97-AF65-F5344CB8AC3E}">
        <p14:creationId xmlns:p14="http://schemas.microsoft.com/office/powerpoint/2010/main" val="2800407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CBC0-9C0E-B46D-77E5-15F6FFE33A37}"/>
              </a:ext>
            </a:extLst>
          </p:cNvPr>
          <p:cNvSpPr>
            <a:spLocks noGrp="1"/>
          </p:cNvSpPr>
          <p:nvPr>
            <p:ph type="title"/>
          </p:nvPr>
        </p:nvSpPr>
        <p:spPr/>
        <p:txBody>
          <a:bodyPr/>
          <a:lstStyle/>
          <a:p>
            <a:r>
              <a:rPr lang="en-US" dirty="0"/>
              <a:t>People are different</a:t>
            </a:r>
          </a:p>
        </p:txBody>
      </p:sp>
      <p:sp>
        <p:nvSpPr>
          <p:cNvPr id="3" name="Content Placeholder 2">
            <a:extLst>
              <a:ext uri="{FF2B5EF4-FFF2-40B4-BE49-F238E27FC236}">
                <a16:creationId xmlns:a16="http://schemas.microsoft.com/office/drawing/2014/main" id="{EA6E632C-6111-07E6-6B6F-D9322E544517}"/>
              </a:ext>
            </a:extLst>
          </p:cNvPr>
          <p:cNvSpPr>
            <a:spLocks noGrp="1"/>
          </p:cNvSpPr>
          <p:nvPr>
            <p:ph idx="1"/>
          </p:nvPr>
        </p:nvSpPr>
        <p:spPr>
          <a:xfrm>
            <a:off x="3951514" y="1825625"/>
            <a:ext cx="4563836" cy="4351338"/>
          </a:xfrm>
        </p:spPr>
        <p:txBody>
          <a:bodyPr>
            <a:normAutofit/>
          </a:bodyPr>
          <a:lstStyle/>
          <a:p>
            <a:pPr marL="342900" indent="-342900"/>
            <a:r>
              <a:rPr lang="en-IE" dirty="0">
                <a:latin typeface="Helvetica Neue Thin" panose="020B0403020202020204" pitchFamily="34" charset="0"/>
              </a:rPr>
              <a:t>People are not all the same</a:t>
            </a:r>
          </a:p>
          <a:p>
            <a:pPr marL="342900" indent="-342900"/>
            <a:r>
              <a:rPr lang="en-IE" dirty="0">
                <a:latin typeface="Helvetica Neue Thin" panose="020B0403020202020204" pitchFamily="34" charset="0"/>
              </a:rPr>
              <a:t>By focusing on similarity and the majority we risk excluding people at the margins</a:t>
            </a:r>
          </a:p>
          <a:p>
            <a:pPr marL="342900" indent="-342900"/>
            <a:r>
              <a:rPr lang="en-IE" dirty="0"/>
              <a:t>Or identifying people who are different as outliers</a:t>
            </a:r>
            <a:endParaRPr lang="en-IE" dirty="0">
              <a:latin typeface="Helvetica Neue Thin" panose="020B0403020202020204" pitchFamily="34" charset="0"/>
            </a:endParaRPr>
          </a:p>
          <a:p>
            <a:pPr marL="342900" indent="-342900"/>
            <a:endParaRPr lang="en-IE" dirty="0">
              <a:latin typeface="Helvetica Neue Thin" panose="020B0403020202020204" pitchFamily="34" charset="0"/>
            </a:endParaRPr>
          </a:p>
          <a:p>
            <a:endParaRPr lang="en-US" dirty="0"/>
          </a:p>
        </p:txBody>
      </p:sp>
      <p:pic>
        <p:nvPicPr>
          <p:cNvPr id="4" name="Picture 3" descr="A diagram of a circle with black dots and orange lines&#10;&#10;AI-generated content may be incorrect.">
            <a:extLst>
              <a:ext uri="{FF2B5EF4-FFF2-40B4-BE49-F238E27FC236}">
                <a16:creationId xmlns:a16="http://schemas.microsoft.com/office/drawing/2014/main" id="{53C32F6B-ACBB-AF79-E0DF-E15D9A99EAB5}"/>
              </a:ext>
            </a:extLst>
          </p:cNvPr>
          <p:cNvPicPr>
            <a:picLocks noChangeAspect="1"/>
          </p:cNvPicPr>
          <p:nvPr/>
        </p:nvPicPr>
        <p:blipFill>
          <a:blip r:embed="rId3"/>
          <a:stretch>
            <a:fillRect/>
          </a:stretch>
        </p:blipFill>
        <p:spPr>
          <a:xfrm>
            <a:off x="511475" y="1736329"/>
            <a:ext cx="3123637" cy="3128399"/>
          </a:xfrm>
          <a:prstGeom prst="rect">
            <a:avLst/>
          </a:prstGeom>
        </p:spPr>
      </p:pic>
    </p:spTree>
    <p:extLst>
      <p:ext uri="{BB962C8B-B14F-4D97-AF65-F5344CB8AC3E}">
        <p14:creationId xmlns:p14="http://schemas.microsoft.com/office/powerpoint/2010/main" val="818020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1328-99D0-CAD0-CE48-2AE0FFE37C8D}"/>
              </a:ext>
            </a:extLst>
          </p:cNvPr>
          <p:cNvSpPr>
            <a:spLocks noGrp="1"/>
          </p:cNvSpPr>
          <p:nvPr>
            <p:ph type="title"/>
          </p:nvPr>
        </p:nvSpPr>
        <p:spPr/>
        <p:txBody>
          <a:bodyPr/>
          <a:lstStyle/>
          <a:p>
            <a:r>
              <a:rPr lang="en-US" dirty="0"/>
              <a:t>Data, Exclusion and Outliers</a:t>
            </a:r>
          </a:p>
        </p:txBody>
      </p:sp>
      <p:sp>
        <p:nvSpPr>
          <p:cNvPr id="3" name="Content Placeholder 2">
            <a:extLst>
              <a:ext uri="{FF2B5EF4-FFF2-40B4-BE49-F238E27FC236}">
                <a16:creationId xmlns:a16="http://schemas.microsoft.com/office/drawing/2014/main" id="{70266A41-FF30-97FA-63BB-138338ACF09E}"/>
              </a:ext>
            </a:extLst>
          </p:cNvPr>
          <p:cNvSpPr>
            <a:spLocks noGrp="1"/>
          </p:cNvSpPr>
          <p:nvPr>
            <p:ph idx="1"/>
          </p:nvPr>
        </p:nvSpPr>
        <p:spPr>
          <a:xfrm>
            <a:off x="808264" y="3840617"/>
            <a:ext cx="7886700" cy="4852761"/>
          </a:xfrm>
        </p:spPr>
        <p:txBody>
          <a:bodyPr>
            <a:normAutofit/>
          </a:bodyPr>
          <a:lstStyle/>
          <a:p>
            <a:r>
              <a:rPr lang="en-US" sz="2000" dirty="0"/>
              <a:t>Accessibility Researcher Jutta </a:t>
            </a:r>
            <a:r>
              <a:rPr lang="en-US" sz="2000" dirty="0" err="1"/>
              <a:t>Treviranus</a:t>
            </a:r>
            <a:r>
              <a:rPr lang="en-US" sz="2000" dirty="0"/>
              <a:t> tells of her experience testing autonomous driving models in the Department of Transportation in Canada</a:t>
            </a:r>
            <a:endParaRPr lang="en-GB" sz="2000" dirty="0"/>
          </a:p>
          <a:p>
            <a:r>
              <a:rPr lang="en-GB" sz="2000" dirty="0"/>
              <a:t>She was observing machine‑learning models designed to guide driverless cars.</a:t>
            </a:r>
          </a:p>
          <a:p>
            <a:r>
              <a:rPr lang="en-GB" sz="2000" dirty="0"/>
              <a:t>Curious, she tested how these systems reacted to people who move in atypical ways.</a:t>
            </a:r>
          </a:p>
        </p:txBody>
      </p:sp>
      <p:pic>
        <p:nvPicPr>
          <p:cNvPr id="7" name="Picture 6">
            <a:extLst>
              <a:ext uri="{FF2B5EF4-FFF2-40B4-BE49-F238E27FC236}">
                <a16:creationId xmlns:a16="http://schemas.microsoft.com/office/drawing/2014/main" id="{0DA3600A-1CBA-830E-7237-7FB25AAE8D31}"/>
              </a:ext>
            </a:extLst>
          </p:cNvPr>
          <p:cNvPicPr>
            <a:picLocks noChangeAspect="1"/>
          </p:cNvPicPr>
          <p:nvPr/>
        </p:nvPicPr>
        <p:blipFill>
          <a:blip r:embed="rId3"/>
          <a:stretch>
            <a:fillRect/>
          </a:stretch>
        </p:blipFill>
        <p:spPr>
          <a:xfrm>
            <a:off x="1959428" y="1574075"/>
            <a:ext cx="4633232" cy="2018030"/>
          </a:xfrm>
          <a:prstGeom prst="rect">
            <a:avLst/>
          </a:prstGeom>
        </p:spPr>
      </p:pic>
    </p:spTree>
    <p:extLst>
      <p:ext uri="{BB962C8B-B14F-4D97-AF65-F5344CB8AC3E}">
        <p14:creationId xmlns:p14="http://schemas.microsoft.com/office/powerpoint/2010/main" val="1756018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8BFB-7DC3-D11F-51BF-85AC46E7F4F2}"/>
              </a:ext>
            </a:extLst>
          </p:cNvPr>
          <p:cNvSpPr>
            <a:spLocks noGrp="1"/>
          </p:cNvSpPr>
          <p:nvPr>
            <p:ph type="title"/>
          </p:nvPr>
        </p:nvSpPr>
        <p:spPr/>
        <p:txBody>
          <a:bodyPr/>
          <a:lstStyle/>
          <a:p>
            <a:r>
              <a:rPr lang="en-US" dirty="0"/>
              <a:t>Data, Exclusion and Outliers</a:t>
            </a:r>
          </a:p>
        </p:txBody>
      </p:sp>
      <p:sp>
        <p:nvSpPr>
          <p:cNvPr id="3" name="Content Placeholder 2">
            <a:extLst>
              <a:ext uri="{FF2B5EF4-FFF2-40B4-BE49-F238E27FC236}">
                <a16:creationId xmlns:a16="http://schemas.microsoft.com/office/drawing/2014/main" id="{9EAB2E37-5AC3-2599-DF19-24A0FDDC1A66}"/>
              </a:ext>
            </a:extLst>
          </p:cNvPr>
          <p:cNvSpPr>
            <a:spLocks noGrp="1"/>
          </p:cNvSpPr>
          <p:nvPr>
            <p:ph idx="1"/>
          </p:nvPr>
        </p:nvSpPr>
        <p:spPr>
          <a:xfrm>
            <a:off x="628650" y="1825625"/>
            <a:ext cx="5821136" cy="4351338"/>
          </a:xfrm>
        </p:spPr>
        <p:txBody>
          <a:bodyPr>
            <a:normAutofit fontScale="85000" lnSpcReduction="10000"/>
          </a:bodyPr>
          <a:lstStyle/>
          <a:p>
            <a:r>
              <a:rPr lang="en-GB" dirty="0"/>
              <a:t>She used footage of a friend who propels herself rapidly backwards in a wheelchair.</a:t>
            </a:r>
          </a:p>
          <a:p>
            <a:r>
              <a:rPr lang="en-GB" dirty="0"/>
              <a:t>The models repeatedly classified her as an object to be driven over—making the assumption that she would move forwards</a:t>
            </a:r>
          </a:p>
          <a:p>
            <a:r>
              <a:rPr lang="en-GB" dirty="0"/>
              <a:t>After being “improved” with more wheelchair data. Instead of learning to recognise her, the systems simply became more confident in their mistake.</a:t>
            </a:r>
          </a:p>
          <a:p>
            <a:endParaRPr lang="en-US" dirty="0"/>
          </a:p>
        </p:txBody>
      </p:sp>
      <p:pic>
        <p:nvPicPr>
          <p:cNvPr id="5" name="Picture 4">
            <a:extLst>
              <a:ext uri="{FF2B5EF4-FFF2-40B4-BE49-F238E27FC236}">
                <a16:creationId xmlns:a16="http://schemas.microsoft.com/office/drawing/2014/main" id="{EE39F0C8-668A-2CF2-4EB8-C763C3CA7C51}"/>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5710351" y="1825625"/>
            <a:ext cx="3433649" cy="3433649"/>
          </a:xfrm>
          <a:prstGeom prst="rect">
            <a:avLst/>
          </a:prstGeom>
        </p:spPr>
      </p:pic>
    </p:spTree>
    <p:extLst>
      <p:ext uri="{BB962C8B-B14F-4D97-AF65-F5344CB8AC3E}">
        <p14:creationId xmlns:p14="http://schemas.microsoft.com/office/powerpoint/2010/main" val="737915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55A71-80A0-CB43-AE69-40C015F3B59B}"/>
              </a:ext>
            </a:extLst>
          </p:cNvPr>
          <p:cNvSpPr>
            <a:spLocks noGrp="1"/>
          </p:cNvSpPr>
          <p:nvPr>
            <p:ph type="title"/>
          </p:nvPr>
        </p:nvSpPr>
        <p:spPr/>
        <p:txBody>
          <a:bodyPr/>
          <a:lstStyle/>
          <a:p>
            <a:r>
              <a:rPr lang="en-US" dirty="0"/>
              <a:t>Bias and Exclusion</a:t>
            </a:r>
          </a:p>
        </p:txBody>
      </p:sp>
      <p:sp>
        <p:nvSpPr>
          <p:cNvPr id="3" name="Content Placeholder 2">
            <a:extLst>
              <a:ext uri="{FF2B5EF4-FFF2-40B4-BE49-F238E27FC236}">
                <a16:creationId xmlns:a16="http://schemas.microsoft.com/office/drawing/2014/main" id="{5E621089-F38F-B34B-8274-E755BA152342}"/>
              </a:ext>
            </a:extLst>
          </p:cNvPr>
          <p:cNvSpPr>
            <a:spLocks noGrp="1"/>
          </p:cNvSpPr>
          <p:nvPr>
            <p:ph idx="1"/>
          </p:nvPr>
        </p:nvSpPr>
        <p:spPr/>
        <p:txBody>
          <a:bodyPr/>
          <a:lstStyle/>
          <a:p>
            <a:r>
              <a:rPr lang="en-US" dirty="0"/>
              <a:t>“While machine learning allows computers to make their own decisions, those decisions are essentially </a:t>
            </a:r>
            <a:r>
              <a:rPr lang="en-US" dirty="0" err="1"/>
              <a:t>coloured</a:t>
            </a:r>
            <a:r>
              <a:rPr lang="en-US" dirty="0"/>
              <a:t> by the data we provide them with… Our research is not very supportive to diversity, and we have basically transferred that to machine learning.” Jutta </a:t>
            </a:r>
            <a:r>
              <a:rPr lang="en-US" dirty="0" err="1"/>
              <a:t>Treviranus</a:t>
            </a:r>
            <a:r>
              <a:rPr lang="en-US" dirty="0"/>
              <a:t>, Director of the Inclusive Design Research Centre, OCAD University</a:t>
            </a:r>
          </a:p>
          <a:p>
            <a:endParaRPr lang="en-US" dirty="0"/>
          </a:p>
          <a:p>
            <a:endParaRPr lang="en-US" dirty="0"/>
          </a:p>
        </p:txBody>
      </p:sp>
      <p:sp>
        <p:nvSpPr>
          <p:cNvPr id="4" name="TextBox 3">
            <a:extLst>
              <a:ext uri="{FF2B5EF4-FFF2-40B4-BE49-F238E27FC236}">
                <a16:creationId xmlns:a16="http://schemas.microsoft.com/office/drawing/2014/main" id="{F350A521-F125-9140-872D-C788283CF030}"/>
              </a:ext>
            </a:extLst>
          </p:cNvPr>
          <p:cNvSpPr txBox="1"/>
          <p:nvPr/>
        </p:nvSpPr>
        <p:spPr>
          <a:xfrm>
            <a:off x="2424224" y="6353859"/>
            <a:ext cx="6273209" cy="646331"/>
          </a:xfrm>
          <a:prstGeom prst="rect">
            <a:avLst/>
          </a:prstGeom>
          <a:noFill/>
        </p:spPr>
        <p:txBody>
          <a:bodyPr wrap="square" rtlCol="0">
            <a:spAutoFit/>
          </a:bodyPr>
          <a:lstStyle/>
          <a:p>
            <a:r>
              <a:rPr lang="en-US" sz="1200" dirty="0">
                <a:hlinkClick r:id="rId2"/>
              </a:rPr>
              <a:t>https://www.cbc.ca/radio/spark/362-machine-learning-outliers-smart-device-ownership-and-more-1.4279433/ai-s-problem-with-disability-and-diversity-1.4279444</a:t>
            </a:r>
            <a:endParaRPr lang="en-US" sz="1200" dirty="0"/>
          </a:p>
          <a:p>
            <a:endParaRPr lang="en-US" sz="1200" dirty="0"/>
          </a:p>
        </p:txBody>
      </p:sp>
    </p:spTree>
    <p:extLst>
      <p:ext uri="{BB962C8B-B14F-4D97-AF65-F5344CB8AC3E}">
        <p14:creationId xmlns:p14="http://schemas.microsoft.com/office/powerpoint/2010/main" val="3441943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7683-9650-BEF1-F1A4-021B1BD4628C}"/>
              </a:ext>
            </a:extLst>
          </p:cNvPr>
          <p:cNvSpPr>
            <a:spLocks noGrp="1"/>
          </p:cNvSpPr>
          <p:nvPr>
            <p:ph type="title"/>
          </p:nvPr>
        </p:nvSpPr>
        <p:spPr/>
        <p:txBody>
          <a:bodyPr/>
          <a:lstStyle/>
          <a:p>
            <a:r>
              <a:rPr lang="en-US" dirty="0"/>
              <a:t>Exclusion and Research</a:t>
            </a:r>
          </a:p>
        </p:txBody>
      </p:sp>
      <p:sp>
        <p:nvSpPr>
          <p:cNvPr id="3" name="Content Placeholder 2">
            <a:extLst>
              <a:ext uri="{FF2B5EF4-FFF2-40B4-BE49-F238E27FC236}">
                <a16:creationId xmlns:a16="http://schemas.microsoft.com/office/drawing/2014/main" id="{5A9C2E04-90F9-E48B-D2FA-FA257B81FC51}"/>
              </a:ext>
            </a:extLst>
          </p:cNvPr>
          <p:cNvSpPr>
            <a:spLocks noGrp="1"/>
          </p:cNvSpPr>
          <p:nvPr>
            <p:ph idx="1"/>
          </p:nvPr>
        </p:nvSpPr>
        <p:spPr>
          <a:xfrm>
            <a:off x="3011339" y="1841954"/>
            <a:ext cx="5821136" cy="4351338"/>
          </a:xfrm>
        </p:spPr>
        <p:txBody>
          <a:bodyPr>
            <a:normAutofit lnSpcReduction="10000"/>
          </a:bodyPr>
          <a:lstStyle/>
          <a:p>
            <a:r>
              <a:rPr lang="en-GB" dirty="0">
                <a:latin typeface="Helvetica Neue Thin" panose="020B0403020202020204" pitchFamily="34" charset="0"/>
              </a:rPr>
              <a:t>Our research systems often struggle to include diversity and complexity.</a:t>
            </a:r>
          </a:p>
          <a:p>
            <a:r>
              <a:rPr lang="en-GB" dirty="0">
                <a:latin typeface="Helvetica Neue Thin" panose="020B0403020202020204" pitchFamily="34" charset="0"/>
              </a:rPr>
              <a:t>When we collect and reuse data that leaves out people who are different, we keep excluding people who are in the minority.</a:t>
            </a:r>
          </a:p>
          <a:p>
            <a:r>
              <a:rPr lang="en-GB" dirty="0">
                <a:latin typeface="Helvetica Neue Thin" panose="020B0403020202020204" pitchFamily="34" charset="0"/>
              </a:rPr>
              <a:t>This problem becomes even bigger when we use that </a:t>
            </a:r>
            <a:r>
              <a:rPr lang="en-GB" dirty="0"/>
              <a:t>data to </a:t>
            </a:r>
            <a:r>
              <a:rPr lang="en-GB" dirty="0">
                <a:latin typeface="Helvetica Neue Thin" panose="020B0403020202020204" pitchFamily="34" charset="0"/>
              </a:rPr>
              <a:t>for AI</a:t>
            </a:r>
          </a:p>
          <a:p>
            <a:endParaRPr lang="en-US" dirty="0"/>
          </a:p>
        </p:txBody>
      </p:sp>
      <p:pic>
        <p:nvPicPr>
          <p:cNvPr id="4" name="Picture 3" descr="A person standing in front of a red circle with a no sign&#10;&#10;AI-generated content may be incorrect.">
            <a:extLst>
              <a:ext uri="{FF2B5EF4-FFF2-40B4-BE49-F238E27FC236}">
                <a16:creationId xmlns:a16="http://schemas.microsoft.com/office/drawing/2014/main" id="{F3CEEE64-D8C0-850A-CC50-F86976950A86}"/>
              </a:ext>
            </a:extLst>
          </p:cNvPr>
          <p:cNvPicPr>
            <a:picLocks noChangeAspect="1"/>
          </p:cNvPicPr>
          <p:nvPr/>
        </p:nvPicPr>
        <p:blipFill>
          <a:blip r:embed="rId2"/>
          <a:stretch>
            <a:fillRect/>
          </a:stretch>
        </p:blipFill>
        <p:spPr>
          <a:xfrm>
            <a:off x="188611" y="2017636"/>
            <a:ext cx="2822728" cy="2822728"/>
          </a:xfrm>
          <a:prstGeom prst="rect">
            <a:avLst/>
          </a:prstGeom>
        </p:spPr>
      </p:pic>
    </p:spTree>
    <p:extLst>
      <p:ext uri="{BB962C8B-B14F-4D97-AF65-F5344CB8AC3E}">
        <p14:creationId xmlns:p14="http://schemas.microsoft.com/office/powerpoint/2010/main" val="2450303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7CBE-F613-9A22-B1E0-3C5463C3CAB8}"/>
              </a:ext>
            </a:extLst>
          </p:cNvPr>
          <p:cNvSpPr>
            <a:spLocks noGrp="1"/>
          </p:cNvSpPr>
          <p:nvPr>
            <p:ph type="title"/>
          </p:nvPr>
        </p:nvSpPr>
        <p:spPr/>
        <p:txBody>
          <a:bodyPr/>
          <a:lstStyle/>
          <a:p>
            <a:r>
              <a:rPr lang="en-US" dirty="0"/>
              <a:t>Problems for Minorities in AI</a:t>
            </a:r>
          </a:p>
        </p:txBody>
      </p:sp>
      <p:sp>
        <p:nvSpPr>
          <p:cNvPr id="3" name="Content Placeholder 2">
            <a:extLst>
              <a:ext uri="{FF2B5EF4-FFF2-40B4-BE49-F238E27FC236}">
                <a16:creationId xmlns:a16="http://schemas.microsoft.com/office/drawing/2014/main" id="{D7C446BE-0B4A-7CBC-1269-C93DFD7D22A2}"/>
              </a:ext>
            </a:extLst>
          </p:cNvPr>
          <p:cNvSpPr>
            <a:spLocks noGrp="1"/>
          </p:cNvSpPr>
          <p:nvPr>
            <p:ph idx="1"/>
          </p:nvPr>
        </p:nvSpPr>
        <p:spPr/>
        <p:txBody>
          <a:bodyPr>
            <a:normAutofit/>
          </a:bodyPr>
          <a:lstStyle/>
          <a:p>
            <a:r>
              <a:rPr lang="en-US" dirty="0"/>
              <a:t>Under-represented, misrepresented or excluded from data sets</a:t>
            </a:r>
          </a:p>
          <a:p>
            <a:r>
              <a:rPr lang="en-US" dirty="0"/>
              <a:t>Issues related to probabilistic models lean towards the majority - where people who present differently may be overwhelmed by the majority</a:t>
            </a:r>
          </a:p>
          <a:p>
            <a:endParaRPr lang="en-US" dirty="0"/>
          </a:p>
          <a:p>
            <a:endParaRPr lang="en-US" dirty="0"/>
          </a:p>
        </p:txBody>
      </p:sp>
    </p:spTree>
    <p:extLst>
      <p:ext uri="{BB962C8B-B14F-4D97-AF65-F5344CB8AC3E}">
        <p14:creationId xmlns:p14="http://schemas.microsoft.com/office/powerpoint/2010/main" val="441426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06300-2FE6-7862-1FE9-E5CC4EF8FF9E}"/>
              </a:ext>
            </a:extLst>
          </p:cNvPr>
          <p:cNvSpPr>
            <a:spLocks noGrp="1"/>
          </p:cNvSpPr>
          <p:nvPr>
            <p:ph type="title"/>
          </p:nvPr>
        </p:nvSpPr>
        <p:spPr/>
        <p:txBody>
          <a:bodyPr/>
          <a:lstStyle/>
          <a:p>
            <a:r>
              <a:rPr lang="en-US" dirty="0"/>
              <a:t>So what can we do?</a:t>
            </a:r>
          </a:p>
        </p:txBody>
      </p:sp>
      <p:sp>
        <p:nvSpPr>
          <p:cNvPr id="3" name="Content Placeholder 2">
            <a:extLst>
              <a:ext uri="{FF2B5EF4-FFF2-40B4-BE49-F238E27FC236}">
                <a16:creationId xmlns:a16="http://schemas.microsoft.com/office/drawing/2014/main" id="{323BAE05-8063-9168-FC08-4B0172EF936A}"/>
              </a:ext>
            </a:extLst>
          </p:cNvPr>
          <p:cNvSpPr>
            <a:spLocks noGrp="1"/>
          </p:cNvSpPr>
          <p:nvPr>
            <p:ph idx="1"/>
          </p:nvPr>
        </p:nvSpPr>
        <p:spPr/>
        <p:txBody>
          <a:bodyPr>
            <a:normAutofit fontScale="92500"/>
          </a:bodyPr>
          <a:lstStyle/>
          <a:p>
            <a:r>
              <a:rPr lang="en-GB" b="1" dirty="0">
                <a:latin typeface="Helvetica Neue Thin" panose="020B0403020202020204" pitchFamily="34" charset="0"/>
              </a:rPr>
              <a:t>Inclusivity: </a:t>
            </a:r>
            <a:r>
              <a:rPr lang="en-GB" dirty="0">
                <a:latin typeface="Helvetica Neue Thin" panose="020B0403020202020204" pitchFamily="34" charset="0"/>
              </a:rPr>
              <a:t>If we include people with lived experience on research teams, we can:</a:t>
            </a:r>
          </a:p>
          <a:p>
            <a:pPr marL="342900" indent="-342900"/>
            <a:r>
              <a:rPr lang="en-GB" dirty="0">
                <a:latin typeface="Helvetica Neue Thin" panose="020B0403020202020204" pitchFamily="34" charset="0"/>
              </a:rPr>
              <a:t>Make sure data is collected in ways that are accessible and inclusive</a:t>
            </a:r>
          </a:p>
          <a:p>
            <a:pPr marL="342900" indent="-342900"/>
            <a:r>
              <a:rPr lang="en-GB" dirty="0"/>
              <a:t>Reflexivity:</a:t>
            </a:r>
            <a:r>
              <a:rPr lang="en-GB" dirty="0">
                <a:latin typeface="Helvetica Neue Thin" panose="020B0403020202020204" pitchFamily="34" charset="0"/>
              </a:rPr>
              <a:t> think about who we are as researchers to understand our viewpoint </a:t>
            </a:r>
            <a:r>
              <a:rPr lang="en-GB" dirty="0"/>
              <a:t>and how it may be different to </a:t>
            </a:r>
            <a:r>
              <a:rPr lang="en-GB" dirty="0">
                <a:latin typeface="Helvetica Neue Thin" panose="020B0403020202020204" pitchFamily="34" charset="0"/>
              </a:rPr>
              <a:t>the information, the context, and the viewpoints of people who present differently in data</a:t>
            </a:r>
            <a:endParaRPr lang="en-US" dirty="0"/>
          </a:p>
        </p:txBody>
      </p:sp>
    </p:spTree>
    <p:extLst>
      <p:ext uri="{BB962C8B-B14F-4D97-AF65-F5344CB8AC3E}">
        <p14:creationId xmlns:p14="http://schemas.microsoft.com/office/powerpoint/2010/main" val="3810072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744D-987E-93DE-F0BC-47DF3298DBBA}"/>
              </a:ext>
            </a:extLst>
          </p:cNvPr>
          <p:cNvSpPr>
            <a:spLocks noGrp="1"/>
          </p:cNvSpPr>
          <p:nvPr>
            <p:ph type="title"/>
          </p:nvPr>
        </p:nvSpPr>
        <p:spPr/>
        <p:txBody>
          <a:bodyPr/>
          <a:lstStyle/>
          <a:p>
            <a:r>
              <a:rPr lang="en-US" dirty="0"/>
              <a:t>Participatory approaches</a:t>
            </a:r>
          </a:p>
        </p:txBody>
      </p:sp>
      <p:sp>
        <p:nvSpPr>
          <p:cNvPr id="3" name="Content Placeholder 2">
            <a:extLst>
              <a:ext uri="{FF2B5EF4-FFF2-40B4-BE49-F238E27FC236}">
                <a16:creationId xmlns:a16="http://schemas.microsoft.com/office/drawing/2014/main" id="{2AAC260A-9A98-AD8B-322F-92C1D9F9957F}"/>
              </a:ext>
            </a:extLst>
          </p:cNvPr>
          <p:cNvSpPr>
            <a:spLocks noGrp="1"/>
          </p:cNvSpPr>
          <p:nvPr>
            <p:ph idx="1"/>
          </p:nvPr>
        </p:nvSpPr>
        <p:spPr/>
        <p:txBody>
          <a:bodyPr>
            <a:normAutofit/>
          </a:bodyPr>
          <a:lstStyle/>
          <a:p>
            <a:r>
              <a:rPr lang="en-IE" dirty="0"/>
              <a:t>Participatory methods such as co-design are an important and recognised approaches in the field of Human Computer Interaction and in software development . </a:t>
            </a:r>
          </a:p>
          <a:p>
            <a:endParaRPr lang="en-IE" b="1" dirty="0"/>
          </a:p>
          <a:p>
            <a:endParaRPr lang="en-IE" b="1" dirty="0"/>
          </a:p>
        </p:txBody>
      </p:sp>
      <p:pic>
        <p:nvPicPr>
          <p:cNvPr id="4" name="Picture 3" descr="Icon&#10;&#10;Description automatically generated">
            <a:extLst>
              <a:ext uri="{FF2B5EF4-FFF2-40B4-BE49-F238E27FC236}">
                <a16:creationId xmlns:a16="http://schemas.microsoft.com/office/drawing/2014/main" id="{4C3156FE-5E99-CE90-7B17-AEBE4356286F}"/>
              </a:ext>
            </a:extLst>
          </p:cNvPr>
          <p:cNvPicPr>
            <a:picLocks noChangeAspect="1"/>
          </p:cNvPicPr>
          <p:nvPr/>
        </p:nvPicPr>
        <p:blipFill>
          <a:blip r:embed="rId2"/>
          <a:stretch>
            <a:fillRect/>
          </a:stretch>
        </p:blipFill>
        <p:spPr>
          <a:xfrm>
            <a:off x="3164363" y="3690257"/>
            <a:ext cx="4867499" cy="2841666"/>
          </a:xfrm>
          <a:prstGeom prst="rect">
            <a:avLst/>
          </a:prstGeom>
        </p:spPr>
      </p:pic>
    </p:spTree>
    <p:extLst>
      <p:ext uri="{BB962C8B-B14F-4D97-AF65-F5344CB8AC3E}">
        <p14:creationId xmlns:p14="http://schemas.microsoft.com/office/powerpoint/2010/main" val="3716919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AD78-A3C2-D43B-32C9-C4A10B7A2951}"/>
              </a:ext>
            </a:extLst>
          </p:cNvPr>
          <p:cNvSpPr>
            <a:spLocks noGrp="1"/>
          </p:cNvSpPr>
          <p:nvPr>
            <p:ph type="title"/>
          </p:nvPr>
        </p:nvSpPr>
        <p:spPr/>
        <p:txBody>
          <a:bodyPr/>
          <a:lstStyle/>
          <a:p>
            <a:r>
              <a:rPr lang="en-US" dirty="0"/>
              <a:t>Active Inclusion for AI systems</a:t>
            </a:r>
          </a:p>
        </p:txBody>
      </p:sp>
      <p:sp>
        <p:nvSpPr>
          <p:cNvPr id="3" name="Content Placeholder 2">
            <a:extLst>
              <a:ext uri="{FF2B5EF4-FFF2-40B4-BE49-F238E27FC236}">
                <a16:creationId xmlns:a16="http://schemas.microsoft.com/office/drawing/2014/main" id="{A2F063DE-8704-8416-E0E2-3E75DF637D87}"/>
              </a:ext>
            </a:extLst>
          </p:cNvPr>
          <p:cNvSpPr>
            <a:spLocks noGrp="1"/>
          </p:cNvSpPr>
          <p:nvPr>
            <p:ph idx="1"/>
          </p:nvPr>
        </p:nvSpPr>
        <p:spPr/>
        <p:txBody>
          <a:bodyPr/>
          <a:lstStyle/>
          <a:p>
            <a:r>
              <a:rPr lang="en-US" b="1" dirty="0">
                <a:solidFill>
                  <a:srgbClr val="000000"/>
                </a:solidFill>
                <a:latin typeface="+mj-lt"/>
              </a:rPr>
              <a:t>Active Inclusion:</a:t>
            </a:r>
            <a:r>
              <a:rPr lang="en-US" dirty="0">
                <a:solidFill>
                  <a:srgbClr val="000000"/>
                </a:solidFill>
                <a:latin typeface="+mj-lt"/>
              </a:rPr>
              <a:t> The development and design of ML applications must actively seek a diversity of input, especially of the norms and values of specific populations affected by the output of AI systems. </a:t>
            </a:r>
            <a:endParaRPr lang="en-US" dirty="0">
              <a:latin typeface="+mj-lt"/>
            </a:endParaRPr>
          </a:p>
          <a:p>
            <a:endParaRPr lang="en-US" dirty="0"/>
          </a:p>
        </p:txBody>
      </p:sp>
      <p:sp>
        <p:nvSpPr>
          <p:cNvPr id="4" name="TextBox 3">
            <a:extLst>
              <a:ext uri="{FF2B5EF4-FFF2-40B4-BE49-F238E27FC236}">
                <a16:creationId xmlns:a16="http://schemas.microsoft.com/office/drawing/2014/main" id="{A084F214-0FAD-75C6-2706-43D6C6C1A773}"/>
              </a:ext>
            </a:extLst>
          </p:cNvPr>
          <p:cNvSpPr txBox="1"/>
          <p:nvPr/>
        </p:nvSpPr>
        <p:spPr>
          <a:xfrm>
            <a:off x="5866410" y="6293922"/>
            <a:ext cx="1304588" cy="369332"/>
          </a:xfrm>
          <a:prstGeom prst="rect">
            <a:avLst/>
          </a:prstGeom>
          <a:noFill/>
        </p:spPr>
        <p:txBody>
          <a:bodyPr wrap="none" rtlCol="0">
            <a:spAutoFit/>
          </a:bodyPr>
          <a:lstStyle/>
          <a:p>
            <a:r>
              <a:rPr lang="en-US" dirty="0"/>
              <a:t>(WEF, 2018)</a:t>
            </a:r>
          </a:p>
        </p:txBody>
      </p:sp>
    </p:spTree>
    <p:extLst>
      <p:ext uri="{BB962C8B-B14F-4D97-AF65-F5344CB8AC3E}">
        <p14:creationId xmlns:p14="http://schemas.microsoft.com/office/powerpoint/2010/main" val="2153093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C7078-0A77-6B0E-A12C-914019F9080B}"/>
              </a:ext>
            </a:extLst>
          </p:cNvPr>
          <p:cNvSpPr>
            <a:spLocks noGrp="1"/>
          </p:cNvSpPr>
          <p:nvPr>
            <p:ph type="title"/>
          </p:nvPr>
        </p:nvSpPr>
        <p:spPr/>
        <p:txBody>
          <a:bodyPr/>
          <a:lstStyle/>
          <a:p>
            <a:r>
              <a:rPr lang="en-US" dirty="0"/>
              <a:t>Co-Design</a:t>
            </a:r>
          </a:p>
        </p:txBody>
      </p:sp>
      <p:pic>
        <p:nvPicPr>
          <p:cNvPr id="4" name="Picture 3" descr="Diagram of the Co-Design Process&#10;&#10;Step 1. Discovery &#10;Step 2. Interpret&#10;Step3. Ideation &#10;Step 4. Experiment&#10;Step 5. Evaluation ">
            <a:extLst>
              <a:ext uri="{FF2B5EF4-FFF2-40B4-BE49-F238E27FC236}">
                <a16:creationId xmlns:a16="http://schemas.microsoft.com/office/drawing/2014/main" id="{60A40023-0323-77FF-9996-FCC5563C198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28650" y="2539594"/>
            <a:ext cx="8057464" cy="1461700"/>
          </a:xfrm>
          <a:prstGeom prst="rect">
            <a:avLst/>
          </a:prstGeom>
        </p:spPr>
      </p:pic>
      <p:sp>
        <p:nvSpPr>
          <p:cNvPr id="5" name="TextBox 4">
            <a:extLst>
              <a:ext uri="{FF2B5EF4-FFF2-40B4-BE49-F238E27FC236}">
                <a16:creationId xmlns:a16="http://schemas.microsoft.com/office/drawing/2014/main" id="{B1CF818F-D13E-C9D3-C1E9-5C7FAF89521B}"/>
              </a:ext>
            </a:extLst>
          </p:cNvPr>
          <p:cNvSpPr txBox="1"/>
          <p:nvPr/>
        </p:nvSpPr>
        <p:spPr>
          <a:xfrm>
            <a:off x="1428293" y="4608489"/>
            <a:ext cx="6287413" cy="963314"/>
          </a:xfrm>
          <a:prstGeom prst="roundRect">
            <a:avLst/>
          </a:prstGeom>
          <a:noFill/>
          <a:ln w="38100">
            <a:noFill/>
          </a:ln>
        </p:spPr>
        <p:style>
          <a:lnRef idx="2">
            <a:schemeClr val="accent2"/>
          </a:lnRef>
          <a:fillRef idx="1">
            <a:schemeClr val="lt1"/>
          </a:fillRef>
          <a:effectRef idx="0">
            <a:schemeClr val="accent2"/>
          </a:effectRef>
          <a:fontRef idx="minor">
            <a:schemeClr val="dk1"/>
          </a:fontRef>
        </p:style>
        <p:txBody>
          <a:bodyPr wrap="square" lIns="91440" tIns="45720" rIns="91440" bIns="45720" rtlCol="0" anchor="t">
            <a:spAutoFit/>
          </a:bodyPr>
          <a:lstStyle/>
          <a:p>
            <a:pPr algn="ctr">
              <a:lnSpc>
                <a:spcPct val="150000"/>
              </a:lnSpc>
            </a:pPr>
            <a:r>
              <a:rPr lang="en-US" b="1" dirty="0">
                <a:latin typeface="Arial"/>
                <a:cs typeface="Arial"/>
              </a:rPr>
              <a:t>Co-Design supports a wide range of people to be creative together and find solutions to a problem. </a:t>
            </a:r>
          </a:p>
        </p:txBody>
      </p:sp>
    </p:spTree>
    <p:extLst>
      <p:ext uri="{BB962C8B-B14F-4D97-AF65-F5344CB8AC3E}">
        <p14:creationId xmlns:p14="http://schemas.microsoft.com/office/powerpoint/2010/main" val="3199252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AE050-FF5D-EDAB-8E4C-3FC19485DABE}"/>
              </a:ext>
            </a:extLst>
          </p:cNvPr>
          <p:cNvSpPr>
            <a:spLocks noGrp="1"/>
          </p:cNvSpPr>
          <p:nvPr>
            <p:ph type="title"/>
          </p:nvPr>
        </p:nvSpPr>
        <p:spPr/>
        <p:txBody>
          <a:bodyPr/>
          <a:lstStyle/>
          <a:p>
            <a:r>
              <a:rPr lang="en-US" dirty="0"/>
              <a:t>Co-designing AI?</a:t>
            </a:r>
          </a:p>
        </p:txBody>
      </p:sp>
      <p:pic>
        <p:nvPicPr>
          <p:cNvPr id="5" name="Content Placeholder 4">
            <a:extLst>
              <a:ext uri="{FF2B5EF4-FFF2-40B4-BE49-F238E27FC236}">
                <a16:creationId xmlns:a16="http://schemas.microsoft.com/office/drawing/2014/main" id="{6EB76A49-9B42-E0EE-3373-A5EBD27CD5B8}"/>
              </a:ext>
            </a:extLst>
          </p:cNvPr>
          <p:cNvPicPr>
            <a:picLocks noGrp="1" noChangeAspect="1"/>
          </p:cNvPicPr>
          <p:nvPr>
            <p:ph idx="1"/>
          </p:nvPr>
        </p:nvPicPr>
        <p:blipFill>
          <a:blip r:embed="rId2"/>
          <a:srcRect l="4034" r="5840"/>
          <a:stretch>
            <a:fillRect/>
          </a:stretch>
        </p:blipFill>
        <p:spPr>
          <a:xfrm>
            <a:off x="-1" y="1873287"/>
            <a:ext cx="8964387" cy="4543842"/>
          </a:xfrm>
        </p:spPr>
      </p:pic>
      <p:sp>
        <p:nvSpPr>
          <p:cNvPr id="3" name="TextBox 2">
            <a:extLst>
              <a:ext uri="{FF2B5EF4-FFF2-40B4-BE49-F238E27FC236}">
                <a16:creationId xmlns:a16="http://schemas.microsoft.com/office/drawing/2014/main" id="{E6F2DF35-E042-74C9-8D18-EE380B0E8281}"/>
              </a:ext>
            </a:extLst>
          </p:cNvPr>
          <p:cNvSpPr txBox="1"/>
          <p:nvPr/>
        </p:nvSpPr>
        <p:spPr>
          <a:xfrm>
            <a:off x="1600200" y="6417129"/>
            <a:ext cx="8196943" cy="400110"/>
          </a:xfrm>
          <a:prstGeom prst="rect">
            <a:avLst/>
          </a:prstGeom>
          <a:noFill/>
        </p:spPr>
        <p:txBody>
          <a:bodyPr wrap="square" rtlCol="0">
            <a:spAutoFit/>
          </a:bodyPr>
          <a:lstStyle/>
          <a:p>
            <a:r>
              <a:rPr lang="en-US" sz="1000" dirty="0">
                <a:hlinkClick r:id="rId3"/>
              </a:rPr>
              <a:t>https://www.tudublin.ie/research-innovation/research/discover-our-research/research-centres/towards-people-oriented-technology/people/postgraduate-researchers/tlamelo-makati-.php</a:t>
            </a:r>
            <a:r>
              <a:rPr lang="en-US" sz="1000" dirty="0"/>
              <a:t> </a:t>
            </a:r>
          </a:p>
        </p:txBody>
      </p:sp>
    </p:spTree>
    <p:extLst>
      <p:ext uri="{BB962C8B-B14F-4D97-AF65-F5344CB8AC3E}">
        <p14:creationId xmlns:p14="http://schemas.microsoft.com/office/powerpoint/2010/main" val="1905922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FA550-26A7-3475-B37F-19EB820B2257}"/>
              </a:ext>
            </a:extLst>
          </p:cNvPr>
          <p:cNvSpPr>
            <a:spLocks noGrp="1"/>
          </p:cNvSpPr>
          <p:nvPr>
            <p:ph type="title"/>
          </p:nvPr>
        </p:nvSpPr>
        <p:spPr/>
        <p:txBody>
          <a:bodyPr/>
          <a:lstStyle/>
          <a:p>
            <a:r>
              <a:rPr lang="en-US" dirty="0"/>
              <a:t>Missing the “how”</a:t>
            </a:r>
          </a:p>
        </p:txBody>
      </p:sp>
      <p:sp>
        <p:nvSpPr>
          <p:cNvPr id="3" name="Content Placeholder 2">
            <a:extLst>
              <a:ext uri="{FF2B5EF4-FFF2-40B4-BE49-F238E27FC236}">
                <a16:creationId xmlns:a16="http://schemas.microsoft.com/office/drawing/2014/main" id="{3489D4F6-77C6-BC17-8FD3-420313EAF983}"/>
              </a:ext>
            </a:extLst>
          </p:cNvPr>
          <p:cNvSpPr>
            <a:spLocks noGrp="1"/>
          </p:cNvSpPr>
          <p:nvPr>
            <p:ph idx="1"/>
          </p:nvPr>
        </p:nvSpPr>
        <p:spPr/>
        <p:txBody>
          <a:bodyPr>
            <a:normAutofit/>
          </a:bodyPr>
          <a:lstStyle/>
          <a:p>
            <a:pPr marL="342900" indent="-342900">
              <a:buFont typeface="Arial"/>
              <a:buChar char="•"/>
            </a:pPr>
            <a:r>
              <a:rPr lang="en-IE" dirty="0">
                <a:latin typeface="Helvetica Neue Thin" panose="020B0403020202020204" pitchFamily="34" charset="0"/>
                <a:ea typeface="+mn-lt"/>
                <a:cs typeface="+mn-lt"/>
              </a:rPr>
              <a:t>Researchers and Policy makers are starting to understand “why” it is important to include people with lived experience</a:t>
            </a:r>
            <a:br>
              <a:rPr lang="en-IE" dirty="0">
                <a:latin typeface="Helvetica Neue Thin" panose="020B0403020202020204" pitchFamily="34" charset="0"/>
                <a:ea typeface="+mn-lt"/>
                <a:cs typeface="+mn-lt"/>
              </a:rPr>
            </a:br>
            <a:endParaRPr lang="en-IE" sz="1600" dirty="0">
              <a:latin typeface="Helvetica Neue Thin" panose="020B0403020202020204" pitchFamily="34" charset="0"/>
              <a:ea typeface="+mn-lt"/>
              <a:cs typeface="+mn-lt"/>
            </a:endParaRPr>
          </a:p>
          <a:p>
            <a:r>
              <a:rPr lang="en-IE" dirty="0">
                <a:latin typeface="Helvetica Neue Thin" panose="020B0403020202020204" pitchFamily="34" charset="0"/>
                <a:ea typeface="+mn-lt"/>
                <a:cs typeface="+mn-lt"/>
              </a:rPr>
              <a:t>BUT </a:t>
            </a:r>
          </a:p>
          <a:p>
            <a:pPr marL="342900" indent="-342900">
              <a:buFont typeface="Arial"/>
              <a:buChar char="•"/>
            </a:pPr>
            <a:r>
              <a:rPr lang="en-IE" dirty="0">
                <a:latin typeface="Helvetica Neue Thin" panose="020B0403020202020204" pitchFamily="34" charset="0"/>
                <a:ea typeface="+mn-lt"/>
                <a:cs typeface="+mn-lt"/>
              </a:rPr>
              <a:t> In existing studies the "how" is missing</a:t>
            </a:r>
            <a:endParaRPr lang="en-IE" dirty="0">
              <a:latin typeface="Helvetica Neue Thin" panose="020B0403020202020204" pitchFamily="34" charset="0"/>
              <a:ea typeface="Calibri" panose="020F0502020204030204"/>
              <a:cs typeface="Calibri"/>
            </a:endParaRPr>
          </a:p>
          <a:p>
            <a:pPr marL="342900" indent="-342900">
              <a:buFont typeface="Arial"/>
              <a:buChar char="•"/>
            </a:pPr>
            <a:r>
              <a:rPr lang="en-IE" dirty="0">
                <a:latin typeface="Helvetica Neue Thin" panose="020B0403020202020204" pitchFamily="34" charset="0"/>
                <a:ea typeface="Calibri" panose="020F0502020204030204"/>
                <a:cs typeface="Calibri"/>
              </a:rPr>
              <a:t>How can we include participants with lived experience in the design and development of AI?</a:t>
            </a:r>
          </a:p>
          <a:p>
            <a:endParaRPr lang="en-US" dirty="0"/>
          </a:p>
        </p:txBody>
      </p:sp>
    </p:spTree>
    <p:extLst>
      <p:ext uri="{BB962C8B-B14F-4D97-AF65-F5344CB8AC3E}">
        <p14:creationId xmlns:p14="http://schemas.microsoft.com/office/powerpoint/2010/main" val="2908840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4DA5-7799-868C-842F-EEBB01DC21C1}"/>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56E210ED-25B9-FC0B-801D-1F74D57AF2D0}"/>
              </a:ext>
            </a:extLst>
          </p:cNvPr>
          <p:cNvSpPr>
            <a:spLocks noGrp="1"/>
          </p:cNvSpPr>
          <p:nvPr>
            <p:ph idx="1"/>
          </p:nvPr>
        </p:nvSpPr>
        <p:spPr/>
        <p:txBody>
          <a:bodyPr/>
          <a:lstStyle/>
          <a:p>
            <a:pPr>
              <a:lnSpc>
                <a:spcPct val="90000"/>
              </a:lnSpc>
              <a:spcBef>
                <a:spcPts val="750"/>
              </a:spcBef>
            </a:pPr>
            <a:r>
              <a:rPr lang="en-IE" dirty="0"/>
              <a:t>Achieving genuine participation among all stakeholders requires time and resources that are not always available in industry and academic projects. </a:t>
            </a:r>
          </a:p>
          <a:p>
            <a:pPr>
              <a:lnSpc>
                <a:spcPct val="90000"/>
              </a:lnSpc>
              <a:spcBef>
                <a:spcPts val="750"/>
              </a:spcBef>
            </a:pPr>
            <a:endParaRPr lang="en-GB" dirty="0">
              <a:latin typeface="Helvetica Neue Thin" panose="020B0403020202020204" pitchFamily="34" charset="0"/>
            </a:endParaRPr>
          </a:p>
          <a:p>
            <a:pPr>
              <a:lnSpc>
                <a:spcPct val="90000"/>
              </a:lnSpc>
              <a:spcBef>
                <a:spcPts val="750"/>
              </a:spcBef>
            </a:pPr>
            <a:r>
              <a:rPr lang="en-GB" dirty="0">
                <a:latin typeface="Helvetica Neue Thin" panose="020B0403020202020204" pitchFamily="34" charset="0"/>
              </a:rPr>
              <a:t>The way universities do research follows strict rules. </a:t>
            </a:r>
            <a:br>
              <a:rPr lang="en-GB" dirty="0">
                <a:latin typeface="Helvetica Neue Thin" panose="020B0403020202020204" pitchFamily="34" charset="0"/>
              </a:rPr>
            </a:br>
            <a:endParaRPr lang="en-GB" dirty="0">
              <a:latin typeface="Helvetica Neue Thin" panose="020B0403020202020204" pitchFamily="34" charset="0"/>
            </a:endParaRPr>
          </a:p>
          <a:p>
            <a:pPr>
              <a:lnSpc>
                <a:spcPct val="90000"/>
              </a:lnSpc>
              <a:spcBef>
                <a:spcPts val="750"/>
              </a:spcBef>
            </a:pPr>
            <a:r>
              <a:rPr lang="en-GB" dirty="0">
                <a:latin typeface="Helvetica Neue Thin" panose="020B0403020202020204" pitchFamily="34" charset="0"/>
              </a:rPr>
              <a:t>These rules are often not flexible, and not easy for everyone to take part in research.</a:t>
            </a:r>
            <a:endParaRPr lang="en-US" dirty="0">
              <a:latin typeface="Helvetica Neue Thin" panose="020B0403020202020204" pitchFamily="34" charset="0"/>
              <a:ea typeface="+mn-lt"/>
              <a:cs typeface="+mn-lt"/>
            </a:endParaRPr>
          </a:p>
          <a:p>
            <a:endParaRPr lang="en-US" dirty="0"/>
          </a:p>
        </p:txBody>
      </p:sp>
    </p:spTree>
    <p:extLst>
      <p:ext uri="{BB962C8B-B14F-4D97-AF65-F5344CB8AC3E}">
        <p14:creationId xmlns:p14="http://schemas.microsoft.com/office/powerpoint/2010/main" val="2529255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6221-F7FA-FF41-A5F9-9F7C2BA3068D}"/>
              </a:ext>
            </a:extLst>
          </p:cNvPr>
          <p:cNvSpPr>
            <a:spLocks noGrp="1"/>
          </p:cNvSpPr>
          <p:nvPr>
            <p:ph type="title"/>
          </p:nvPr>
        </p:nvSpPr>
        <p:spPr/>
        <p:txBody>
          <a:bodyPr/>
          <a:lstStyle/>
          <a:p>
            <a:r>
              <a:rPr lang="en-US" dirty="0"/>
              <a:t>Research Ethics - “Vulnerable” participants</a:t>
            </a:r>
          </a:p>
        </p:txBody>
      </p:sp>
      <p:sp>
        <p:nvSpPr>
          <p:cNvPr id="3" name="Content Placeholder 2">
            <a:extLst>
              <a:ext uri="{FF2B5EF4-FFF2-40B4-BE49-F238E27FC236}">
                <a16:creationId xmlns:a16="http://schemas.microsoft.com/office/drawing/2014/main" id="{DB1A68D3-6C49-9746-A67D-2923E3D12EAF}"/>
              </a:ext>
            </a:extLst>
          </p:cNvPr>
          <p:cNvSpPr>
            <a:spLocks noGrp="1"/>
          </p:cNvSpPr>
          <p:nvPr>
            <p:ph idx="1"/>
          </p:nvPr>
        </p:nvSpPr>
        <p:spPr/>
        <p:txBody>
          <a:bodyPr/>
          <a:lstStyle/>
          <a:p>
            <a:r>
              <a:rPr lang="en-US" dirty="0"/>
              <a:t>It can be difficult to gain approval from REC to involve people with ID or cognitive impairments in research due to issues of informed consent and protection from adverse practices of coercion or duress.</a:t>
            </a:r>
          </a:p>
          <a:p>
            <a:r>
              <a:rPr lang="en-US" dirty="0"/>
              <a:t>If researchers are deterred from including participants in their studies, bias and exclusion issues will be further amplified for this group.</a:t>
            </a:r>
          </a:p>
        </p:txBody>
      </p:sp>
    </p:spTree>
    <p:extLst>
      <p:ext uri="{BB962C8B-B14F-4D97-AF65-F5344CB8AC3E}">
        <p14:creationId xmlns:p14="http://schemas.microsoft.com/office/powerpoint/2010/main" val="2708506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3CD9-A6F7-8B46-BFC3-6392A538C57D}"/>
              </a:ext>
            </a:extLst>
          </p:cNvPr>
          <p:cNvSpPr>
            <a:spLocks noGrp="1"/>
          </p:cNvSpPr>
          <p:nvPr>
            <p:ph type="title"/>
          </p:nvPr>
        </p:nvSpPr>
        <p:spPr/>
        <p:txBody>
          <a:bodyPr/>
          <a:lstStyle/>
          <a:p>
            <a:r>
              <a:rPr lang="en-US" dirty="0"/>
              <a:t>Reflexivity</a:t>
            </a:r>
          </a:p>
        </p:txBody>
      </p:sp>
      <p:sp>
        <p:nvSpPr>
          <p:cNvPr id="3" name="Content Placeholder 2">
            <a:extLst>
              <a:ext uri="{FF2B5EF4-FFF2-40B4-BE49-F238E27FC236}">
                <a16:creationId xmlns:a16="http://schemas.microsoft.com/office/drawing/2014/main" id="{046BFDC4-1FF7-F448-AA65-32C2EC6D6A61}"/>
              </a:ext>
            </a:extLst>
          </p:cNvPr>
          <p:cNvSpPr>
            <a:spLocks noGrp="1"/>
          </p:cNvSpPr>
          <p:nvPr>
            <p:ph idx="1"/>
          </p:nvPr>
        </p:nvSpPr>
        <p:spPr/>
        <p:txBody>
          <a:bodyPr>
            <a:normAutofit fontScale="85000" lnSpcReduction="10000"/>
          </a:bodyPr>
          <a:lstStyle/>
          <a:p>
            <a:r>
              <a:rPr lang="en-US" dirty="0"/>
              <a:t>In qualitative data analysis we are encouraged to reflect on our own point of view, beliefs and assumptions and how that can affect our interpretation and analysis.</a:t>
            </a:r>
          </a:p>
          <a:p>
            <a:r>
              <a:rPr lang="en-US" dirty="0"/>
              <a:t>But we need to consider how our biases, external constraints (funding, qualifications) could influence our study design, inclusion criteria and recruitment before we even collect data as well as during any data driven lifecycle</a:t>
            </a:r>
          </a:p>
          <a:p>
            <a:r>
              <a:rPr lang="en-US" dirty="0"/>
              <a:t>Even if we are working with existing datasets we need to consider our point of view to identity and mitigate for bias</a:t>
            </a:r>
          </a:p>
        </p:txBody>
      </p:sp>
    </p:spTree>
    <p:extLst>
      <p:ext uri="{BB962C8B-B14F-4D97-AF65-F5344CB8AC3E}">
        <p14:creationId xmlns:p14="http://schemas.microsoft.com/office/powerpoint/2010/main" val="3665782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A31D7-B410-7746-93E3-B48537ABC791}"/>
              </a:ext>
            </a:extLst>
          </p:cNvPr>
          <p:cNvSpPr>
            <a:spLocks noGrp="1"/>
          </p:cNvSpPr>
          <p:nvPr>
            <p:ph type="title"/>
          </p:nvPr>
        </p:nvSpPr>
        <p:spPr/>
        <p:txBody>
          <a:bodyPr/>
          <a:lstStyle/>
          <a:p>
            <a:r>
              <a:rPr lang="en-US" dirty="0"/>
              <a:t>Issues for </a:t>
            </a:r>
            <a:r>
              <a:rPr lang="en-US" dirty="0" err="1"/>
              <a:t>PwD</a:t>
            </a:r>
            <a:endParaRPr lang="en-US" dirty="0"/>
          </a:p>
        </p:txBody>
      </p:sp>
      <p:sp>
        <p:nvSpPr>
          <p:cNvPr id="3" name="Content Placeholder 2">
            <a:extLst>
              <a:ext uri="{FF2B5EF4-FFF2-40B4-BE49-F238E27FC236}">
                <a16:creationId xmlns:a16="http://schemas.microsoft.com/office/drawing/2014/main" id="{EEDF75C7-65E3-9245-8547-3AC921ED5E2F}"/>
              </a:ext>
            </a:extLst>
          </p:cNvPr>
          <p:cNvSpPr>
            <a:spLocks noGrp="1"/>
          </p:cNvSpPr>
          <p:nvPr>
            <p:ph idx="1"/>
          </p:nvPr>
        </p:nvSpPr>
        <p:spPr/>
        <p:txBody>
          <a:bodyPr/>
          <a:lstStyle/>
          <a:p>
            <a:pPr>
              <a:lnSpc>
                <a:spcPct val="100000"/>
              </a:lnSpc>
            </a:pPr>
            <a:r>
              <a:rPr lang="en-US" dirty="0">
                <a:solidFill>
                  <a:srgbClr val="000000"/>
                </a:solidFill>
                <a:latin typeface="Calibri"/>
              </a:rPr>
              <a:t>Issues in datasets</a:t>
            </a:r>
            <a:endParaRPr lang="en-US" dirty="0"/>
          </a:p>
          <a:p>
            <a:pPr>
              <a:lnSpc>
                <a:spcPct val="100000"/>
              </a:lnSpc>
              <a:buFont typeface="Arial"/>
              <a:buChar char="•"/>
            </a:pPr>
            <a:r>
              <a:rPr lang="en-US" dirty="0">
                <a:solidFill>
                  <a:srgbClr val="000000"/>
                </a:solidFill>
                <a:latin typeface="Calibri"/>
              </a:rPr>
              <a:t>Under-represented or excluded from data sets</a:t>
            </a:r>
            <a:endParaRPr lang="en-US" dirty="0"/>
          </a:p>
          <a:p>
            <a:pPr>
              <a:lnSpc>
                <a:spcPct val="100000"/>
              </a:lnSpc>
              <a:buFont typeface="Arial"/>
              <a:buChar char="•"/>
            </a:pPr>
            <a:r>
              <a:rPr lang="en-US" dirty="0">
                <a:solidFill>
                  <a:srgbClr val="000000"/>
                </a:solidFill>
                <a:latin typeface="Calibri"/>
              </a:rPr>
              <a:t>Misrepresented by data sets</a:t>
            </a:r>
            <a:endParaRPr lang="en-US" dirty="0"/>
          </a:p>
          <a:p>
            <a:pPr>
              <a:lnSpc>
                <a:spcPct val="100000"/>
              </a:lnSpc>
              <a:buFont typeface="Arial"/>
              <a:buChar char="•"/>
            </a:pPr>
            <a:r>
              <a:rPr lang="en-US" dirty="0">
                <a:solidFill>
                  <a:srgbClr val="000000"/>
                </a:solidFill>
                <a:latin typeface="Calibri"/>
              </a:rPr>
              <a:t>Inherent bias in data sets</a:t>
            </a:r>
            <a:endParaRPr lang="en-US" dirty="0"/>
          </a:p>
          <a:p>
            <a:pPr>
              <a:lnSpc>
                <a:spcPct val="100000"/>
              </a:lnSpc>
              <a:buFont typeface="Arial"/>
              <a:buChar char="•"/>
            </a:pPr>
            <a:r>
              <a:rPr lang="en-US" dirty="0">
                <a:solidFill>
                  <a:srgbClr val="000000"/>
                </a:solidFill>
                <a:latin typeface="Calibri"/>
              </a:rPr>
              <a:t>Overwhelmed by the majority</a:t>
            </a:r>
            <a:endParaRPr lang="en-US" dirty="0"/>
          </a:p>
          <a:p>
            <a:pPr>
              <a:lnSpc>
                <a:spcPct val="100000"/>
              </a:lnSpc>
              <a:buFont typeface="Arial"/>
              <a:buChar char="•"/>
            </a:pPr>
            <a:r>
              <a:rPr lang="en-US" dirty="0">
                <a:solidFill>
                  <a:srgbClr val="000000"/>
                </a:solidFill>
                <a:latin typeface="Calibri"/>
              </a:rPr>
              <a:t>Probabilistic models lean towards the majority</a:t>
            </a:r>
            <a:endParaRPr lang="en-US" dirty="0"/>
          </a:p>
          <a:p>
            <a:endParaRPr lang="en-US" dirty="0"/>
          </a:p>
        </p:txBody>
      </p:sp>
    </p:spTree>
    <p:extLst>
      <p:ext uri="{BB962C8B-B14F-4D97-AF65-F5344CB8AC3E}">
        <p14:creationId xmlns:p14="http://schemas.microsoft.com/office/powerpoint/2010/main" val="736921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50545-1B36-F049-B0AB-4369A9CCC25D}"/>
              </a:ext>
            </a:extLst>
          </p:cNvPr>
          <p:cNvSpPr>
            <a:spLocks noGrp="1"/>
          </p:cNvSpPr>
          <p:nvPr>
            <p:ph type="title"/>
          </p:nvPr>
        </p:nvSpPr>
        <p:spPr/>
        <p:txBody>
          <a:bodyPr/>
          <a:lstStyle/>
          <a:p>
            <a:r>
              <a:rPr lang="en-US" dirty="0"/>
              <a:t>Consequences for </a:t>
            </a:r>
            <a:r>
              <a:rPr lang="en-US" dirty="0" err="1"/>
              <a:t>PwD</a:t>
            </a:r>
            <a:endParaRPr lang="en-US" dirty="0"/>
          </a:p>
        </p:txBody>
      </p:sp>
      <p:sp>
        <p:nvSpPr>
          <p:cNvPr id="3" name="Content Placeholder 2">
            <a:extLst>
              <a:ext uri="{FF2B5EF4-FFF2-40B4-BE49-F238E27FC236}">
                <a16:creationId xmlns:a16="http://schemas.microsoft.com/office/drawing/2014/main" id="{429C2870-1A3C-6449-A9A6-2478ECB6BB1F}"/>
              </a:ext>
            </a:extLst>
          </p:cNvPr>
          <p:cNvSpPr>
            <a:spLocks noGrp="1"/>
          </p:cNvSpPr>
          <p:nvPr>
            <p:ph idx="1"/>
          </p:nvPr>
        </p:nvSpPr>
        <p:spPr/>
        <p:txBody>
          <a:bodyPr/>
          <a:lstStyle/>
          <a:p>
            <a:pPr>
              <a:lnSpc>
                <a:spcPct val="100000"/>
              </a:lnSpc>
              <a:buFont typeface="Arial"/>
              <a:buChar char="•"/>
            </a:pPr>
            <a:r>
              <a:rPr lang="en-US" dirty="0">
                <a:solidFill>
                  <a:srgbClr val="000000"/>
                </a:solidFill>
                <a:latin typeface="Calibri"/>
              </a:rPr>
              <a:t>Exclusion </a:t>
            </a:r>
            <a:r>
              <a:rPr lang="en-US" dirty="0" err="1">
                <a:solidFill>
                  <a:srgbClr val="000000"/>
                </a:solidFill>
                <a:latin typeface="Calibri"/>
              </a:rPr>
              <a:t>e.g</a:t>
            </a:r>
            <a:r>
              <a:rPr lang="en-US" dirty="0">
                <a:solidFill>
                  <a:srgbClr val="000000"/>
                </a:solidFill>
                <a:latin typeface="Calibri"/>
              </a:rPr>
              <a:t> from employment or credit or education</a:t>
            </a:r>
            <a:endParaRPr lang="en-US" dirty="0"/>
          </a:p>
          <a:p>
            <a:pPr>
              <a:lnSpc>
                <a:spcPct val="100000"/>
              </a:lnSpc>
              <a:buFont typeface="Arial"/>
              <a:buChar char="•"/>
            </a:pPr>
            <a:r>
              <a:rPr lang="en-US" dirty="0">
                <a:solidFill>
                  <a:srgbClr val="000000"/>
                </a:solidFill>
                <a:latin typeface="Calibri"/>
              </a:rPr>
              <a:t>Discrimination and loss of civil rights</a:t>
            </a:r>
            <a:endParaRPr lang="en-US" dirty="0"/>
          </a:p>
          <a:p>
            <a:pPr>
              <a:lnSpc>
                <a:spcPct val="100000"/>
              </a:lnSpc>
              <a:buFont typeface="Arial"/>
              <a:buChar char="•"/>
            </a:pPr>
            <a:r>
              <a:rPr lang="en-US" dirty="0">
                <a:solidFill>
                  <a:srgbClr val="000000"/>
                </a:solidFill>
                <a:latin typeface="Calibri"/>
              </a:rPr>
              <a:t>Policies made on faulty or suspect conclusions due to AI and bad data</a:t>
            </a:r>
            <a:endParaRPr lang="en-US" dirty="0"/>
          </a:p>
          <a:p>
            <a:pPr>
              <a:lnSpc>
                <a:spcPct val="100000"/>
              </a:lnSpc>
              <a:buFont typeface="Arial"/>
              <a:buChar char="•"/>
            </a:pPr>
            <a:r>
              <a:rPr lang="en-US" dirty="0">
                <a:solidFill>
                  <a:srgbClr val="000000"/>
                </a:solidFill>
                <a:latin typeface="Calibri"/>
              </a:rPr>
              <a:t>Technology not working for them</a:t>
            </a:r>
            <a:endParaRPr lang="en-US" dirty="0"/>
          </a:p>
          <a:p>
            <a:endParaRPr lang="en-US" dirty="0"/>
          </a:p>
        </p:txBody>
      </p:sp>
    </p:spTree>
    <p:extLst>
      <p:ext uri="{BB962C8B-B14F-4D97-AF65-F5344CB8AC3E}">
        <p14:creationId xmlns:p14="http://schemas.microsoft.com/office/powerpoint/2010/main" val="2558298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3BA4-8228-09A2-8FCE-40BE32E08DC7}"/>
              </a:ext>
            </a:extLst>
          </p:cNvPr>
          <p:cNvSpPr>
            <a:spLocks noGrp="1"/>
          </p:cNvSpPr>
          <p:nvPr>
            <p:ph type="title"/>
          </p:nvPr>
        </p:nvSpPr>
        <p:spPr/>
        <p:txBody>
          <a:bodyPr/>
          <a:lstStyle/>
          <a:p>
            <a:r>
              <a:rPr lang="en-US" dirty="0"/>
              <a:t>Google AI Skincare tool (2021)</a:t>
            </a:r>
          </a:p>
        </p:txBody>
      </p:sp>
      <p:pic>
        <p:nvPicPr>
          <p:cNvPr id="5" name="Picture 4" descr="A picture containing diagram&#10;&#10;Description automatically generated">
            <a:extLst>
              <a:ext uri="{FF2B5EF4-FFF2-40B4-BE49-F238E27FC236}">
                <a16:creationId xmlns:a16="http://schemas.microsoft.com/office/drawing/2014/main" id="{2395ABE6-FD3D-B181-0FD6-0E4CDA7172A1}"/>
              </a:ext>
            </a:extLst>
          </p:cNvPr>
          <p:cNvPicPr>
            <a:picLocks noChangeAspect="1"/>
          </p:cNvPicPr>
          <p:nvPr/>
        </p:nvPicPr>
        <p:blipFill>
          <a:blip r:embed="rId2"/>
          <a:stretch>
            <a:fillRect/>
          </a:stretch>
        </p:blipFill>
        <p:spPr>
          <a:xfrm>
            <a:off x="1053884" y="1325563"/>
            <a:ext cx="7377828" cy="5592373"/>
          </a:xfrm>
          <a:prstGeom prst="rect">
            <a:avLst/>
          </a:prstGeom>
        </p:spPr>
      </p:pic>
    </p:spTree>
    <p:extLst>
      <p:ext uri="{BB962C8B-B14F-4D97-AF65-F5344CB8AC3E}">
        <p14:creationId xmlns:p14="http://schemas.microsoft.com/office/powerpoint/2010/main" val="3746129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3BA4-8228-09A2-8FCE-40BE32E08DC7}"/>
              </a:ext>
            </a:extLst>
          </p:cNvPr>
          <p:cNvSpPr>
            <a:spLocks noGrp="1"/>
          </p:cNvSpPr>
          <p:nvPr>
            <p:ph type="title"/>
          </p:nvPr>
        </p:nvSpPr>
        <p:spPr/>
        <p:txBody>
          <a:bodyPr/>
          <a:lstStyle/>
          <a:p>
            <a:r>
              <a:rPr lang="en-US" dirty="0"/>
              <a:t>Google AI Skincare tool (2021)</a:t>
            </a:r>
          </a:p>
        </p:txBody>
      </p:sp>
      <p:sp>
        <p:nvSpPr>
          <p:cNvPr id="4" name="Content Placeholder 2">
            <a:extLst>
              <a:ext uri="{FF2B5EF4-FFF2-40B4-BE49-F238E27FC236}">
                <a16:creationId xmlns:a16="http://schemas.microsoft.com/office/drawing/2014/main" id="{F38334C7-953A-F735-9835-4B7D4EE51D8B}"/>
              </a:ext>
            </a:extLst>
          </p:cNvPr>
          <p:cNvSpPr>
            <a:spLocks noGrp="1"/>
          </p:cNvSpPr>
          <p:nvPr>
            <p:ph idx="1"/>
          </p:nvPr>
        </p:nvSpPr>
        <p:spPr>
          <a:xfrm>
            <a:off x="628650" y="1825625"/>
            <a:ext cx="7886700" cy="4351338"/>
          </a:xfrm>
        </p:spPr>
        <p:txBody>
          <a:bodyPr/>
          <a:lstStyle/>
          <a:p>
            <a:r>
              <a:rPr lang="en-US" dirty="0"/>
              <a:t>Google unveiled a preview of an AI-powered tool that it says could help identify problems with your skin. </a:t>
            </a:r>
          </a:p>
          <a:p>
            <a:r>
              <a:rPr lang="en-US" dirty="0"/>
              <a:t>Data used for tool appeared not to include many patients with darker skin types.</a:t>
            </a:r>
          </a:p>
          <a:p>
            <a:endParaRPr lang="en-US" dirty="0"/>
          </a:p>
        </p:txBody>
      </p:sp>
    </p:spTree>
    <p:extLst>
      <p:ext uri="{BB962C8B-B14F-4D97-AF65-F5344CB8AC3E}">
        <p14:creationId xmlns:p14="http://schemas.microsoft.com/office/powerpoint/2010/main" val="1463764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B8A1C-6B68-072D-85F6-062D496435C9}"/>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14FCD9A9-5FB4-A640-3361-B2237B0F0021}"/>
              </a:ext>
            </a:extLst>
          </p:cNvPr>
          <p:cNvSpPr>
            <a:spLocks noGrp="1"/>
          </p:cNvSpPr>
          <p:nvPr>
            <p:ph idx="1"/>
          </p:nvPr>
        </p:nvSpPr>
        <p:spPr/>
        <p:txBody>
          <a:bodyPr>
            <a:normAutofit lnSpcReduction="10000"/>
          </a:bodyPr>
          <a:lstStyle/>
          <a:p>
            <a:r>
              <a:rPr lang="en-US" dirty="0"/>
              <a:t>Focus AI skincare example of exclusion and discuss:</a:t>
            </a:r>
          </a:p>
          <a:p>
            <a:r>
              <a:rPr lang="en-US" dirty="0"/>
              <a:t>Understand: How did the exclusion happen?</a:t>
            </a:r>
          </a:p>
          <a:p>
            <a:r>
              <a:rPr lang="en-US" dirty="0"/>
              <a:t>How might a company…ensure a more inclusive design next time?</a:t>
            </a:r>
          </a:p>
          <a:p>
            <a:r>
              <a:rPr lang="en-US" dirty="0">
                <a:hlinkClick r:id="rId2"/>
              </a:rPr>
              <a:t>https://www.euronews.com/next/2021/05/26/google-s-new-ai-skincare-tool-may-not-work-on-patients-with-darker-skin-tones</a:t>
            </a:r>
            <a:r>
              <a:rPr lang="en-US" dirty="0"/>
              <a:t> </a:t>
            </a:r>
          </a:p>
        </p:txBody>
      </p:sp>
    </p:spTree>
    <p:extLst>
      <p:ext uri="{BB962C8B-B14F-4D97-AF65-F5344CB8AC3E}">
        <p14:creationId xmlns:p14="http://schemas.microsoft.com/office/powerpoint/2010/main" val="20075445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43491</TotalTime>
  <Words>1657</Words>
  <Application>Microsoft Macintosh PowerPoint</Application>
  <PresentationFormat>On-screen Show (4:3)</PresentationFormat>
  <Paragraphs>140</Paragraphs>
  <Slides>35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Helvetica Neue Medium</vt:lpstr>
      <vt:lpstr>Helvetica Neue Thin</vt:lpstr>
      <vt:lpstr>Office Theme</vt:lpstr>
      <vt:lpstr>Data Management:  Data Bias and Exclusion</vt:lpstr>
      <vt:lpstr>Headlines</vt:lpstr>
      <vt:lpstr>Headlines</vt:lpstr>
      <vt:lpstr>Headlines</vt:lpstr>
      <vt:lpstr>Headlines</vt:lpstr>
      <vt:lpstr>Data and discrimination</vt:lpstr>
      <vt:lpstr>Stages in typical Machine Learning Application</vt:lpstr>
      <vt:lpstr>Areas of Discrimination</vt:lpstr>
      <vt:lpstr>Preventing Discrimination</vt:lpstr>
      <vt:lpstr>Preventing Discrimination</vt:lpstr>
      <vt:lpstr>Preventing Discrimination</vt:lpstr>
      <vt:lpstr>Preventing Discrimination</vt:lpstr>
      <vt:lpstr>Preventing Discrimination</vt:lpstr>
      <vt:lpstr>Technologies that exclude</vt:lpstr>
      <vt:lpstr>Technology and Exclusion</vt:lpstr>
      <vt:lpstr>People are different</vt:lpstr>
      <vt:lpstr>Data, Exclusion and Outliers</vt:lpstr>
      <vt:lpstr>Data, Exclusion and Outliers</vt:lpstr>
      <vt:lpstr>Bias and Exclusion</vt:lpstr>
      <vt:lpstr>Exclusion and Research</vt:lpstr>
      <vt:lpstr>Problems for Minorities in AI</vt:lpstr>
      <vt:lpstr>So what can we do?</vt:lpstr>
      <vt:lpstr>Participatory approaches</vt:lpstr>
      <vt:lpstr>Active Inclusion for AI systems</vt:lpstr>
      <vt:lpstr>Co-Design</vt:lpstr>
      <vt:lpstr>Co-designing AI?</vt:lpstr>
      <vt:lpstr>Missing the “how”</vt:lpstr>
      <vt:lpstr>Challenges</vt:lpstr>
      <vt:lpstr>Research Ethics - “Vulnerable” participants</vt:lpstr>
      <vt:lpstr>Reflexivity</vt:lpstr>
      <vt:lpstr>Issues for PwD</vt:lpstr>
      <vt:lpstr>Consequences for PwD</vt:lpstr>
      <vt:lpstr>Google AI Skincare tool (2021)</vt:lpstr>
      <vt:lpstr>Google AI Skincare tool (2021)</vt:lpstr>
      <vt:lpstr>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Errity</dc:creator>
  <cp:lastModifiedBy>Emma Murphy</cp:lastModifiedBy>
  <cp:revision>275</cp:revision>
  <cp:lastPrinted>2019-09-16T11:06:57Z</cp:lastPrinted>
  <dcterms:created xsi:type="dcterms:W3CDTF">2016-05-04T13:11:14Z</dcterms:created>
  <dcterms:modified xsi:type="dcterms:W3CDTF">2026-03-18T22:55:04Z</dcterms:modified>
</cp:coreProperties>
</file>