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 id="2147483941" r:id="rId2"/>
  </p:sldMasterIdLst>
  <p:notesMasterIdLst>
    <p:notesMasterId r:id="rId31"/>
  </p:notesMasterIdLst>
  <p:sldIdLst>
    <p:sldId id="295" r:id="rId3"/>
    <p:sldId id="258" r:id="rId4"/>
    <p:sldId id="259" r:id="rId5"/>
    <p:sldId id="260" r:id="rId6"/>
    <p:sldId id="256" r:id="rId7"/>
    <p:sldId id="261" r:id="rId8"/>
    <p:sldId id="257" r:id="rId9"/>
    <p:sldId id="264" r:id="rId10"/>
    <p:sldId id="268" r:id="rId11"/>
    <p:sldId id="269" r:id="rId12"/>
    <p:sldId id="270" r:id="rId13"/>
    <p:sldId id="262" r:id="rId14"/>
    <p:sldId id="281" r:id="rId15"/>
    <p:sldId id="263" r:id="rId16"/>
    <p:sldId id="272" r:id="rId17"/>
    <p:sldId id="265" r:id="rId18"/>
    <p:sldId id="267" r:id="rId19"/>
    <p:sldId id="275" r:id="rId20"/>
    <p:sldId id="274" r:id="rId21"/>
    <p:sldId id="273" r:id="rId22"/>
    <p:sldId id="276" r:id="rId23"/>
    <p:sldId id="282" r:id="rId24"/>
    <p:sldId id="278" r:id="rId25"/>
    <p:sldId id="279" r:id="rId26"/>
    <p:sldId id="271" r:id="rId27"/>
    <p:sldId id="283" r:id="rId28"/>
    <p:sldId id="284" r:id="rId29"/>
    <p:sldId id="29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892" autoAdjust="0"/>
    <p:restoredTop sz="83860" autoAdjust="0"/>
  </p:normalViewPr>
  <p:slideViewPr>
    <p:cSldViewPr snapToGrid="0">
      <p:cViewPr varScale="1">
        <p:scale>
          <a:sx n="96" d="100"/>
          <a:sy n="96" d="100"/>
        </p:scale>
        <p:origin x="35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4426AD-2966-4B48-9BEB-E96F02492DFC}" type="datetimeFigureOut">
              <a:rPr lang="en-GB" smtClean="0"/>
              <a:t>09/03/2026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5FC9EB-517E-4638-8DCB-DA2EAE9F014D}" type="slidenum">
              <a:rPr lang="en-GB" smtClean="0"/>
              <a:t>‹#›</a:t>
            </a:fld>
            <a:endParaRPr lang="en-GB" dirty="0"/>
          </a:p>
        </p:txBody>
      </p:sp>
    </p:spTree>
    <p:extLst>
      <p:ext uri="{BB962C8B-B14F-4D97-AF65-F5344CB8AC3E}">
        <p14:creationId xmlns:p14="http://schemas.microsoft.com/office/powerpoint/2010/main" val="436212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mailto:dpo@revolut.com"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a:t>
            </a:fld>
            <a:endParaRPr lang="en-GB" dirty="0"/>
          </a:p>
        </p:txBody>
      </p:sp>
    </p:spTree>
    <p:extLst>
      <p:ext uri="{BB962C8B-B14F-4D97-AF65-F5344CB8AC3E}">
        <p14:creationId xmlns:p14="http://schemas.microsoft.com/office/powerpoint/2010/main" val="911513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The Group is exposed to retail credit risk relating from unsecured personal loans, credit cards, and BNPL products across Australia, France, Germany, Ireland,</a:t>
            </a:r>
          </a:p>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retail lending non-performing loa debt sales were carried out in Romania, Lithuania, Poland, Spain and Ireland with associated write-off of the transferred exposure.</a:t>
            </a:r>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3</a:t>
            </a:fld>
            <a:endParaRPr lang="en-GB" dirty="0"/>
          </a:p>
        </p:txBody>
      </p:sp>
    </p:spTree>
    <p:extLst>
      <p:ext uri="{BB962C8B-B14F-4D97-AF65-F5344CB8AC3E}">
        <p14:creationId xmlns:p14="http://schemas.microsoft.com/office/powerpoint/2010/main" val="3826626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32E24-CF99-6BC6-9F05-2944B6873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A47D8-F96A-1992-F13D-C99671E15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94C99E-DA3A-F60C-C594-A7112001BF35}"/>
              </a:ext>
            </a:extLst>
          </p:cNvPr>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Group is exposed to retail credit risk relating from unsecured personal loans, credit cards, and BNPL products across Australia, France, Germany, Ireland,</a:t>
            </a:r>
          </a:p>
          <a:p>
            <a:r>
              <a:rPr lang="en-GB" sz="1200" b="0" i="0" u="none" strike="noStrike" kern="1200" baseline="0" dirty="0">
                <a:solidFill>
                  <a:schemeClr val="tx1"/>
                </a:solidFill>
                <a:latin typeface="+mn-lt"/>
                <a:ea typeface="+mn-ea"/>
                <a:cs typeface="+mn-cs"/>
              </a:rPr>
              <a:t>retail lending non-performing loan</a:t>
            </a:r>
          </a:p>
          <a:p>
            <a:r>
              <a:rPr lang="en-GB" sz="1200" b="0" i="0" u="none" strike="noStrike" kern="1200" baseline="0" dirty="0">
                <a:solidFill>
                  <a:schemeClr val="tx1"/>
                </a:solidFill>
                <a:latin typeface="+mn-lt"/>
                <a:ea typeface="+mn-ea"/>
                <a:cs typeface="+mn-cs"/>
              </a:rPr>
              <a:t>debt sales were carried out in Romania, Lithuania,</a:t>
            </a:r>
          </a:p>
          <a:p>
            <a:r>
              <a:rPr lang="en-GB" sz="1200" b="0" i="0" u="none" strike="noStrike" kern="1200" baseline="0" dirty="0">
                <a:solidFill>
                  <a:schemeClr val="tx1"/>
                </a:solidFill>
                <a:latin typeface="+mn-lt"/>
                <a:ea typeface="+mn-ea"/>
                <a:cs typeface="+mn-cs"/>
              </a:rPr>
              <a:t>Poland, Spain and Ireland with associated write-off of</a:t>
            </a:r>
          </a:p>
          <a:p>
            <a:r>
              <a:rPr lang="en-GB" sz="1200" b="0" i="0" u="none" strike="noStrike" kern="1200" baseline="0" dirty="0">
                <a:solidFill>
                  <a:schemeClr val="tx1"/>
                </a:solidFill>
                <a:latin typeface="+mn-lt"/>
                <a:ea typeface="+mn-ea"/>
                <a:cs typeface="+mn-cs"/>
              </a:rPr>
              <a:t>the transferred exposure.</a:t>
            </a:r>
          </a:p>
          <a:p>
            <a:endParaRPr lang="en-GB"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7522ECEB-32B3-30D0-C767-C943DF50B7B8}"/>
              </a:ext>
            </a:extLst>
          </p:cNvPr>
          <p:cNvSpPr>
            <a:spLocks noGrp="1"/>
          </p:cNvSpPr>
          <p:nvPr>
            <p:ph type="sldNum" sz="quarter" idx="5"/>
          </p:nvPr>
        </p:nvSpPr>
        <p:spPr/>
        <p:txBody>
          <a:bodyPr/>
          <a:lstStyle/>
          <a:p>
            <a:fld id="{3A5FC9EB-517E-4638-8DCB-DA2EAE9F014D}" type="slidenum">
              <a:rPr lang="en-GB" smtClean="0"/>
              <a:t>4</a:t>
            </a:fld>
            <a:endParaRPr lang="en-GB" dirty="0"/>
          </a:p>
        </p:txBody>
      </p:sp>
    </p:spTree>
    <p:extLst>
      <p:ext uri="{BB962C8B-B14F-4D97-AF65-F5344CB8AC3E}">
        <p14:creationId xmlns:p14="http://schemas.microsoft.com/office/powerpoint/2010/main" val="1021505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kern="1200" dirty="0">
                <a:solidFill>
                  <a:schemeClr val="tx1"/>
                </a:solidFill>
                <a:effectLst/>
                <a:latin typeface="+mn-lt"/>
                <a:ea typeface="+mn-ea"/>
                <a:cs typeface="+mn-cs"/>
              </a:rPr>
              <a:t>For every loan above €500, the lender must access the Central Credit Register (CCR)</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the CCR does not provide a score capable of summarising their report, nor does it provide a predictive risk assessment of the applicant profile, which is available in many other markets where Revolut operates. which allowed to validate its ability to rank incoming applications by expected risk, aggregating credit requests that have a higher probability to end up in arrears. </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A comparative analysis against the ‘old’ ICB Score was also possible, which showed a high degree of consistency between the two models — something that facilitated adoption from past ICB Score users.</a:t>
            </a:r>
          </a:p>
          <a:p>
            <a:pPr marL="171450" indent="-171450">
              <a:buFont typeface="Arial" panose="020B0604020202020204" pitchFamily="34" charset="0"/>
              <a:buChar char="•"/>
            </a:pPr>
            <a:r>
              <a:rPr lang="en-GB" dirty="0"/>
              <a:t>Goal was minimum manual interaction</a:t>
            </a:r>
          </a:p>
          <a:p>
            <a:endParaRPr lang="en-GB" dirty="0"/>
          </a:p>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5</a:t>
            </a:fld>
            <a:endParaRPr lang="en-GB" dirty="0"/>
          </a:p>
        </p:txBody>
      </p:sp>
    </p:spTree>
    <p:extLst>
      <p:ext uri="{BB962C8B-B14F-4D97-AF65-F5344CB8AC3E}">
        <p14:creationId xmlns:p14="http://schemas.microsoft.com/office/powerpoint/2010/main" val="2882111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6</a:t>
            </a:fld>
            <a:endParaRPr lang="en-GB" dirty="0"/>
          </a:p>
        </p:txBody>
      </p:sp>
    </p:spTree>
    <p:extLst>
      <p:ext uri="{BB962C8B-B14F-4D97-AF65-F5344CB8AC3E}">
        <p14:creationId xmlns:p14="http://schemas.microsoft.com/office/powerpoint/2010/main" val="3157331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7</a:t>
            </a:fld>
            <a:endParaRPr lang="en-GB" dirty="0"/>
          </a:p>
        </p:txBody>
      </p:sp>
    </p:spTree>
    <p:extLst>
      <p:ext uri="{BB962C8B-B14F-4D97-AF65-F5344CB8AC3E}">
        <p14:creationId xmlns:p14="http://schemas.microsoft.com/office/powerpoint/2010/main" val="1453994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dpo@revolut.com</a:t>
            </a:r>
            <a:r>
              <a:rPr lang="en-GB" dirty="0"/>
              <a:t>.  Is not a named Individual</a:t>
            </a:r>
          </a:p>
          <a:p>
            <a:r>
              <a:rPr lang="en-GB" dirty="0"/>
              <a:t>https://www.revolut.com/code-of-conduct/ </a:t>
            </a:r>
          </a:p>
        </p:txBody>
      </p:sp>
      <p:sp>
        <p:nvSpPr>
          <p:cNvPr id="4" name="Slide Number Placeholder 3"/>
          <p:cNvSpPr>
            <a:spLocks noGrp="1"/>
          </p:cNvSpPr>
          <p:nvPr>
            <p:ph type="sldNum" sz="quarter" idx="5"/>
          </p:nvPr>
        </p:nvSpPr>
        <p:spPr/>
        <p:txBody>
          <a:bodyPr/>
          <a:lstStyle/>
          <a:p>
            <a:fld id="{3A5FC9EB-517E-4638-8DCB-DA2EAE9F014D}" type="slidenum">
              <a:rPr lang="en-GB" smtClean="0"/>
              <a:t>8</a:t>
            </a:fld>
            <a:endParaRPr lang="en-GB" dirty="0"/>
          </a:p>
        </p:txBody>
      </p:sp>
    </p:spTree>
    <p:extLst>
      <p:ext uri="{BB962C8B-B14F-4D97-AF65-F5344CB8AC3E}">
        <p14:creationId xmlns:p14="http://schemas.microsoft.com/office/powerpoint/2010/main" val="1689329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9</a:t>
            </a:fld>
            <a:endParaRPr lang="en-GB" dirty="0"/>
          </a:p>
        </p:txBody>
      </p:sp>
    </p:spTree>
    <p:extLst>
      <p:ext uri="{BB962C8B-B14F-4D97-AF65-F5344CB8AC3E}">
        <p14:creationId xmlns:p14="http://schemas.microsoft.com/office/powerpoint/2010/main" val="2408627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10</a:t>
            </a:fld>
            <a:endParaRPr lang="en-GB" dirty="0"/>
          </a:p>
        </p:txBody>
      </p:sp>
    </p:spTree>
    <p:extLst>
      <p:ext uri="{BB962C8B-B14F-4D97-AF65-F5344CB8AC3E}">
        <p14:creationId xmlns:p14="http://schemas.microsoft.com/office/powerpoint/2010/main" val="2129254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11</a:t>
            </a:fld>
            <a:endParaRPr lang="en-GB" dirty="0"/>
          </a:p>
        </p:txBody>
      </p:sp>
    </p:spTree>
    <p:extLst>
      <p:ext uri="{BB962C8B-B14F-4D97-AF65-F5344CB8AC3E}">
        <p14:creationId xmlns:p14="http://schemas.microsoft.com/office/powerpoint/2010/main" val="4045552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12</a:t>
            </a:fld>
            <a:endParaRPr lang="en-GB" dirty="0"/>
          </a:p>
        </p:txBody>
      </p:sp>
    </p:spTree>
    <p:extLst>
      <p:ext uri="{BB962C8B-B14F-4D97-AF65-F5344CB8AC3E}">
        <p14:creationId xmlns:p14="http://schemas.microsoft.com/office/powerpoint/2010/main" val="2315629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13</a:t>
            </a:fld>
            <a:endParaRPr lang="en-GB" dirty="0"/>
          </a:p>
        </p:txBody>
      </p:sp>
    </p:spTree>
    <p:extLst>
      <p:ext uri="{BB962C8B-B14F-4D97-AF65-F5344CB8AC3E}">
        <p14:creationId xmlns:p14="http://schemas.microsoft.com/office/powerpoint/2010/main" val="2926657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14</a:t>
            </a:fld>
            <a:endParaRPr lang="en-GB" dirty="0"/>
          </a:p>
        </p:txBody>
      </p:sp>
    </p:spTree>
    <p:extLst>
      <p:ext uri="{BB962C8B-B14F-4D97-AF65-F5344CB8AC3E}">
        <p14:creationId xmlns:p14="http://schemas.microsoft.com/office/powerpoint/2010/main" val="3601377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16</a:t>
            </a:fld>
            <a:endParaRPr lang="en-GB" dirty="0"/>
          </a:p>
        </p:txBody>
      </p:sp>
    </p:spTree>
    <p:extLst>
      <p:ext uri="{BB962C8B-B14F-4D97-AF65-F5344CB8AC3E}">
        <p14:creationId xmlns:p14="http://schemas.microsoft.com/office/powerpoint/2010/main" val="13949145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17</a:t>
            </a:fld>
            <a:endParaRPr lang="en-GB" dirty="0"/>
          </a:p>
        </p:txBody>
      </p:sp>
    </p:spTree>
    <p:extLst>
      <p:ext uri="{BB962C8B-B14F-4D97-AF65-F5344CB8AC3E}">
        <p14:creationId xmlns:p14="http://schemas.microsoft.com/office/powerpoint/2010/main" val="9650300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18</a:t>
            </a:fld>
            <a:endParaRPr lang="en-GB" dirty="0"/>
          </a:p>
        </p:txBody>
      </p:sp>
    </p:spTree>
    <p:extLst>
      <p:ext uri="{BB962C8B-B14F-4D97-AF65-F5344CB8AC3E}">
        <p14:creationId xmlns:p14="http://schemas.microsoft.com/office/powerpoint/2010/main" val="1797600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22</a:t>
            </a:fld>
            <a:endParaRPr lang="en-GB" dirty="0"/>
          </a:p>
        </p:txBody>
      </p:sp>
    </p:spTree>
    <p:extLst>
      <p:ext uri="{BB962C8B-B14F-4D97-AF65-F5344CB8AC3E}">
        <p14:creationId xmlns:p14="http://schemas.microsoft.com/office/powerpoint/2010/main" val="1061140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23</a:t>
            </a:fld>
            <a:endParaRPr lang="en-GB" dirty="0"/>
          </a:p>
        </p:txBody>
      </p:sp>
    </p:spTree>
    <p:extLst>
      <p:ext uri="{BB962C8B-B14F-4D97-AF65-F5344CB8AC3E}">
        <p14:creationId xmlns:p14="http://schemas.microsoft.com/office/powerpoint/2010/main" val="21819641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24</a:t>
            </a:fld>
            <a:endParaRPr lang="en-GB" dirty="0"/>
          </a:p>
        </p:txBody>
      </p:sp>
    </p:spTree>
    <p:extLst>
      <p:ext uri="{BB962C8B-B14F-4D97-AF65-F5344CB8AC3E}">
        <p14:creationId xmlns:p14="http://schemas.microsoft.com/office/powerpoint/2010/main" val="7168826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25</a:t>
            </a:fld>
            <a:endParaRPr lang="en-GB" dirty="0"/>
          </a:p>
        </p:txBody>
      </p:sp>
    </p:spTree>
    <p:extLst>
      <p:ext uri="{BB962C8B-B14F-4D97-AF65-F5344CB8AC3E}">
        <p14:creationId xmlns:p14="http://schemas.microsoft.com/office/powerpoint/2010/main" val="3707448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26</a:t>
            </a:fld>
            <a:endParaRPr lang="en-GB" dirty="0"/>
          </a:p>
        </p:txBody>
      </p:sp>
    </p:spTree>
    <p:extLst>
      <p:ext uri="{BB962C8B-B14F-4D97-AF65-F5344CB8AC3E}">
        <p14:creationId xmlns:p14="http://schemas.microsoft.com/office/powerpoint/2010/main" val="5672496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27</a:t>
            </a:fld>
            <a:endParaRPr lang="en-GB" dirty="0"/>
          </a:p>
        </p:txBody>
      </p:sp>
    </p:spTree>
    <p:extLst>
      <p:ext uri="{BB962C8B-B14F-4D97-AF65-F5344CB8AC3E}">
        <p14:creationId xmlns:p14="http://schemas.microsoft.com/office/powerpoint/2010/main" val="331749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524880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171354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9940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498979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348107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734475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509564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844873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100763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507304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3380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42763351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539412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220595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491217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8375587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9432429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5991528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866745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9249F5-ABDC-F949-8525-04D1FEAB47D9}"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625713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9249F5-ABDC-F949-8525-04D1FEAB47D9}" type="datetimeFigureOut">
              <a:rPr lang="en-US" smtClean="0"/>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50982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9249F5-ABDC-F949-8525-04D1FEAB47D9}" type="datetimeFigureOut">
              <a:rPr lang="en-US" smtClean="0"/>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1944292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9249F5-ABDC-F949-8525-04D1FEAB47D9}" type="datetimeFigureOut">
              <a:rPr lang="en-US" smtClean="0"/>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327161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3451927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3888784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7625563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002279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2875313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127192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9260332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9951877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4235039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DF18A0D-19D7-483E-8D3A-5A9966FD8325}" type="datetimeFigureOut">
              <a:rPr lang="en-GB" smtClean="0"/>
              <a:t>09/03/2026</a:t>
            </a:fld>
            <a:endParaRPr lang="en-GB"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F70344D-39BF-46A3-ACFD-CC813BE92296}" type="slidenum">
              <a:rPr lang="en-GB" smtClean="0"/>
              <a:t>‹#›</a:t>
            </a:fld>
            <a:endParaRPr lang="en-GB" dirty="0"/>
          </a:p>
        </p:txBody>
      </p:sp>
    </p:spTree>
    <p:extLst>
      <p:ext uri="{BB962C8B-B14F-4D97-AF65-F5344CB8AC3E}">
        <p14:creationId xmlns:p14="http://schemas.microsoft.com/office/powerpoint/2010/main" val="1679782461"/>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 id="2147483937" r:id="rId13"/>
    <p:sldLayoutId id="2147483938" r:id="rId14"/>
    <p:sldLayoutId id="2147483939" r:id="rId15"/>
    <p:sldLayoutId id="214748394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49249F5-ABDC-F949-8525-04D1FEAB47D9}" type="datetimeFigureOut">
              <a:rPr lang="en-US" smtClean="0"/>
              <a:t>3/9/2026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9A5F2D9-2677-EE4F-8BB0-D6DF5E3DAB80}" type="slidenum">
              <a:rPr lang="en-US" smtClean="0"/>
              <a:t>‹#›</a:t>
            </a:fld>
            <a:endParaRPr lang="en-US"/>
          </a:p>
        </p:txBody>
      </p:sp>
    </p:spTree>
    <p:extLst>
      <p:ext uri="{BB962C8B-B14F-4D97-AF65-F5344CB8AC3E}">
        <p14:creationId xmlns:p14="http://schemas.microsoft.com/office/powerpoint/2010/main" val="2412542405"/>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4" r:id="rId3"/>
    <p:sldLayoutId id="2147483945" r:id="rId4"/>
    <p:sldLayoutId id="2147483946" r:id="rId5"/>
    <p:sldLayoutId id="2147483947" r:id="rId6"/>
    <p:sldLayoutId id="2147483948" r:id="rId7"/>
    <p:sldLayoutId id="2147483949" r:id="rId8"/>
    <p:sldLayoutId id="2147483950" r:id="rId9"/>
    <p:sldLayoutId id="2147483951" r:id="rId10"/>
    <p:sldLayoutId id="2147483952" r:id="rId11"/>
    <p:sldLayoutId id="2147483953" r:id="rId12"/>
    <p:sldLayoutId id="2147483954" r:id="rId13"/>
    <p:sldLayoutId id="2147483955" r:id="rId14"/>
    <p:sldLayoutId id="2147483956" r:id="rId15"/>
    <p:sldLayoutId id="214748395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brightspace.tudublin.ie/d2l/home/472265" TargetMode="Externa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ssets.revolut.com/pdf/annualreport2024.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vision-net.ie/news/working-with-revolut-for-faster-loan-approvals/?utm_content=241092490&amp;utm_medium=social&amp;utm_source=linkedin&amp;hss_channel=lcp-16179584"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revolut.com/our-cultur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www.revolut.com/legal/privacy/" TargetMode="External"/><Relationship Id="rId4" Type="http://schemas.openxmlformats.org/officeDocument/2006/relationships/hyperlink" Target="https://www.revolut.com/code-of-conduct/"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hhs.gov/ohrp/regulations-and-policy/belmont-report/read-the-belmont-report/index.ht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www.mccormick.northwestern.edu/research/engineering-education-research-center/documents/events/insight-xiii/ethics-frameworks-and-philosophies-edit.pdf"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assets.revolut.com/pdf/annualreport2024.pdf"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revolut.com/en-IE/legal/privacy/"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revolut.com/en-IE/legal/privacy/"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edpb.europa.eu/about-edpb/about-edpb/members_en"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www.revolut.com/en-IE/legal/privacy/" TargetMode="External"/><Relationship Id="rId5" Type="http://schemas.openxmlformats.org/officeDocument/2006/relationships/hyperlink" Target="https://vdai.lrv.lt/en/" TargetMode="External"/><Relationship Id="rId4" Type="http://schemas.openxmlformats.org/officeDocument/2006/relationships/hyperlink" Target="https://ico.org.uk/"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assets.revolut.com/pdf/annualreport2024.pdf"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assets.revolut.com/pdf/annualreport2024.pdf"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mailto:dpo@revolut.com"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assets.revolut.com/pdf/annualreport2024.pdf"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hyperlink" Target="https://www.revolut.com/en-IE/legal/conflict-of-interest/" TargetMode="External"/><Relationship Id="rId13" Type="http://schemas.openxmlformats.org/officeDocument/2006/relationships/hyperlink" Target="https://www.revolut.com/en-IE/financial-statements/" TargetMode="External"/><Relationship Id="rId18" Type="http://schemas.openxmlformats.org/officeDocument/2006/relationships/hyperlink" Target="https://www.revolut.com/en-IE/legal/tailored-ads-privacy-notice/" TargetMode="External"/><Relationship Id="rId3" Type="http://schemas.openxmlformats.org/officeDocument/2006/relationships/hyperlink" Target="https://www.revolut.com/en-IE/about/" TargetMode="External"/><Relationship Id="rId7" Type="http://schemas.openxmlformats.org/officeDocument/2006/relationships/hyperlink" Target="https://www.revolut.com/code-of-conduct/" TargetMode="External"/><Relationship Id="rId12" Type="http://schemas.openxmlformats.org/officeDocument/2006/relationships/hyperlink" Target="https://eur-lex.europa.eu/EN/legal-content/summary/european-single-access-point.html" TargetMode="External"/><Relationship Id="rId17" Type="http://schemas.openxmlformats.org/officeDocument/2006/relationships/hyperlink" Target="https://www.revolut.com/sustainability/" TargetMode="External"/><Relationship Id="rId2" Type="http://schemas.openxmlformats.org/officeDocument/2006/relationships/notesSlide" Target="../notesSlides/notesSlide21.xml"/><Relationship Id="rId16" Type="http://schemas.openxmlformats.org/officeDocument/2006/relationships/hyperlink" Target="https://www.revolut.com/en-IE/personal-loans/" TargetMode="External"/><Relationship Id="rId1" Type="http://schemas.openxmlformats.org/officeDocument/2006/relationships/slideLayout" Target="../slideLayouts/slideLayout2.xml"/><Relationship Id="rId6" Type="http://schemas.openxmlformats.org/officeDocument/2006/relationships/hyperlink" Target="https://www.crif.ie/automated-kyc-aml-and-pep-checks/" TargetMode="External"/><Relationship Id="rId11" Type="http://schemas.openxmlformats.org/officeDocument/2006/relationships/hyperlink" Target="https://artificialintelligenceact.eu/" TargetMode="External"/><Relationship Id="rId5" Type="http://schemas.openxmlformats.org/officeDocument/2006/relationships/hyperlink" Target="https://assets.revolut.com/pdf/annualreport2024.pdf" TargetMode="External"/><Relationship Id="rId15" Type="http://schemas.openxmlformats.org/officeDocument/2006/relationships/hyperlink" Target="https://www.revolut.com/our-culture/" TargetMode="External"/><Relationship Id="rId10" Type="http://schemas.openxmlformats.org/officeDocument/2006/relationships/hyperlink" Target="https://www.revolut.com/diversity-inclusion/" TargetMode="External"/><Relationship Id="rId4" Type="http://schemas.openxmlformats.org/officeDocument/2006/relationships/hyperlink" Target="https://cro.ie/annual-return/" TargetMode="External"/><Relationship Id="rId9" Type="http://schemas.openxmlformats.org/officeDocument/2006/relationships/hyperlink" Target="https://www.revolut.com/en-IE/legal/privacy/" TargetMode="External"/><Relationship Id="rId14" Type="http://schemas.openxmlformats.org/officeDocument/2006/relationships/hyperlink" Target="https://gdpr.eu/cookies/"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5D79-D71A-4A71-86E3-E4952A6E169A}"/>
              </a:ext>
            </a:extLst>
          </p:cNvPr>
          <p:cNvSpPr>
            <a:spLocks noGrp="1"/>
          </p:cNvSpPr>
          <p:nvPr>
            <p:ph type="title"/>
          </p:nvPr>
        </p:nvSpPr>
        <p:spPr>
          <a:xfrm>
            <a:off x="833002" y="365125"/>
            <a:ext cx="10520796" cy="5811837"/>
          </a:xfrm>
        </p:spPr>
        <p:txBody>
          <a:bodyPr>
            <a:normAutofit fontScale="90000"/>
          </a:bodyPr>
          <a:lstStyle/>
          <a:p>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br>
              <a:rPr lang="en-US" dirty="0">
                <a:cs typeface="Calibri Light"/>
              </a:rPr>
            </a:br>
            <a:r>
              <a:rPr lang="en-GB" dirty="0">
                <a:hlinkClick r:id="rId2" tooltip="Data Management DATA9911: Jan-May Academic Term 2025/26"/>
              </a:rPr>
              <a:t>Data Management DATA9911</a:t>
            </a:r>
            <a:br>
              <a:rPr lang="en-GB" dirty="0"/>
            </a:br>
            <a:r>
              <a:rPr lang="en-US" dirty="0"/>
              <a:t>CA1</a:t>
            </a:r>
            <a:br>
              <a:rPr lang="en-US" dirty="0">
                <a:solidFill>
                  <a:srgbClr val="FFFFFF"/>
                </a:solidFill>
                <a:cs typeface="Calibri Light"/>
              </a:rPr>
            </a:br>
            <a:br>
              <a:rPr lang="en-US" dirty="0">
                <a:solidFill>
                  <a:srgbClr val="FFFFFF"/>
                </a:solidFill>
                <a:cs typeface="Calibri Light"/>
              </a:rPr>
            </a:br>
            <a:br>
              <a:rPr lang="en-US" dirty="0">
                <a:solidFill>
                  <a:srgbClr val="FFFFFF"/>
                </a:solidFill>
                <a:cs typeface="Calibri Light"/>
              </a:rPr>
            </a:br>
            <a:r>
              <a:rPr lang="en-US" sz="2200" dirty="0">
                <a:solidFill>
                  <a:srgbClr val="FFFFFF"/>
                </a:solidFill>
                <a:cs typeface="Calibri Light"/>
              </a:rPr>
              <a:t>Student name = </a:t>
            </a:r>
            <a:r>
              <a:rPr lang="en-US" sz="2200" dirty="0" err="1">
                <a:solidFill>
                  <a:srgbClr val="FFFFFF"/>
                </a:solidFill>
                <a:cs typeface="Calibri Light"/>
              </a:rPr>
              <a:t>eamonn</a:t>
            </a:r>
            <a:r>
              <a:rPr lang="en-US" sz="2200" dirty="0">
                <a:solidFill>
                  <a:srgbClr val="FFFFFF"/>
                </a:solidFill>
                <a:cs typeface="Calibri Light"/>
              </a:rPr>
              <a:t> kelly</a:t>
            </a:r>
            <a:br>
              <a:rPr lang="en-US" sz="2200" dirty="0">
                <a:solidFill>
                  <a:srgbClr val="FFFFFF"/>
                </a:solidFill>
                <a:cs typeface="Calibri Light"/>
              </a:rPr>
            </a:br>
            <a:r>
              <a:rPr lang="en-US" sz="2200" dirty="0">
                <a:solidFill>
                  <a:srgbClr val="FFFFFF"/>
                </a:solidFill>
                <a:cs typeface="Calibri Light"/>
              </a:rPr>
              <a:t>Student number = </a:t>
            </a:r>
            <a:r>
              <a:rPr lang="fi-FI" sz="2200" dirty="0">
                <a:solidFill>
                  <a:srgbClr val="FFFFFF"/>
                </a:solidFill>
                <a:cs typeface="Calibri Light"/>
              </a:rPr>
              <a:t>D24127620</a:t>
            </a:r>
            <a:br>
              <a:rPr lang="fi-FI" sz="2200" dirty="0">
                <a:solidFill>
                  <a:srgbClr val="FFFFFF"/>
                </a:solidFill>
                <a:cs typeface="Calibri Light"/>
              </a:rPr>
            </a:br>
            <a:r>
              <a:rPr lang="fi-FI" sz="2200" dirty="0">
                <a:solidFill>
                  <a:srgbClr val="FFFFFF"/>
                </a:solidFill>
                <a:cs typeface="Calibri Light"/>
              </a:rPr>
              <a:t>Date = Mar 2026</a:t>
            </a:r>
            <a:endParaRPr lang="en-US" sz="2200" dirty="0">
              <a:solidFill>
                <a:srgbClr val="FFFFFF"/>
              </a:solidFill>
              <a:cs typeface="Calibri Light"/>
            </a:endParaRPr>
          </a:p>
        </p:txBody>
      </p:sp>
    </p:spTree>
    <p:extLst>
      <p:ext uri="{BB962C8B-B14F-4D97-AF65-F5344CB8AC3E}">
        <p14:creationId xmlns:p14="http://schemas.microsoft.com/office/powerpoint/2010/main" val="382290074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6CD7-10F4-E5F6-04AD-98CA1D6E20A9}"/>
              </a:ext>
            </a:extLst>
          </p:cNvPr>
          <p:cNvSpPr>
            <a:spLocks noGrp="1"/>
          </p:cNvSpPr>
          <p:nvPr>
            <p:ph type="title"/>
          </p:nvPr>
        </p:nvSpPr>
        <p:spPr/>
        <p:txBody>
          <a:bodyPr/>
          <a:lstStyle/>
          <a:p>
            <a:r>
              <a:rPr lang="en-GB" dirty="0"/>
              <a:t>Data Science Domain</a:t>
            </a:r>
          </a:p>
        </p:txBody>
      </p:sp>
      <p:sp>
        <p:nvSpPr>
          <p:cNvPr id="3" name="Content Placeholder 2">
            <a:extLst>
              <a:ext uri="{FF2B5EF4-FFF2-40B4-BE49-F238E27FC236}">
                <a16:creationId xmlns:a16="http://schemas.microsoft.com/office/drawing/2014/main" id="{B8DA378C-5B7A-4A72-1578-BD407FC56C4A}"/>
              </a:ext>
            </a:extLst>
          </p:cNvPr>
          <p:cNvSpPr>
            <a:spLocks noGrp="1"/>
          </p:cNvSpPr>
          <p:nvPr>
            <p:ph idx="1"/>
          </p:nvPr>
        </p:nvSpPr>
        <p:spPr>
          <a:xfrm>
            <a:off x="519953" y="1398494"/>
            <a:ext cx="11348197" cy="5094381"/>
          </a:xfrm>
        </p:spPr>
        <p:txBody>
          <a:bodyPr>
            <a:normAutofit/>
          </a:bodyPr>
          <a:lstStyle/>
          <a:p>
            <a:pPr lvl="0"/>
            <a:r>
              <a:rPr lang="en-GB" dirty="0"/>
              <a:t>Fintech – Revolut</a:t>
            </a:r>
          </a:p>
          <a:p>
            <a:pPr lvl="1"/>
            <a:r>
              <a:rPr lang="en-GB" dirty="0"/>
              <a:t>I chose this after looking at various options, and I had looked at related FinTech ESG ratings companies as part of a previous assignment in another course, so was relatively familiar with the domain space.</a:t>
            </a:r>
          </a:p>
          <a:p>
            <a:pPr lvl="1"/>
            <a:r>
              <a:rPr lang="en-GB" dirty="0"/>
              <a:t>It is very relevant and likely to be encountered more and more as bricks and mortar banks are reducing their presence or access. </a:t>
            </a:r>
          </a:p>
          <a:p>
            <a:pPr lvl="1"/>
            <a:r>
              <a:rPr lang="en-GB" dirty="0"/>
              <a:t>People are having more and more engagement with companies like these, on-line only,  in a number of areas.</a:t>
            </a:r>
          </a:p>
          <a:p>
            <a:pPr lvl="1"/>
            <a:r>
              <a:rPr lang="en-GB" dirty="0"/>
              <a:t>Consumers requiring faster transactions and approvals for loans. </a:t>
            </a:r>
          </a:p>
          <a:p>
            <a:pPr lvl="1"/>
            <a:r>
              <a:rPr lang="en-GB" dirty="0"/>
              <a:t>This increase in speed required the addition of more automation and the assessment of various amounts of data</a:t>
            </a:r>
          </a:p>
          <a:p>
            <a:pPr lvl="1"/>
            <a:r>
              <a:rPr lang="en-GB" dirty="0"/>
              <a:t>GDPR Personal and financial data is present and processed, and needs to be done so quickly and efficiently, without prejudice or bias.</a:t>
            </a:r>
          </a:p>
          <a:p>
            <a:pPr lvl="1"/>
            <a:r>
              <a:rPr lang="en-GB" dirty="0"/>
              <a:t>How can this be achieved whilst providing explainability, transparency and accountability?</a:t>
            </a:r>
          </a:p>
          <a:p>
            <a:endParaRPr lang="en-GB" dirty="0"/>
          </a:p>
        </p:txBody>
      </p:sp>
    </p:spTree>
    <p:extLst>
      <p:ext uri="{BB962C8B-B14F-4D97-AF65-F5344CB8AC3E}">
        <p14:creationId xmlns:p14="http://schemas.microsoft.com/office/powerpoint/2010/main" val="2835807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A89F9-454A-C033-1387-194855D062F2}"/>
              </a:ext>
            </a:extLst>
          </p:cNvPr>
          <p:cNvSpPr>
            <a:spLocks noGrp="1"/>
          </p:cNvSpPr>
          <p:nvPr>
            <p:ph type="title"/>
          </p:nvPr>
        </p:nvSpPr>
        <p:spPr>
          <a:xfrm>
            <a:off x="981636" y="0"/>
            <a:ext cx="9829800" cy="865935"/>
          </a:xfrm>
        </p:spPr>
        <p:txBody>
          <a:bodyPr/>
          <a:lstStyle/>
          <a:p>
            <a:r>
              <a:rPr lang="en-GB" dirty="0"/>
              <a:t>Revolut</a:t>
            </a:r>
          </a:p>
        </p:txBody>
      </p:sp>
      <p:sp>
        <p:nvSpPr>
          <p:cNvPr id="3" name="Content Placeholder 2">
            <a:extLst>
              <a:ext uri="{FF2B5EF4-FFF2-40B4-BE49-F238E27FC236}">
                <a16:creationId xmlns:a16="http://schemas.microsoft.com/office/drawing/2014/main" id="{B466286F-55E4-9F5B-3EF7-AB6C96C886DE}"/>
              </a:ext>
            </a:extLst>
          </p:cNvPr>
          <p:cNvSpPr>
            <a:spLocks noGrp="1"/>
          </p:cNvSpPr>
          <p:nvPr>
            <p:ph idx="1"/>
          </p:nvPr>
        </p:nvSpPr>
        <p:spPr>
          <a:xfrm>
            <a:off x="430306" y="853330"/>
            <a:ext cx="11331387" cy="5776911"/>
          </a:xfrm>
        </p:spPr>
        <p:txBody>
          <a:bodyPr>
            <a:normAutofit lnSpcReduction="10000"/>
          </a:bodyPr>
          <a:lstStyle/>
          <a:p>
            <a:r>
              <a:rPr lang="en-GB" dirty="0"/>
              <a:t>2022</a:t>
            </a:r>
          </a:p>
          <a:p>
            <a:pPr lvl="1"/>
            <a:r>
              <a:rPr lang="en-GB" dirty="0"/>
              <a:t>Launched Personal Loans in Ireland, Romania, and the US</a:t>
            </a:r>
          </a:p>
          <a:p>
            <a:r>
              <a:rPr lang="en-GB" dirty="0"/>
              <a:t>2023</a:t>
            </a:r>
          </a:p>
          <a:p>
            <a:pPr lvl="1"/>
            <a:r>
              <a:rPr lang="en-GB" dirty="0"/>
              <a:t>Launched local IBANs in Ireland, Spain and Netherlands, and business IBANs in France and Ireland</a:t>
            </a:r>
          </a:p>
          <a:p>
            <a:pPr lvl="1"/>
            <a:r>
              <a:rPr lang="en-GB" dirty="0"/>
              <a:t>Launched Personal Loans in Spain, Germany and France, and Credit cards in Spain and Ireland</a:t>
            </a:r>
          </a:p>
          <a:p>
            <a:pPr lvl="1"/>
            <a:endParaRPr lang="en-GB" dirty="0"/>
          </a:p>
          <a:p>
            <a:r>
              <a:rPr lang="en-GB" dirty="0"/>
              <a:t>2024</a:t>
            </a:r>
          </a:p>
          <a:p>
            <a:pPr lvl="1"/>
            <a:r>
              <a:rPr lang="en-GB" dirty="0"/>
              <a:t>52.5 million customers held active Revolut personal accounts, marking a 38% increase from the previous year.</a:t>
            </a:r>
          </a:p>
          <a:p>
            <a:pPr lvl="1"/>
            <a:r>
              <a:rPr lang="en-GB" dirty="0"/>
              <a:t>Became most valuable private technology company in Europe at an implied $45B valuation</a:t>
            </a:r>
          </a:p>
          <a:p>
            <a:endParaRPr lang="en-GB" dirty="0"/>
          </a:p>
          <a:p>
            <a:r>
              <a:rPr lang="en-GB" dirty="0"/>
              <a:t>This company and product has an impact on a lot of people and as such good ethical, data protection and privacy aswell as data governance standards are essential</a:t>
            </a:r>
          </a:p>
          <a:p>
            <a:r>
              <a:rPr lang="en-GB" dirty="0"/>
              <a:t>Revolut has headquarters in London, and operates in the EU under a Lithuanian Licence and with the supervision of the ECB.</a:t>
            </a:r>
          </a:p>
          <a:p>
            <a:pPr lvl="1"/>
            <a:endParaRPr lang="en-GB" dirty="0"/>
          </a:p>
          <a:p>
            <a:pPr lvl="1"/>
            <a:r>
              <a:rPr lang="en-GB" dirty="0">
                <a:hlinkClick r:id="rId3"/>
              </a:rPr>
              <a:t>https://assets.revolut.com/pdf/annualreport2024.pdf</a:t>
            </a:r>
            <a:endParaRPr lang="en-GB" dirty="0"/>
          </a:p>
        </p:txBody>
      </p:sp>
    </p:spTree>
    <p:extLst>
      <p:ext uri="{BB962C8B-B14F-4D97-AF65-F5344CB8AC3E}">
        <p14:creationId xmlns:p14="http://schemas.microsoft.com/office/powerpoint/2010/main" val="1269280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80B6-D9C6-414C-FD9D-6615B4CE0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46F7C-C50F-04AE-F812-FA9DF24392B8}"/>
              </a:ext>
            </a:extLst>
          </p:cNvPr>
          <p:cNvSpPr>
            <a:spLocks noGrp="1"/>
          </p:cNvSpPr>
          <p:nvPr>
            <p:ph type="title"/>
          </p:nvPr>
        </p:nvSpPr>
        <p:spPr>
          <a:xfrm>
            <a:off x="506400" y="181706"/>
            <a:ext cx="10487181" cy="865935"/>
          </a:xfrm>
        </p:spPr>
        <p:txBody>
          <a:bodyPr>
            <a:normAutofit/>
          </a:bodyPr>
          <a:lstStyle/>
          <a:p>
            <a:r>
              <a:rPr lang="en-GB" dirty="0"/>
              <a:t>Product  / Service = </a:t>
            </a:r>
            <a:r>
              <a:rPr lang="en-GB" b="1" dirty="0"/>
              <a:t>Revolut Personal Loans</a:t>
            </a:r>
          </a:p>
        </p:txBody>
      </p:sp>
      <p:sp>
        <p:nvSpPr>
          <p:cNvPr id="6" name="Rectangle 2">
            <a:extLst>
              <a:ext uri="{FF2B5EF4-FFF2-40B4-BE49-F238E27FC236}">
                <a16:creationId xmlns:a16="http://schemas.microsoft.com/office/drawing/2014/main" id="{BCFE691D-D680-2008-42D6-BCCBAA70A178}"/>
              </a:ext>
            </a:extLst>
          </p:cNvPr>
          <p:cNvSpPr>
            <a:spLocks noGrp="1" noChangeArrowheads="1"/>
          </p:cNvSpPr>
          <p:nvPr>
            <p:ph idx="1"/>
          </p:nvPr>
        </p:nvSpPr>
        <p:spPr bwMode="auto">
          <a:xfrm>
            <a:off x="214010" y="981676"/>
            <a:ext cx="11977990"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GB" altLang="en-US" sz="2400" dirty="0">
                <a:latin typeface="+mj-lt"/>
                <a:ea typeface="+mj-ea"/>
                <a:cs typeface="+mj-cs"/>
              </a:rPr>
              <a:t>Automated Lending Product  – </a:t>
            </a:r>
          </a:p>
          <a:p>
            <a:pPr eaLnBrk="0" fontAlgn="base" hangingPunct="0">
              <a:lnSpc>
                <a:spcPct val="100000"/>
              </a:lnSpc>
              <a:spcBef>
                <a:spcPct val="0"/>
              </a:spcBef>
              <a:spcAft>
                <a:spcPct val="0"/>
              </a:spcAft>
            </a:pPr>
            <a:r>
              <a:rPr lang="en-GB" altLang="en-US" sz="2400" dirty="0">
                <a:latin typeface="+mj-lt"/>
                <a:ea typeface="+mj-ea"/>
                <a:cs typeface="+mj-cs"/>
              </a:rPr>
              <a:t>Conditions of application</a:t>
            </a:r>
          </a:p>
          <a:p>
            <a:pPr lvl="1" eaLnBrk="0" fontAlgn="base" hangingPunct="0">
              <a:lnSpc>
                <a:spcPct val="100000"/>
              </a:lnSpc>
              <a:spcBef>
                <a:spcPct val="0"/>
              </a:spcBef>
              <a:spcAft>
                <a:spcPct val="0"/>
              </a:spcAft>
            </a:pPr>
            <a:r>
              <a:rPr lang="en-GB" altLang="en-US" sz="2000" dirty="0">
                <a:latin typeface="+mj-lt"/>
                <a:ea typeface="+mj-ea"/>
                <a:cs typeface="+mj-cs"/>
              </a:rPr>
              <a:t>full resident in the Republic of Ireland</a:t>
            </a:r>
          </a:p>
          <a:p>
            <a:pPr lvl="1" eaLnBrk="0" fontAlgn="base" hangingPunct="0">
              <a:lnSpc>
                <a:spcPct val="100000"/>
              </a:lnSpc>
              <a:spcBef>
                <a:spcPct val="0"/>
              </a:spcBef>
              <a:spcAft>
                <a:spcPct val="0"/>
              </a:spcAft>
            </a:pPr>
            <a:r>
              <a:rPr lang="en-GB" altLang="en-US" sz="2000" dirty="0">
                <a:latin typeface="+mj-lt"/>
                <a:ea typeface="+mj-ea"/>
                <a:cs typeface="+mj-cs"/>
              </a:rPr>
              <a:t>at least 18 years old</a:t>
            </a:r>
          </a:p>
          <a:p>
            <a:pPr lvl="1" eaLnBrk="0" fontAlgn="base" hangingPunct="0">
              <a:lnSpc>
                <a:spcPct val="100000"/>
              </a:lnSpc>
              <a:spcBef>
                <a:spcPct val="0"/>
              </a:spcBef>
              <a:spcAft>
                <a:spcPct val="0"/>
              </a:spcAft>
            </a:pPr>
            <a:r>
              <a:rPr lang="en-GB" altLang="en-US" sz="2000" dirty="0">
                <a:latin typeface="+mj-lt"/>
                <a:ea typeface="+mj-ea"/>
                <a:cs typeface="+mj-cs"/>
              </a:rPr>
              <a:t>permanently live in a registered address in Ireland and the address linked to your Revolut account is up-to-date</a:t>
            </a:r>
          </a:p>
          <a:p>
            <a:pPr lvl="1" eaLnBrk="0" fontAlgn="base" hangingPunct="0">
              <a:lnSpc>
                <a:spcPct val="100000"/>
              </a:lnSpc>
              <a:spcBef>
                <a:spcPct val="0"/>
              </a:spcBef>
              <a:spcAft>
                <a:spcPct val="0"/>
              </a:spcAft>
            </a:pPr>
            <a:r>
              <a:rPr lang="en-GB" altLang="en-US" sz="2000" dirty="0">
                <a:latin typeface="+mj-lt"/>
                <a:ea typeface="+mj-ea"/>
                <a:cs typeface="+mj-cs"/>
              </a:rPr>
              <a:t>An </a:t>
            </a:r>
            <a:r>
              <a:rPr lang="en-GB" altLang="en-US" sz="2000" b="1" dirty="0">
                <a:latin typeface="+mj-lt"/>
                <a:ea typeface="+mj-ea"/>
                <a:cs typeface="+mj-cs"/>
              </a:rPr>
              <a:t>active Revolut customer for at least 30 days </a:t>
            </a:r>
            <a:r>
              <a:rPr lang="en-GB" altLang="en-US" sz="2000" dirty="0">
                <a:latin typeface="+mj-lt"/>
                <a:ea typeface="+mj-ea"/>
                <a:cs typeface="+mj-cs"/>
              </a:rPr>
              <a:t>and have no information missing from your account</a:t>
            </a:r>
          </a:p>
          <a:p>
            <a:pPr lvl="1" eaLnBrk="0" fontAlgn="base" hangingPunct="0">
              <a:lnSpc>
                <a:spcPct val="100000"/>
              </a:lnSpc>
              <a:spcBef>
                <a:spcPct val="0"/>
              </a:spcBef>
              <a:spcAft>
                <a:spcPct val="0"/>
              </a:spcAft>
            </a:pPr>
            <a:r>
              <a:rPr lang="en-GB" altLang="en-US" sz="2000" dirty="0">
                <a:latin typeface="+mj-lt"/>
                <a:ea typeface="+mj-ea"/>
                <a:cs typeface="+mj-cs"/>
              </a:rPr>
              <a:t>employed in Ireland and have your income paid directly into your Revolut, AIB, Bank of Ireland, or Permanent TSB account. You'll need to have received at least 3 consecutive months of income payments from the same employer in the linked bank account</a:t>
            </a:r>
          </a:p>
          <a:p>
            <a:pPr lvl="1" eaLnBrk="0" fontAlgn="base" hangingPunct="0">
              <a:lnSpc>
                <a:spcPct val="100000"/>
              </a:lnSpc>
              <a:spcBef>
                <a:spcPct val="0"/>
              </a:spcBef>
              <a:spcAft>
                <a:spcPct val="0"/>
              </a:spcAft>
            </a:pPr>
            <a:r>
              <a:rPr lang="en-GB" altLang="en-US" sz="2000" dirty="0">
                <a:latin typeface="+mj-lt"/>
                <a:ea typeface="+mj-ea"/>
                <a:cs typeface="+mj-cs"/>
              </a:rPr>
              <a:t>Irish or UK mobile phone number linked to your Revolut account</a:t>
            </a:r>
          </a:p>
          <a:p>
            <a:pPr lvl="1" eaLnBrk="0" fontAlgn="base" hangingPunct="0">
              <a:lnSpc>
                <a:spcPct val="100000"/>
              </a:lnSpc>
              <a:spcBef>
                <a:spcPct val="0"/>
              </a:spcBef>
              <a:spcAft>
                <a:spcPct val="0"/>
              </a:spcAft>
            </a:pPr>
            <a:r>
              <a:rPr lang="en-GB" altLang="en-US" sz="2000" dirty="0">
                <a:latin typeface="+mj-lt"/>
                <a:ea typeface="+mj-ea"/>
                <a:cs typeface="+mj-cs"/>
              </a:rPr>
              <a:t>no negative balances in your Revolut account and no overdue commitments to third parties </a:t>
            </a:r>
          </a:p>
          <a:p>
            <a:pPr eaLnBrk="0" fontAlgn="base" hangingPunct="0">
              <a:lnSpc>
                <a:spcPct val="100000"/>
              </a:lnSpc>
              <a:spcBef>
                <a:spcPct val="0"/>
              </a:spcBef>
              <a:spcAft>
                <a:spcPct val="0"/>
              </a:spcAft>
            </a:pPr>
            <a:endParaRPr lang="en-GB" sz="2400" dirty="0"/>
          </a:p>
          <a:p>
            <a:pPr eaLnBrk="0" fontAlgn="base" hangingPunct="0">
              <a:lnSpc>
                <a:spcPct val="100000"/>
              </a:lnSpc>
              <a:spcBef>
                <a:spcPct val="0"/>
              </a:spcBef>
              <a:spcAft>
                <a:spcPct val="0"/>
              </a:spcAft>
            </a:pPr>
            <a:r>
              <a:rPr lang="en-GB" sz="2400" dirty="0"/>
              <a:t>You should get a decision within 3 business days. </a:t>
            </a:r>
          </a:p>
          <a:p>
            <a:pPr lvl="1" eaLnBrk="0" fontAlgn="base" hangingPunct="0">
              <a:lnSpc>
                <a:spcPct val="100000"/>
              </a:lnSpc>
              <a:spcBef>
                <a:spcPct val="0"/>
              </a:spcBef>
              <a:spcAft>
                <a:spcPct val="0"/>
              </a:spcAft>
            </a:pPr>
            <a:r>
              <a:rPr lang="en-GB" sz="2000" dirty="0"/>
              <a:t>(This contradicts later statement of instantaneous decision – implying there may be a human review, although there is no detail of that)</a:t>
            </a:r>
            <a:endParaRPr lang="en-US" altLang="en-US" sz="2000" dirty="0">
              <a:latin typeface="+mj-lt"/>
              <a:ea typeface="+mj-ea"/>
              <a:cs typeface="+mj-cs"/>
            </a:endParaRPr>
          </a:p>
        </p:txBody>
      </p:sp>
    </p:spTree>
    <p:extLst>
      <p:ext uri="{BB962C8B-B14F-4D97-AF65-F5344CB8AC3E}">
        <p14:creationId xmlns:p14="http://schemas.microsoft.com/office/powerpoint/2010/main" val="1842632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312353-4E6C-A9EB-BC89-84029EEA4421}"/>
              </a:ext>
            </a:extLst>
          </p:cNvPr>
          <p:cNvSpPr/>
          <p:nvPr/>
        </p:nvSpPr>
        <p:spPr>
          <a:xfrm>
            <a:off x="228780" y="3339613"/>
            <a:ext cx="1500937" cy="28072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1. Customer submits loan  application via banking app</a:t>
            </a:r>
          </a:p>
        </p:txBody>
      </p:sp>
      <p:sp>
        <p:nvSpPr>
          <p:cNvPr id="5" name="Arrow: Right 4">
            <a:extLst>
              <a:ext uri="{FF2B5EF4-FFF2-40B4-BE49-F238E27FC236}">
                <a16:creationId xmlns:a16="http://schemas.microsoft.com/office/drawing/2014/main" id="{C88DC424-FE60-4B52-FAF5-74DA73EE8166}"/>
              </a:ext>
            </a:extLst>
          </p:cNvPr>
          <p:cNvSpPr/>
          <p:nvPr/>
        </p:nvSpPr>
        <p:spPr>
          <a:xfrm rot="20617663">
            <a:off x="3687092" y="3311996"/>
            <a:ext cx="929385" cy="2855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Rounded Corners 5">
            <a:extLst>
              <a:ext uri="{FF2B5EF4-FFF2-40B4-BE49-F238E27FC236}">
                <a16:creationId xmlns:a16="http://schemas.microsoft.com/office/drawing/2014/main" id="{DB9A79A6-3298-29BA-6FD0-A77C3EC9B6A8}"/>
              </a:ext>
            </a:extLst>
          </p:cNvPr>
          <p:cNvSpPr/>
          <p:nvPr/>
        </p:nvSpPr>
        <p:spPr>
          <a:xfrm>
            <a:off x="6225262" y="2624718"/>
            <a:ext cx="1818193" cy="302878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5. CCR send customer data to CRIF and  CRIF combines it with  their own assessment to provide a probabilistic 3 digit score </a:t>
            </a:r>
          </a:p>
        </p:txBody>
      </p:sp>
      <p:sp>
        <p:nvSpPr>
          <p:cNvPr id="7" name="Rectangle: Rounded Corners 6">
            <a:extLst>
              <a:ext uri="{FF2B5EF4-FFF2-40B4-BE49-F238E27FC236}">
                <a16:creationId xmlns:a16="http://schemas.microsoft.com/office/drawing/2014/main" id="{89B28336-A71D-2C0B-5CC6-B6564DF44C83}"/>
              </a:ext>
            </a:extLst>
          </p:cNvPr>
          <p:cNvSpPr/>
          <p:nvPr/>
        </p:nvSpPr>
        <p:spPr>
          <a:xfrm>
            <a:off x="4486915" y="453681"/>
            <a:ext cx="3534976" cy="13843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4. CCR – current exposure and past repayment history of applicant – no scoring , just a credit history </a:t>
            </a:r>
          </a:p>
        </p:txBody>
      </p:sp>
      <p:sp>
        <p:nvSpPr>
          <p:cNvPr id="8" name="Arrow: Right 7">
            <a:extLst>
              <a:ext uri="{FF2B5EF4-FFF2-40B4-BE49-F238E27FC236}">
                <a16:creationId xmlns:a16="http://schemas.microsoft.com/office/drawing/2014/main" id="{9FE5979E-B386-BFE0-9FB7-A17A60AF580E}"/>
              </a:ext>
            </a:extLst>
          </p:cNvPr>
          <p:cNvSpPr/>
          <p:nvPr/>
        </p:nvSpPr>
        <p:spPr>
          <a:xfrm rot="16200000">
            <a:off x="5123697" y="1969845"/>
            <a:ext cx="660595" cy="5793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Arrow: Right 8">
            <a:extLst>
              <a:ext uri="{FF2B5EF4-FFF2-40B4-BE49-F238E27FC236}">
                <a16:creationId xmlns:a16="http://schemas.microsoft.com/office/drawing/2014/main" id="{26530455-C862-FF62-AC5B-4AE76422A92B}"/>
              </a:ext>
            </a:extLst>
          </p:cNvPr>
          <p:cNvSpPr/>
          <p:nvPr/>
        </p:nvSpPr>
        <p:spPr>
          <a:xfrm rot="5400000">
            <a:off x="6696217" y="1987300"/>
            <a:ext cx="660597" cy="5793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Rounded Corners 9">
            <a:extLst>
              <a:ext uri="{FF2B5EF4-FFF2-40B4-BE49-F238E27FC236}">
                <a16:creationId xmlns:a16="http://schemas.microsoft.com/office/drawing/2014/main" id="{C40C974F-089C-68CF-5211-6AFE54D60AE5}"/>
              </a:ext>
            </a:extLst>
          </p:cNvPr>
          <p:cNvSpPr/>
          <p:nvPr/>
        </p:nvSpPr>
        <p:spPr>
          <a:xfrm>
            <a:off x="9282253" y="2874391"/>
            <a:ext cx="2722341" cy="35570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6. This three digit score allows Revolut’s system to calculate a probability of default instantaneously. – Given the report text we assume use of probabilistic ML, but there is no explicit mention of the decision making process or model.</a:t>
            </a:r>
          </a:p>
        </p:txBody>
      </p:sp>
      <p:sp>
        <p:nvSpPr>
          <p:cNvPr id="11" name="Arrow: Right 10">
            <a:extLst>
              <a:ext uri="{FF2B5EF4-FFF2-40B4-BE49-F238E27FC236}">
                <a16:creationId xmlns:a16="http://schemas.microsoft.com/office/drawing/2014/main" id="{D83A7490-E836-F396-8C9F-214D6F5CFC43}"/>
              </a:ext>
            </a:extLst>
          </p:cNvPr>
          <p:cNvSpPr/>
          <p:nvPr/>
        </p:nvSpPr>
        <p:spPr>
          <a:xfrm rot="1868926">
            <a:off x="8022798" y="3170606"/>
            <a:ext cx="1185211" cy="4943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Box 11">
            <a:extLst>
              <a:ext uri="{FF2B5EF4-FFF2-40B4-BE49-F238E27FC236}">
                <a16:creationId xmlns:a16="http://schemas.microsoft.com/office/drawing/2014/main" id="{C659E450-C44A-F6A1-D1EA-227A4B17F739}"/>
              </a:ext>
            </a:extLst>
          </p:cNvPr>
          <p:cNvSpPr txBox="1"/>
          <p:nvPr/>
        </p:nvSpPr>
        <p:spPr>
          <a:xfrm>
            <a:off x="8274413" y="2618007"/>
            <a:ext cx="1125047" cy="369331"/>
          </a:xfrm>
          <a:prstGeom prst="rect">
            <a:avLst/>
          </a:prstGeom>
          <a:noFill/>
        </p:spPr>
        <p:txBody>
          <a:bodyPr wrap="square" rtlCol="0">
            <a:spAutoFit/>
          </a:bodyPr>
          <a:lstStyle/>
          <a:p>
            <a:r>
              <a:rPr lang="en-GB" dirty="0"/>
              <a:t>Via API</a:t>
            </a:r>
          </a:p>
        </p:txBody>
      </p:sp>
      <p:sp>
        <p:nvSpPr>
          <p:cNvPr id="13" name="Arrow: Right 12">
            <a:extLst>
              <a:ext uri="{FF2B5EF4-FFF2-40B4-BE49-F238E27FC236}">
                <a16:creationId xmlns:a16="http://schemas.microsoft.com/office/drawing/2014/main" id="{92C0A9D7-1841-FC08-D63E-3D368B66A17A}"/>
              </a:ext>
            </a:extLst>
          </p:cNvPr>
          <p:cNvSpPr/>
          <p:nvPr/>
        </p:nvSpPr>
        <p:spPr>
          <a:xfrm flipH="1">
            <a:off x="1900878" y="5653500"/>
            <a:ext cx="7150417" cy="5359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Arrow: Right 13">
            <a:extLst>
              <a:ext uri="{FF2B5EF4-FFF2-40B4-BE49-F238E27FC236}">
                <a16:creationId xmlns:a16="http://schemas.microsoft.com/office/drawing/2014/main" id="{E036E6DF-3D67-ABD3-A059-6DB34393A897}"/>
              </a:ext>
            </a:extLst>
          </p:cNvPr>
          <p:cNvSpPr/>
          <p:nvPr/>
        </p:nvSpPr>
        <p:spPr>
          <a:xfrm flipV="1">
            <a:off x="1869660" y="3812620"/>
            <a:ext cx="384867" cy="2228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Rounded Corners 14">
            <a:extLst>
              <a:ext uri="{FF2B5EF4-FFF2-40B4-BE49-F238E27FC236}">
                <a16:creationId xmlns:a16="http://schemas.microsoft.com/office/drawing/2014/main" id="{15EC7C01-7699-A3F0-B4AD-FEB6E22A7976}"/>
              </a:ext>
            </a:extLst>
          </p:cNvPr>
          <p:cNvSpPr/>
          <p:nvPr/>
        </p:nvSpPr>
        <p:spPr>
          <a:xfrm>
            <a:off x="2340710" y="2857743"/>
            <a:ext cx="1238798" cy="213259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2. Revolut Internal Checks – as outlined earlier</a:t>
            </a:r>
          </a:p>
        </p:txBody>
      </p:sp>
      <p:sp>
        <p:nvSpPr>
          <p:cNvPr id="16" name="TextBox 15">
            <a:extLst>
              <a:ext uri="{FF2B5EF4-FFF2-40B4-BE49-F238E27FC236}">
                <a16:creationId xmlns:a16="http://schemas.microsoft.com/office/drawing/2014/main" id="{C4A14071-96BC-AD0C-DC8D-87097D7DC199}"/>
              </a:ext>
            </a:extLst>
          </p:cNvPr>
          <p:cNvSpPr txBox="1"/>
          <p:nvPr/>
        </p:nvSpPr>
        <p:spPr>
          <a:xfrm>
            <a:off x="1558636" y="1218195"/>
            <a:ext cx="2451828" cy="1477328"/>
          </a:xfrm>
          <a:prstGeom prst="rect">
            <a:avLst/>
          </a:prstGeom>
          <a:noFill/>
        </p:spPr>
        <p:txBody>
          <a:bodyPr wrap="square" rtlCol="0">
            <a:spAutoFit/>
          </a:bodyPr>
          <a:lstStyle/>
          <a:p>
            <a:r>
              <a:rPr lang="en-GB" dirty="0"/>
              <a:t>Assume pre-processing checks are done prior to next step but can’t find details of those</a:t>
            </a:r>
          </a:p>
        </p:txBody>
      </p:sp>
      <p:sp>
        <p:nvSpPr>
          <p:cNvPr id="17" name="TextBox 16">
            <a:extLst>
              <a:ext uri="{FF2B5EF4-FFF2-40B4-BE49-F238E27FC236}">
                <a16:creationId xmlns:a16="http://schemas.microsoft.com/office/drawing/2014/main" id="{BD039E70-7150-8376-113D-BA8175FE3B75}"/>
              </a:ext>
            </a:extLst>
          </p:cNvPr>
          <p:cNvSpPr txBox="1"/>
          <p:nvPr/>
        </p:nvSpPr>
        <p:spPr>
          <a:xfrm>
            <a:off x="3658412" y="2902356"/>
            <a:ext cx="1125047" cy="369331"/>
          </a:xfrm>
          <a:prstGeom prst="rect">
            <a:avLst/>
          </a:prstGeom>
          <a:noFill/>
        </p:spPr>
        <p:txBody>
          <a:bodyPr wrap="square" rtlCol="0">
            <a:spAutoFit/>
          </a:bodyPr>
          <a:lstStyle/>
          <a:p>
            <a:r>
              <a:rPr lang="en-GB" dirty="0"/>
              <a:t>Via API</a:t>
            </a:r>
          </a:p>
        </p:txBody>
      </p:sp>
      <p:sp>
        <p:nvSpPr>
          <p:cNvPr id="19" name="Rectangle: Rounded Corners 18">
            <a:extLst>
              <a:ext uri="{FF2B5EF4-FFF2-40B4-BE49-F238E27FC236}">
                <a16:creationId xmlns:a16="http://schemas.microsoft.com/office/drawing/2014/main" id="{A91CF46E-AB3B-ED41-8495-CCBD310AE69B}"/>
              </a:ext>
            </a:extLst>
          </p:cNvPr>
          <p:cNvSpPr/>
          <p:nvPr/>
        </p:nvSpPr>
        <p:spPr>
          <a:xfrm>
            <a:off x="4693906" y="2705639"/>
            <a:ext cx="1391413" cy="29304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3. CRIF send customer data to Central Credit  Rating (CCR) service </a:t>
            </a:r>
          </a:p>
        </p:txBody>
      </p:sp>
      <p:sp>
        <p:nvSpPr>
          <p:cNvPr id="20" name="TextBox 19">
            <a:extLst>
              <a:ext uri="{FF2B5EF4-FFF2-40B4-BE49-F238E27FC236}">
                <a16:creationId xmlns:a16="http://schemas.microsoft.com/office/drawing/2014/main" id="{367B3DBD-9F11-45A8-1743-AC4FCB036B8F}"/>
              </a:ext>
            </a:extLst>
          </p:cNvPr>
          <p:cNvSpPr txBox="1"/>
          <p:nvPr/>
        </p:nvSpPr>
        <p:spPr>
          <a:xfrm>
            <a:off x="4012197" y="6201487"/>
            <a:ext cx="3311920" cy="369332"/>
          </a:xfrm>
          <a:prstGeom prst="rect">
            <a:avLst/>
          </a:prstGeom>
          <a:noFill/>
        </p:spPr>
        <p:txBody>
          <a:bodyPr wrap="square" rtlCol="0">
            <a:spAutoFit/>
          </a:bodyPr>
          <a:lstStyle/>
          <a:p>
            <a:r>
              <a:rPr lang="en-GB" dirty="0"/>
              <a:t>Decision relayed to customer</a:t>
            </a:r>
          </a:p>
        </p:txBody>
      </p:sp>
      <p:sp>
        <p:nvSpPr>
          <p:cNvPr id="21" name="TextBox 20">
            <a:extLst>
              <a:ext uri="{FF2B5EF4-FFF2-40B4-BE49-F238E27FC236}">
                <a16:creationId xmlns:a16="http://schemas.microsoft.com/office/drawing/2014/main" id="{9916B09D-EF89-AB08-E871-51B3FDCA4B0A}"/>
              </a:ext>
            </a:extLst>
          </p:cNvPr>
          <p:cNvSpPr txBox="1"/>
          <p:nvPr/>
        </p:nvSpPr>
        <p:spPr>
          <a:xfrm>
            <a:off x="228779" y="63327"/>
            <a:ext cx="4258135" cy="646331"/>
          </a:xfrm>
          <a:prstGeom prst="rect">
            <a:avLst/>
          </a:prstGeom>
          <a:noFill/>
        </p:spPr>
        <p:txBody>
          <a:bodyPr wrap="square" rtlCol="0">
            <a:spAutoFit/>
          </a:bodyPr>
          <a:lstStyle/>
          <a:p>
            <a:r>
              <a:rPr lang="en-GB" sz="3600" dirty="0"/>
              <a:t>Product Process Flow</a:t>
            </a:r>
          </a:p>
        </p:txBody>
      </p:sp>
      <p:sp>
        <p:nvSpPr>
          <p:cNvPr id="22" name="TextBox 21">
            <a:extLst>
              <a:ext uri="{FF2B5EF4-FFF2-40B4-BE49-F238E27FC236}">
                <a16:creationId xmlns:a16="http://schemas.microsoft.com/office/drawing/2014/main" id="{BD865224-AD74-9191-D557-A957160CF2E4}"/>
              </a:ext>
            </a:extLst>
          </p:cNvPr>
          <p:cNvSpPr txBox="1"/>
          <p:nvPr/>
        </p:nvSpPr>
        <p:spPr>
          <a:xfrm>
            <a:off x="8743951" y="453681"/>
            <a:ext cx="3202368" cy="646331"/>
          </a:xfrm>
          <a:prstGeom prst="rect">
            <a:avLst/>
          </a:prstGeom>
          <a:noFill/>
        </p:spPr>
        <p:txBody>
          <a:bodyPr wrap="square" rtlCol="0">
            <a:spAutoFit/>
          </a:bodyPr>
          <a:lstStyle/>
          <a:p>
            <a:r>
              <a:rPr lang="en-GB" dirty="0"/>
              <a:t>Note: Process detail came from </a:t>
            </a:r>
            <a:r>
              <a:rPr lang="en-GB" dirty="0">
                <a:hlinkClick r:id="rId3"/>
              </a:rPr>
              <a:t>CRIF site</a:t>
            </a:r>
            <a:r>
              <a:rPr lang="en-GB" dirty="0"/>
              <a:t>, not Revolut</a:t>
            </a:r>
          </a:p>
        </p:txBody>
      </p:sp>
    </p:spTree>
    <p:extLst>
      <p:ext uri="{BB962C8B-B14F-4D97-AF65-F5344CB8AC3E}">
        <p14:creationId xmlns:p14="http://schemas.microsoft.com/office/powerpoint/2010/main" val="1255767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23678-97E2-3997-725A-4EAAEDF9EB0C}"/>
              </a:ext>
            </a:extLst>
          </p:cNvPr>
          <p:cNvSpPr>
            <a:spLocks noGrp="1"/>
          </p:cNvSpPr>
          <p:nvPr>
            <p:ph type="title"/>
          </p:nvPr>
        </p:nvSpPr>
        <p:spPr>
          <a:xfrm>
            <a:off x="4695306" y="3059083"/>
            <a:ext cx="2004753" cy="1198952"/>
          </a:xfrm>
        </p:spPr>
        <p:txBody>
          <a:bodyPr/>
          <a:lstStyle/>
          <a:p>
            <a:r>
              <a:rPr lang="en-GB" dirty="0"/>
              <a:t>Ethics</a:t>
            </a:r>
          </a:p>
        </p:txBody>
      </p:sp>
    </p:spTree>
    <p:extLst>
      <p:ext uri="{BB962C8B-B14F-4D97-AF65-F5344CB8AC3E}">
        <p14:creationId xmlns:p14="http://schemas.microsoft.com/office/powerpoint/2010/main" val="569097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20E98-9DA7-A213-1C37-D0C65EF378A1}"/>
              </a:ext>
            </a:extLst>
          </p:cNvPr>
          <p:cNvSpPr>
            <a:spLocks noGrp="1"/>
          </p:cNvSpPr>
          <p:nvPr>
            <p:ph type="title"/>
          </p:nvPr>
        </p:nvSpPr>
        <p:spPr/>
        <p:txBody>
          <a:bodyPr/>
          <a:lstStyle/>
          <a:p>
            <a:r>
              <a:rPr lang="en-GB" dirty="0"/>
              <a:t>Ethical Frameworks</a:t>
            </a:r>
          </a:p>
        </p:txBody>
      </p:sp>
      <p:sp>
        <p:nvSpPr>
          <p:cNvPr id="3" name="Content Placeholder 2">
            <a:extLst>
              <a:ext uri="{FF2B5EF4-FFF2-40B4-BE49-F238E27FC236}">
                <a16:creationId xmlns:a16="http://schemas.microsoft.com/office/drawing/2014/main" id="{D0F3F92F-F45C-1BD1-0172-816EAF26CEF2}"/>
              </a:ext>
            </a:extLst>
          </p:cNvPr>
          <p:cNvSpPr>
            <a:spLocks noGrp="1"/>
          </p:cNvSpPr>
          <p:nvPr>
            <p:ph idx="1"/>
          </p:nvPr>
        </p:nvSpPr>
        <p:spPr/>
        <p:txBody>
          <a:bodyPr/>
          <a:lstStyle/>
          <a:p>
            <a:r>
              <a:rPr lang="en-GB" dirty="0"/>
              <a:t>There is no Ethical framework referenced or available. </a:t>
            </a:r>
          </a:p>
          <a:p>
            <a:r>
              <a:rPr lang="en-GB" dirty="0"/>
              <a:t>All ethics are inferred from other documentation.</a:t>
            </a:r>
          </a:p>
          <a:p>
            <a:pPr marL="0" indent="0">
              <a:buNone/>
            </a:pPr>
            <a:endParaRPr lang="en-GB" dirty="0"/>
          </a:p>
        </p:txBody>
      </p:sp>
    </p:spTree>
    <p:extLst>
      <p:ext uri="{BB962C8B-B14F-4D97-AF65-F5344CB8AC3E}">
        <p14:creationId xmlns:p14="http://schemas.microsoft.com/office/powerpoint/2010/main" val="1609124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519CE-A7D4-9CE1-EEF8-665B6CDB0790}"/>
              </a:ext>
            </a:extLst>
          </p:cNvPr>
          <p:cNvSpPr>
            <a:spLocks noGrp="1"/>
          </p:cNvSpPr>
          <p:nvPr>
            <p:ph type="title"/>
          </p:nvPr>
        </p:nvSpPr>
        <p:spPr>
          <a:xfrm>
            <a:off x="182881" y="101687"/>
            <a:ext cx="10515600" cy="1325563"/>
          </a:xfrm>
        </p:spPr>
        <p:txBody>
          <a:bodyPr/>
          <a:lstStyle/>
          <a:p>
            <a:r>
              <a:rPr lang="en-GB" dirty="0"/>
              <a:t>Culture : 5 Values  - 1 Mission</a:t>
            </a:r>
          </a:p>
        </p:txBody>
      </p:sp>
      <p:sp>
        <p:nvSpPr>
          <p:cNvPr id="3" name="Content Placeholder 2">
            <a:extLst>
              <a:ext uri="{FF2B5EF4-FFF2-40B4-BE49-F238E27FC236}">
                <a16:creationId xmlns:a16="http://schemas.microsoft.com/office/drawing/2014/main" id="{A0923E12-EE59-A532-D58F-C216B7806A8D}"/>
              </a:ext>
            </a:extLst>
          </p:cNvPr>
          <p:cNvSpPr>
            <a:spLocks noGrp="1"/>
          </p:cNvSpPr>
          <p:nvPr>
            <p:ph idx="1"/>
          </p:nvPr>
        </p:nvSpPr>
        <p:spPr>
          <a:xfrm>
            <a:off x="838200" y="5968538"/>
            <a:ext cx="10515600" cy="723814"/>
          </a:xfrm>
        </p:spPr>
        <p:txBody>
          <a:bodyPr>
            <a:normAutofit fontScale="92500" lnSpcReduction="10000"/>
          </a:bodyPr>
          <a:lstStyle/>
          <a:p>
            <a:r>
              <a:rPr lang="en-GB" dirty="0">
                <a:hlinkClick r:id="rId3"/>
              </a:rPr>
              <a:t>https://www.revolut.com/our-culture/</a:t>
            </a:r>
            <a:r>
              <a:rPr lang="en-GB" dirty="0"/>
              <a:t> </a:t>
            </a:r>
            <a:r>
              <a:rPr lang="en-GB" dirty="0">
                <a:hlinkClick r:id="rId4"/>
              </a:rPr>
              <a:t>https://www.revolut.com/code-of-conduct/</a:t>
            </a:r>
            <a:r>
              <a:rPr lang="en-GB" dirty="0"/>
              <a:t> </a:t>
            </a:r>
          </a:p>
          <a:p>
            <a:r>
              <a:rPr lang="en-GB" dirty="0">
                <a:hlinkClick r:id="rId5"/>
              </a:rPr>
              <a:t>https://www.revolut.com/legal/privacy/</a:t>
            </a:r>
            <a:r>
              <a:rPr lang="en-GB" dirty="0"/>
              <a:t> </a:t>
            </a:r>
          </a:p>
        </p:txBody>
      </p:sp>
      <p:sp>
        <p:nvSpPr>
          <p:cNvPr id="4" name="Content Placeholder 2">
            <a:extLst>
              <a:ext uri="{FF2B5EF4-FFF2-40B4-BE49-F238E27FC236}">
                <a16:creationId xmlns:a16="http://schemas.microsoft.com/office/drawing/2014/main" id="{D1688F59-4AD9-F21B-A0C9-B583E366E86B}"/>
              </a:ext>
            </a:extLst>
          </p:cNvPr>
          <p:cNvSpPr txBox="1">
            <a:spLocks/>
          </p:cNvSpPr>
          <p:nvPr/>
        </p:nvSpPr>
        <p:spPr>
          <a:xfrm>
            <a:off x="182881" y="1205042"/>
            <a:ext cx="10515600" cy="26191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GB" dirty="0"/>
              <a:t>Never Settle – strive for excellence</a:t>
            </a:r>
          </a:p>
          <a:p>
            <a:pPr marL="514350" indent="-514350">
              <a:buFont typeface="+mj-lt"/>
              <a:buAutoNum type="arabicPeriod"/>
            </a:pPr>
            <a:r>
              <a:rPr lang="en-GB" dirty="0"/>
              <a:t>Dream team – be brilliant</a:t>
            </a:r>
          </a:p>
          <a:p>
            <a:pPr marL="514350" indent="-514350">
              <a:buFont typeface="+mj-lt"/>
              <a:buAutoNum type="arabicPeriod"/>
            </a:pPr>
            <a:r>
              <a:rPr lang="en-GB" dirty="0"/>
              <a:t>Think Deeper – Logic, reason and common sense prevail</a:t>
            </a:r>
          </a:p>
          <a:p>
            <a:pPr marL="514350" indent="-514350">
              <a:buFont typeface="+mj-lt"/>
              <a:buAutoNum type="arabicPeriod"/>
            </a:pPr>
            <a:r>
              <a:rPr lang="en-GB" dirty="0"/>
              <a:t>Get it Done – we care about results, results orientated</a:t>
            </a:r>
          </a:p>
          <a:p>
            <a:pPr marL="514350" indent="-514350">
              <a:buFont typeface="+mj-lt"/>
              <a:buAutoNum type="arabicPeriod"/>
            </a:pPr>
            <a:r>
              <a:rPr lang="en-GB" dirty="0"/>
              <a:t>Deliver WOW – build great products</a:t>
            </a:r>
          </a:p>
        </p:txBody>
      </p:sp>
      <p:sp>
        <p:nvSpPr>
          <p:cNvPr id="5" name="Content Placeholder 2">
            <a:extLst>
              <a:ext uri="{FF2B5EF4-FFF2-40B4-BE49-F238E27FC236}">
                <a16:creationId xmlns:a16="http://schemas.microsoft.com/office/drawing/2014/main" id="{58B03F79-1BAF-D897-7C9D-DC3141903A05}"/>
              </a:ext>
            </a:extLst>
          </p:cNvPr>
          <p:cNvSpPr txBox="1">
            <a:spLocks/>
          </p:cNvSpPr>
          <p:nvPr/>
        </p:nvSpPr>
        <p:spPr>
          <a:xfrm>
            <a:off x="0" y="3824158"/>
            <a:ext cx="11820698" cy="214437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These are workforce performance values, and while not ethical in nature give an insight into what the prevailing work culture emphasises, which sometimes can be counter to what is listed as customer values, </a:t>
            </a:r>
          </a:p>
          <a:p>
            <a:pPr lvl="1"/>
            <a:r>
              <a:rPr lang="en-GB" dirty="0"/>
              <a:t>E.g. if shareholders are the primary driver of policy is there a potential conflict of interest in complying with customer protections whilst also maximising profit and customer numbers.</a:t>
            </a:r>
          </a:p>
        </p:txBody>
      </p:sp>
    </p:spTree>
    <p:extLst>
      <p:ext uri="{BB962C8B-B14F-4D97-AF65-F5344CB8AC3E}">
        <p14:creationId xmlns:p14="http://schemas.microsoft.com/office/powerpoint/2010/main" val="222631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7F48B-CF70-A96E-1599-209D2F849B96}"/>
              </a:ext>
            </a:extLst>
          </p:cNvPr>
          <p:cNvSpPr>
            <a:spLocks noGrp="1"/>
          </p:cNvSpPr>
          <p:nvPr>
            <p:ph type="title"/>
          </p:nvPr>
        </p:nvSpPr>
        <p:spPr>
          <a:xfrm>
            <a:off x="554182" y="0"/>
            <a:ext cx="10515599" cy="1025670"/>
          </a:xfrm>
        </p:spPr>
        <p:txBody>
          <a:bodyPr/>
          <a:lstStyle/>
          <a:p>
            <a:r>
              <a:rPr lang="en-GB" dirty="0"/>
              <a:t>Regulator engagement</a:t>
            </a:r>
          </a:p>
        </p:txBody>
      </p:sp>
      <p:sp>
        <p:nvSpPr>
          <p:cNvPr id="4" name="Rectangle 1">
            <a:extLst>
              <a:ext uri="{FF2B5EF4-FFF2-40B4-BE49-F238E27FC236}">
                <a16:creationId xmlns:a16="http://schemas.microsoft.com/office/drawing/2014/main" id="{5772FC52-D62E-C590-B2CB-6320C961C9CF}"/>
              </a:ext>
            </a:extLst>
          </p:cNvPr>
          <p:cNvSpPr>
            <a:spLocks noGrp="1" noChangeArrowheads="1"/>
          </p:cNvSpPr>
          <p:nvPr>
            <p:ph idx="1"/>
          </p:nvPr>
        </p:nvSpPr>
        <p:spPr bwMode="auto">
          <a:xfrm>
            <a:off x="554182" y="1629011"/>
            <a:ext cx="10799617"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with integrity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to deliver good consumer outcomes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with due skill, care and diligence</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Be open and co-operative with regulators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Observe proper standards of market conduct</a:t>
            </a:r>
          </a:p>
          <a:p>
            <a:pPr eaLnBrk="0" fontAlgn="base" hangingPunct="0">
              <a:lnSpc>
                <a:spcPct val="100000"/>
              </a:lnSpc>
              <a:spcBef>
                <a:spcPct val="0"/>
              </a:spcBef>
              <a:spcAft>
                <a:spcPct val="0"/>
              </a:spcAft>
            </a:pPr>
            <a:endParaRPr lang="en-US" altLang="en-US" dirty="0">
              <a:latin typeface="Arial" panose="020B0604020202020204" pitchFamily="34" charset="0"/>
            </a:endParaRPr>
          </a:p>
          <a:p>
            <a:pPr eaLnBrk="0" fontAlgn="base" hangingPunct="0">
              <a:lnSpc>
                <a:spcPct val="100000"/>
              </a:lnSpc>
              <a:spcBef>
                <a:spcPct val="0"/>
              </a:spcBef>
              <a:spcAft>
                <a:spcPct val="0"/>
              </a:spcAft>
            </a:pPr>
            <a:r>
              <a:rPr lang="en-US" altLang="en-US" dirty="0">
                <a:latin typeface="Arial" panose="020B0604020202020204" pitchFamily="34" charset="0"/>
              </a:rPr>
              <a:t>There is no mention of how they ensure this takes place.</a:t>
            </a:r>
          </a:p>
          <a:p>
            <a:pPr eaLnBrk="0" fontAlgn="base" hangingPunct="0">
              <a:lnSpc>
                <a:spcPct val="100000"/>
              </a:lnSpc>
              <a:spcBef>
                <a:spcPct val="0"/>
              </a:spcBef>
              <a:spcAft>
                <a:spcPct val="0"/>
              </a:spcAft>
            </a:pPr>
            <a:r>
              <a:rPr lang="en-US" altLang="en-US" dirty="0">
                <a:latin typeface="Arial" panose="020B0604020202020204" pitchFamily="34" charset="0"/>
              </a:rPr>
              <a:t>No available metrics from customers or regulator queries, complaints or investigations etc. that are available to provide support for such statements. These should be made available.</a:t>
            </a:r>
          </a:p>
          <a:p>
            <a:pPr eaLnBrk="0" fontAlgn="base" hangingPunct="0">
              <a:lnSpc>
                <a:spcPct val="100000"/>
              </a:lnSpc>
              <a:spcBef>
                <a:spcPct val="0"/>
              </a:spcBef>
              <a:spcAft>
                <a:spcPct val="0"/>
              </a:spcAf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hlinkClick r:id="rId3"/>
              </a:rPr>
              <a:t>https://www.revolut.com/code-of-conduct/</a:t>
            </a:r>
            <a:r>
              <a:rPr kumimoji="0" lang="en-US" altLang="en-US" sz="20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846309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98418-3675-8B4F-EE69-41D45387C30E}"/>
              </a:ext>
            </a:extLst>
          </p:cNvPr>
          <p:cNvSpPr>
            <a:spLocks noGrp="1"/>
          </p:cNvSpPr>
          <p:nvPr>
            <p:ph type="title"/>
          </p:nvPr>
        </p:nvSpPr>
        <p:spPr>
          <a:xfrm>
            <a:off x="415636" y="0"/>
            <a:ext cx="10515600" cy="723476"/>
          </a:xfrm>
        </p:spPr>
        <p:txBody>
          <a:bodyPr/>
          <a:lstStyle/>
          <a:p>
            <a:r>
              <a:rPr lang="en-GB" dirty="0"/>
              <a:t>Risk Management</a:t>
            </a:r>
          </a:p>
        </p:txBody>
      </p:sp>
      <p:sp>
        <p:nvSpPr>
          <p:cNvPr id="4" name="Rectangle 1">
            <a:extLst>
              <a:ext uri="{FF2B5EF4-FFF2-40B4-BE49-F238E27FC236}">
                <a16:creationId xmlns:a16="http://schemas.microsoft.com/office/drawing/2014/main" id="{16944EDD-297E-91DF-8F9B-3A748F042C6A}"/>
              </a:ext>
            </a:extLst>
          </p:cNvPr>
          <p:cNvSpPr>
            <a:spLocks noGrp="1" noChangeArrowheads="1"/>
          </p:cNvSpPr>
          <p:nvPr>
            <p:ph idx="1"/>
          </p:nvPr>
        </p:nvSpPr>
        <p:spPr bwMode="auto">
          <a:xfrm>
            <a:off x="443345" y="1417072"/>
            <a:ext cx="11305309"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have the skills and knowledge to perform our roles competently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understand the compliance rules and laws that apply to us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drive responsible and sustainable growth</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don’t sacrifice quality for speed</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make sure all staff complete mandatory training modules</a:t>
            </a:r>
          </a:p>
          <a:p>
            <a:pPr eaLnBrk="0" fontAlgn="base" hangingPunct="0">
              <a:lnSpc>
                <a:spcPct val="100000"/>
              </a:lnSpc>
              <a:spcBef>
                <a:spcPct val="0"/>
              </a:spcBef>
              <a:spcAft>
                <a:spcPct val="0"/>
              </a:spcAft>
            </a:pPr>
            <a:endParaRPr lang="en-US" altLang="en-US" sz="3200" dirty="0">
              <a:latin typeface="Arial" panose="020B0604020202020204" pitchFamily="34" charset="0"/>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States they understand the compliance rules and laws that apply but not explicitly that the ensure stringent adherence</a:t>
            </a:r>
            <a:r>
              <a:rPr lang="en-US" altLang="en-US" sz="2000" dirty="0">
                <a:latin typeface="Arial" panose="020B0604020202020204" pitchFamily="34" charset="0"/>
              </a:rPr>
              <a:t>. </a:t>
            </a:r>
            <a:r>
              <a:rPr lang="en-US" altLang="en-US" sz="2000" dirty="0">
                <a:solidFill>
                  <a:schemeClr val="tx1"/>
                </a:solidFill>
                <a:latin typeface="Arial" panose="020B0604020202020204" pitchFamily="34" charset="0"/>
              </a:rPr>
              <a:t>The language is weak in that regards</a:t>
            </a:r>
          </a:p>
          <a:p>
            <a:pPr eaLnBrk="0" fontAlgn="base" hangingPunct="0">
              <a:lnSpc>
                <a:spcPct val="100000"/>
              </a:lnSpc>
              <a:spcBef>
                <a:spcPct val="0"/>
              </a:spcBef>
              <a:spcAft>
                <a:spcPct val="0"/>
              </a:spcAft>
            </a:pPr>
            <a:r>
              <a:rPr lang="en-US" altLang="en-US" sz="2000" dirty="0">
                <a:latin typeface="Arial" panose="020B0604020202020204" pitchFamily="34" charset="0"/>
              </a:rPr>
              <a:t>N</a:t>
            </a:r>
            <a:r>
              <a:rPr kumimoji="0" lang="en-US" altLang="en-US" sz="2000" b="0" i="0" u="none" strike="noStrike" cap="none" normalizeH="0" baseline="0" dirty="0">
                <a:ln>
                  <a:noFill/>
                </a:ln>
                <a:solidFill>
                  <a:schemeClr val="tx1"/>
                </a:solidFill>
                <a:effectLst/>
                <a:latin typeface="Arial" panose="020B0604020202020204" pitchFamily="34" charset="0"/>
              </a:rPr>
              <a:t>o listing of what training they refer to, if </a:t>
            </a:r>
            <a:r>
              <a:rPr lang="en-US" altLang="en-US" sz="2000" dirty="0">
                <a:latin typeface="Arial" panose="020B0604020202020204" pitchFamily="34" charset="0"/>
              </a:rPr>
              <a:t>it</a:t>
            </a:r>
            <a:r>
              <a:rPr kumimoji="0" lang="en-US" altLang="en-US" sz="2000" b="0" i="0" u="none" strike="noStrike" cap="none" normalizeH="0" baseline="0" dirty="0">
                <a:ln>
                  <a:noFill/>
                </a:ln>
                <a:solidFill>
                  <a:schemeClr val="tx1"/>
                </a:solidFill>
                <a:effectLst/>
                <a:latin typeface="Arial" panose="020B0604020202020204" pitchFamily="34" charset="0"/>
              </a:rPr>
              <a:t> is in-house or externally qualified</a:t>
            </a:r>
          </a:p>
          <a:p>
            <a:pPr eaLnBrk="0" fontAlgn="base" hangingPunct="0">
              <a:lnSpc>
                <a:spcPct val="100000"/>
              </a:lnSpc>
              <a:spcBef>
                <a:spcPct val="0"/>
              </a:spcBef>
              <a:spcAft>
                <a:spcPct val="0"/>
              </a:spcAft>
            </a:pPr>
            <a:r>
              <a:rPr lang="en-US" altLang="en-US" sz="2000" dirty="0">
                <a:solidFill>
                  <a:schemeClr val="tx1"/>
                </a:solidFill>
                <a:latin typeface="Arial" panose="020B0604020202020204" pitchFamily="34" charset="0"/>
              </a:rPr>
              <a:t>Not sacrificing quality for speed, however the Loan service process is specifically designed for speed, there is a potential for conflict of interest in the conflicting stated objectives.</a:t>
            </a:r>
          </a:p>
          <a:p>
            <a:pPr eaLnBrk="0" fontAlgn="base" hangingPunct="0">
              <a:lnSpc>
                <a:spcPct val="100000"/>
              </a:lnSpc>
              <a:spcBef>
                <a:spcPct val="0"/>
              </a:spcBef>
              <a:spcAft>
                <a:spcPct val="0"/>
              </a:spcAft>
            </a:pPr>
            <a:endParaRPr lang="en-US" altLang="en-US" sz="3200" dirty="0">
              <a:latin typeface="Arial" panose="020B0604020202020204" pitchFamily="34" charset="0"/>
            </a:endParaRP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hlinkClick r:id="rId3"/>
              </a:rPr>
              <a:t>https://www.revolut.com/code-of-conduct/</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118598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79F6-5791-E49F-AA84-F2B9C97F5167}"/>
              </a:ext>
            </a:extLst>
          </p:cNvPr>
          <p:cNvSpPr>
            <a:spLocks noGrp="1"/>
          </p:cNvSpPr>
          <p:nvPr>
            <p:ph type="title"/>
          </p:nvPr>
        </p:nvSpPr>
        <p:spPr>
          <a:xfrm>
            <a:off x="838200" y="394855"/>
            <a:ext cx="8763000" cy="755506"/>
          </a:xfrm>
        </p:spPr>
        <p:txBody>
          <a:bodyPr/>
          <a:lstStyle/>
          <a:p>
            <a:r>
              <a:rPr lang="en-GB" dirty="0"/>
              <a:t>Decision Making Principles</a:t>
            </a:r>
          </a:p>
        </p:txBody>
      </p:sp>
      <p:sp>
        <p:nvSpPr>
          <p:cNvPr id="3" name="Content Placeholder 2">
            <a:extLst>
              <a:ext uri="{FF2B5EF4-FFF2-40B4-BE49-F238E27FC236}">
                <a16:creationId xmlns:a16="http://schemas.microsoft.com/office/drawing/2014/main" id="{7BF8E102-AC74-F537-B920-9B686CD80A96}"/>
              </a:ext>
            </a:extLst>
          </p:cNvPr>
          <p:cNvSpPr>
            <a:spLocks noGrp="1"/>
          </p:cNvSpPr>
          <p:nvPr>
            <p:ph idx="1"/>
          </p:nvPr>
        </p:nvSpPr>
        <p:spPr>
          <a:xfrm>
            <a:off x="838200" y="1586634"/>
            <a:ext cx="10515600" cy="4667250"/>
          </a:xfrm>
        </p:spPr>
        <p:txBody>
          <a:bodyPr>
            <a:normAutofit fontScale="70000" lnSpcReduction="20000"/>
          </a:bodyPr>
          <a:lstStyle/>
          <a:p>
            <a:r>
              <a:rPr lang="en-GB" dirty="0"/>
              <a:t>Customer Outcome</a:t>
            </a:r>
          </a:p>
          <a:p>
            <a:pPr lvl="1"/>
            <a:r>
              <a:rPr lang="en-GB" dirty="0"/>
              <a:t>Will the customer receive good outcomes based on the decision I've made?</a:t>
            </a:r>
          </a:p>
          <a:p>
            <a:r>
              <a:rPr lang="en-GB" dirty="0"/>
              <a:t>Honesty and integrity</a:t>
            </a:r>
          </a:p>
          <a:p>
            <a:pPr lvl="1"/>
            <a:r>
              <a:rPr lang="en-GB" dirty="0"/>
              <a:t>Would I feel proud of my decision if it were reported on the news?</a:t>
            </a:r>
          </a:p>
          <a:p>
            <a:r>
              <a:rPr lang="en-GB" dirty="0"/>
              <a:t>Compliance with laws, regulations and policies</a:t>
            </a:r>
          </a:p>
          <a:p>
            <a:pPr lvl="1"/>
            <a:r>
              <a:rPr lang="en-GB" dirty="0"/>
              <a:t>Do my actions comply with all regulatory and legal requirements?</a:t>
            </a:r>
          </a:p>
          <a:p>
            <a:r>
              <a:rPr lang="en-GB" dirty="0"/>
              <a:t>Long-term vision</a:t>
            </a:r>
          </a:p>
          <a:p>
            <a:pPr lvl="1"/>
            <a:r>
              <a:rPr lang="en-GB" dirty="0"/>
              <a:t>Will this decision still seem like a good idea five years from now?</a:t>
            </a:r>
          </a:p>
          <a:p>
            <a:pPr lvl="1"/>
            <a:endParaRPr lang="en-GB" dirty="0"/>
          </a:p>
          <a:p>
            <a:r>
              <a:rPr lang="en-GB" sz="2600" dirty="0"/>
              <a:t>There is a </a:t>
            </a:r>
            <a:r>
              <a:rPr lang="en-GB" sz="2600" u="sng" dirty="0"/>
              <a:t>conflicting statement concerning pride in the decision making principle</a:t>
            </a:r>
            <a:r>
              <a:rPr lang="en-GB" sz="2600" dirty="0"/>
              <a:t>, given a ML algorithm is making the decision on the Loan Product, or perhaps there is more human oversight than we are led to believe? This needs clarity.</a:t>
            </a:r>
          </a:p>
          <a:p>
            <a:r>
              <a:rPr lang="en-GB" sz="2600" u="sng" dirty="0"/>
              <a:t>No reference of explainability </a:t>
            </a:r>
            <a:r>
              <a:rPr lang="en-GB" sz="2600" dirty="0"/>
              <a:t>in the preceding values and principles may make it harder to challenge decisions that have gone against them.</a:t>
            </a:r>
          </a:p>
          <a:p>
            <a:r>
              <a:rPr lang="en-GB" sz="2400" dirty="0"/>
              <a:t>“Depending on the Revolut products or services you use, we may make automated decisions about you. Some of these decisions are made using artificial intelligence without any initial human input. “</a:t>
            </a:r>
            <a:endParaRPr lang="en-GB" sz="2600" dirty="0"/>
          </a:p>
          <a:p>
            <a:r>
              <a:rPr lang="en-GB" dirty="0">
                <a:hlinkClick r:id="rId3"/>
              </a:rPr>
              <a:t>https://www.revolut.com/code-of-conduct/</a:t>
            </a:r>
            <a:r>
              <a:rPr lang="en-GB" dirty="0"/>
              <a:t> </a:t>
            </a:r>
          </a:p>
        </p:txBody>
      </p:sp>
    </p:spTree>
    <p:extLst>
      <p:ext uri="{BB962C8B-B14F-4D97-AF65-F5344CB8AC3E}">
        <p14:creationId xmlns:p14="http://schemas.microsoft.com/office/powerpoint/2010/main" val="1038089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111C6-BB86-F3DC-6135-3F8E89C0F078}"/>
              </a:ext>
            </a:extLst>
          </p:cNvPr>
          <p:cNvSpPr>
            <a:spLocks noGrp="1"/>
          </p:cNvSpPr>
          <p:nvPr>
            <p:ph type="title"/>
          </p:nvPr>
        </p:nvSpPr>
        <p:spPr>
          <a:xfrm>
            <a:off x="838200" y="18255"/>
            <a:ext cx="10515600" cy="1325563"/>
          </a:xfrm>
        </p:spPr>
        <p:txBody>
          <a:bodyPr/>
          <a:lstStyle/>
          <a:p>
            <a:r>
              <a:rPr lang="en-GB" dirty="0"/>
              <a:t>Ethical frameworks</a:t>
            </a:r>
          </a:p>
        </p:txBody>
      </p:sp>
      <p:sp>
        <p:nvSpPr>
          <p:cNvPr id="3" name="Content Placeholder 2">
            <a:extLst>
              <a:ext uri="{FF2B5EF4-FFF2-40B4-BE49-F238E27FC236}">
                <a16:creationId xmlns:a16="http://schemas.microsoft.com/office/drawing/2014/main" id="{7B907979-AD1C-F147-34E4-DDAAD8A1C516}"/>
              </a:ext>
            </a:extLst>
          </p:cNvPr>
          <p:cNvSpPr>
            <a:spLocks noGrp="1"/>
          </p:cNvSpPr>
          <p:nvPr>
            <p:ph idx="1"/>
          </p:nvPr>
        </p:nvSpPr>
        <p:spPr>
          <a:xfrm>
            <a:off x="354330" y="1165860"/>
            <a:ext cx="11333365" cy="5463540"/>
          </a:xfrm>
        </p:spPr>
        <p:txBody>
          <a:bodyPr>
            <a:normAutofit fontScale="62500" lnSpcReduction="20000"/>
          </a:bodyPr>
          <a:lstStyle/>
          <a:p>
            <a:pPr lvl="0"/>
            <a:r>
              <a:rPr lang="en-GB" dirty="0"/>
              <a:t>Deontology</a:t>
            </a:r>
          </a:p>
          <a:p>
            <a:pPr lvl="1"/>
            <a:r>
              <a:rPr lang="en-GB" dirty="0"/>
              <a:t>There is no deontological aspect i.e. focussing on the actions not the outcome to determine right or wrong.</a:t>
            </a:r>
          </a:p>
          <a:p>
            <a:pPr lvl="0"/>
            <a:r>
              <a:rPr lang="en-GB" dirty="0"/>
              <a:t>Consequentialism</a:t>
            </a:r>
          </a:p>
          <a:p>
            <a:pPr lvl="1"/>
            <a:r>
              <a:rPr lang="en-GB" dirty="0"/>
              <a:t>Rightness or wrongness judged by the outcomes. There is an element of consequentialism in the product, </a:t>
            </a:r>
          </a:p>
          <a:p>
            <a:pPr lvl="1"/>
            <a:r>
              <a:rPr lang="en-GB" dirty="0"/>
              <a:t>Rightness and wrongness as defined by who, shareholders or customers?</a:t>
            </a:r>
          </a:p>
          <a:p>
            <a:pPr lvl="0"/>
            <a:r>
              <a:rPr lang="en-GB" dirty="0"/>
              <a:t>Bias</a:t>
            </a:r>
          </a:p>
          <a:p>
            <a:pPr lvl="1"/>
            <a:r>
              <a:rPr lang="en-GB" dirty="0"/>
              <a:t>As a ML model is used, can we be certain that the training data contain no bias?</a:t>
            </a:r>
          </a:p>
          <a:p>
            <a:pPr lvl="1"/>
            <a:r>
              <a:rPr lang="en-GB" dirty="0"/>
              <a:t>Was a representative sample population used in training the model?</a:t>
            </a:r>
          </a:p>
          <a:p>
            <a:pPr lvl="1"/>
            <a:r>
              <a:rPr lang="en-GB" dirty="0"/>
              <a:t>Are data scientists free to collect sufficient representative data?</a:t>
            </a:r>
          </a:p>
          <a:p>
            <a:pPr lvl="0"/>
            <a:r>
              <a:rPr lang="en-GB" sz="2700" dirty="0"/>
              <a:t>Principle</a:t>
            </a:r>
            <a:r>
              <a:rPr lang="en-GB" dirty="0"/>
              <a:t> </a:t>
            </a:r>
            <a:r>
              <a:rPr lang="en-GB" sz="2700" dirty="0"/>
              <a:t>Ethics List as given by Subbian et al. ASEE 2022 (based off the Belmont principles for medical research)</a:t>
            </a:r>
          </a:p>
          <a:p>
            <a:pPr lvl="1"/>
            <a:r>
              <a:rPr lang="en-GB" b="1" dirty="0"/>
              <a:t>Beneficence</a:t>
            </a:r>
            <a:r>
              <a:rPr lang="en-GB" dirty="0"/>
              <a:t> - Do no harm + maximise the benefits – perhaps for a majority it will benefit but risk of bias in ML, and lack of explainability may disadvantage minorities</a:t>
            </a:r>
          </a:p>
          <a:p>
            <a:pPr lvl="1"/>
            <a:r>
              <a:rPr lang="en-GB" b="1" dirty="0"/>
              <a:t>Nonmaleficence – </a:t>
            </a:r>
            <a:r>
              <a:rPr lang="en-GB" dirty="0"/>
              <a:t>avoiding actions causing harm and preventing harm – lack of explicit to challenge decisions  may actually cause harm</a:t>
            </a:r>
          </a:p>
          <a:p>
            <a:pPr lvl="1"/>
            <a:r>
              <a:rPr lang="en-GB" b="1" dirty="0"/>
              <a:t>Autonomy </a:t>
            </a:r>
            <a:r>
              <a:rPr lang="en-GB" dirty="0"/>
              <a:t>– freedom to make decisions on your on behalf – contradictory given the use of ML in the Loan Product</a:t>
            </a:r>
          </a:p>
          <a:p>
            <a:pPr lvl="1"/>
            <a:r>
              <a:rPr lang="en-GB" b="1" dirty="0"/>
              <a:t>Justice </a:t>
            </a:r>
            <a:r>
              <a:rPr lang="en-GB" dirty="0"/>
              <a:t>- Fair and equitable treatment of people – no explicit reference to fairness or justice</a:t>
            </a:r>
          </a:p>
          <a:p>
            <a:pPr lvl="1"/>
            <a:r>
              <a:rPr lang="en-GB" b="1" dirty="0"/>
              <a:t>Fidelity </a:t>
            </a:r>
            <a:r>
              <a:rPr lang="en-GB" dirty="0"/>
              <a:t> - Honouring commitments – there is no reference to this</a:t>
            </a:r>
          </a:p>
          <a:p>
            <a:pPr lvl="1"/>
            <a:r>
              <a:rPr lang="en-GB" b="1" dirty="0"/>
              <a:t>Veracity</a:t>
            </a:r>
            <a:r>
              <a:rPr lang="en-GB" dirty="0"/>
              <a:t> – being honest – there is explicit reference to this.</a:t>
            </a:r>
          </a:p>
          <a:p>
            <a:r>
              <a:rPr lang="en-GB" dirty="0"/>
              <a:t>Virtue Ethics</a:t>
            </a:r>
          </a:p>
          <a:p>
            <a:pPr lvl="1"/>
            <a:r>
              <a:rPr lang="en-GB" dirty="0"/>
              <a:t>There is a mention of Honesty and Integrity in their decision making principles, so there is an element of virtue ethics</a:t>
            </a:r>
          </a:p>
          <a:p>
            <a:r>
              <a:rPr lang="en-GB" dirty="0">
                <a:hlinkClick r:id="rId3"/>
              </a:rPr>
              <a:t>https://www.hhs.gov/ohrp/regulations-and-policy/belmont-report/read-the-belmont-report/index.html</a:t>
            </a:r>
            <a:r>
              <a:rPr lang="en-GB" dirty="0"/>
              <a:t> </a:t>
            </a:r>
          </a:p>
          <a:p>
            <a:r>
              <a:rPr lang="en-US" u="sng" dirty="0">
                <a:hlinkClick r:id="rId4"/>
              </a:rPr>
              <a:t>https://www.mccormick.northwestern.edu/research/engineering-education-research-center/documents/events/insight-xiii/ethics-frameworks-and-philosophies-edit.pdf</a:t>
            </a:r>
            <a:r>
              <a:rPr lang="en-US" dirty="0"/>
              <a:t>   </a:t>
            </a:r>
            <a:endParaRPr lang="en-GB" dirty="0"/>
          </a:p>
          <a:p>
            <a:endParaRPr lang="en-GB" dirty="0"/>
          </a:p>
        </p:txBody>
      </p:sp>
    </p:spTree>
    <p:extLst>
      <p:ext uri="{BB962C8B-B14F-4D97-AF65-F5344CB8AC3E}">
        <p14:creationId xmlns:p14="http://schemas.microsoft.com/office/powerpoint/2010/main" val="3174047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0889-4036-CEB7-5F33-8DC51A132937}"/>
              </a:ext>
            </a:extLst>
          </p:cNvPr>
          <p:cNvSpPr>
            <a:spLocks noGrp="1"/>
          </p:cNvSpPr>
          <p:nvPr>
            <p:ph type="title"/>
          </p:nvPr>
        </p:nvSpPr>
        <p:spPr/>
        <p:txBody>
          <a:bodyPr/>
          <a:lstStyle/>
          <a:p>
            <a:r>
              <a:rPr lang="en-GB" dirty="0"/>
              <a:t>Ethics statement from 2024 report</a:t>
            </a:r>
          </a:p>
        </p:txBody>
      </p:sp>
      <p:sp>
        <p:nvSpPr>
          <p:cNvPr id="3" name="Content Placeholder 2">
            <a:extLst>
              <a:ext uri="{FF2B5EF4-FFF2-40B4-BE49-F238E27FC236}">
                <a16:creationId xmlns:a16="http://schemas.microsoft.com/office/drawing/2014/main" id="{EFFA3EEA-2E72-429A-7340-0682C0F35A8D}"/>
              </a:ext>
            </a:extLst>
          </p:cNvPr>
          <p:cNvSpPr>
            <a:spLocks noGrp="1"/>
          </p:cNvSpPr>
          <p:nvPr>
            <p:ph idx="1"/>
          </p:nvPr>
        </p:nvSpPr>
        <p:spPr>
          <a:xfrm>
            <a:off x="482885" y="1582221"/>
            <a:ext cx="9462499" cy="4900772"/>
          </a:xfrm>
        </p:spPr>
        <p:txBody>
          <a:bodyPr>
            <a:normAutofit fontScale="85000" lnSpcReduction="20000"/>
          </a:bodyPr>
          <a:lstStyle/>
          <a:p>
            <a:r>
              <a:rPr lang="en-GB" dirty="0"/>
              <a:t>“Our stance against bribery and corruption is unequivocal, and we maintain strict compliance with applicable laws and regulations. We ensure transparency and integrity across all business engagements through comprehensive employee training on identifying and addressing unethical behaviour. This is supported by rigorous due diligence assessments conducted by our third party risk team and regular reassessments of existing partnerships. We also have established clear protocols for reporting and addressing concerns, ensuring that unethical behaviour is promptly identified and addressed.”</a:t>
            </a:r>
          </a:p>
          <a:p>
            <a:r>
              <a:rPr lang="en-GB" dirty="0"/>
              <a:t>“Revolut remains firmly committed to acting with integrity and upholding ethical standards in all its business relationships. As part of this commitment, we uphold a zero-tolerance policy towards modern slavery and human trafficking throughout our operations and supply chains. Revolut's policy stresses the importance of implementing and enforcing efficient systems and controls to prevent slavery and human trafficking within its supply chains. These measures include, but are not limited to, conducting third-party due diligence, performing risk assessments of suppliers, including contractual clauses requiring suppliers to adhere to Revolut's policy, and establishing a robust mechanism for the prompt escalation of issues related to modern slavery and human trafficking”</a:t>
            </a:r>
          </a:p>
          <a:p>
            <a:pPr marL="0" indent="0">
              <a:buNone/>
            </a:pPr>
            <a:r>
              <a:rPr lang="en-GB" dirty="0">
                <a:hlinkClick r:id="rId3"/>
              </a:rPr>
              <a:t>https://assets.revolut.com/pdf/annualreport2024.pdf</a:t>
            </a:r>
            <a:r>
              <a:rPr lang="en-GB" dirty="0"/>
              <a:t> </a:t>
            </a:r>
          </a:p>
          <a:p>
            <a:pPr marL="0" indent="0">
              <a:buNone/>
            </a:pPr>
            <a:endParaRPr lang="en-GB" dirty="0"/>
          </a:p>
          <a:p>
            <a:r>
              <a:rPr lang="en-GB" dirty="0"/>
              <a:t>Questions arising from this statement:</a:t>
            </a:r>
          </a:p>
          <a:p>
            <a:pPr lvl="1"/>
            <a:r>
              <a:rPr lang="en-GB" dirty="0"/>
              <a:t>Lack of transparency, who is the third party risk team? Transparency would enhance the trust.</a:t>
            </a:r>
          </a:p>
          <a:p>
            <a:pPr lvl="1"/>
            <a:r>
              <a:rPr lang="en-GB" dirty="0"/>
              <a:t>What are the clear protocols for reporting and addressing concerns, ensuring unethical behaviour is promptly identified and addressed?</a:t>
            </a:r>
          </a:p>
          <a:p>
            <a:pPr lvl="1"/>
            <a:r>
              <a:rPr lang="en-GB" dirty="0"/>
              <a:t>Ethical stance is not clearly defined and as such is open to some interpretation.</a:t>
            </a:r>
          </a:p>
        </p:txBody>
      </p:sp>
    </p:spTree>
    <p:extLst>
      <p:ext uri="{BB962C8B-B14F-4D97-AF65-F5344CB8AC3E}">
        <p14:creationId xmlns:p14="http://schemas.microsoft.com/office/powerpoint/2010/main" val="4103600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DEA3-966E-B91B-0F83-9B88ECB40EF8}"/>
              </a:ext>
            </a:extLst>
          </p:cNvPr>
          <p:cNvSpPr>
            <a:spLocks noGrp="1"/>
          </p:cNvSpPr>
          <p:nvPr>
            <p:ph type="title"/>
          </p:nvPr>
        </p:nvSpPr>
        <p:spPr>
          <a:xfrm>
            <a:off x="220288" y="0"/>
            <a:ext cx="5604042" cy="623701"/>
          </a:xfrm>
        </p:spPr>
        <p:txBody>
          <a:bodyPr>
            <a:normAutofit fontScale="90000"/>
          </a:bodyPr>
          <a:lstStyle/>
          <a:p>
            <a:r>
              <a:rPr lang="en-GB" dirty="0"/>
              <a:t>First Principles Ethical Test</a:t>
            </a:r>
          </a:p>
        </p:txBody>
      </p:sp>
      <p:graphicFrame>
        <p:nvGraphicFramePr>
          <p:cNvPr id="4" name="Content Placeholder 3">
            <a:extLst>
              <a:ext uri="{FF2B5EF4-FFF2-40B4-BE49-F238E27FC236}">
                <a16:creationId xmlns:a16="http://schemas.microsoft.com/office/drawing/2014/main" id="{0C936CC6-B3C9-D6BA-00E4-5EDFE38F6559}"/>
              </a:ext>
            </a:extLst>
          </p:cNvPr>
          <p:cNvGraphicFramePr>
            <a:graphicFrameLocks noGrp="1"/>
          </p:cNvGraphicFramePr>
          <p:nvPr>
            <p:ph idx="1"/>
            <p:extLst>
              <p:ext uri="{D42A27DB-BD31-4B8C-83A1-F6EECF244321}">
                <p14:modId xmlns:p14="http://schemas.microsoft.com/office/powerpoint/2010/main" val="3170525570"/>
              </p:ext>
            </p:extLst>
          </p:nvPr>
        </p:nvGraphicFramePr>
        <p:xfrm>
          <a:off x="220289" y="623701"/>
          <a:ext cx="11507887" cy="5859902"/>
        </p:xfrm>
        <a:graphic>
          <a:graphicData uri="http://schemas.openxmlformats.org/drawingml/2006/table">
            <a:tbl>
              <a:tblPr firstRow="1" bandRow="1">
                <a:tableStyleId>{5C22544A-7EE6-4342-B048-85BDC9FD1C3A}</a:tableStyleId>
              </a:tblPr>
              <a:tblGrid>
                <a:gridCol w="3431201">
                  <a:extLst>
                    <a:ext uri="{9D8B030D-6E8A-4147-A177-3AD203B41FA5}">
                      <a16:colId xmlns:a16="http://schemas.microsoft.com/office/drawing/2014/main" val="3674473931"/>
                    </a:ext>
                  </a:extLst>
                </a:gridCol>
                <a:gridCol w="4704869">
                  <a:extLst>
                    <a:ext uri="{9D8B030D-6E8A-4147-A177-3AD203B41FA5}">
                      <a16:colId xmlns:a16="http://schemas.microsoft.com/office/drawing/2014/main" val="320933149"/>
                    </a:ext>
                  </a:extLst>
                </a:gridCol>
                <a:gridCol w="3371817">
                  <a:extLst>
                    <a:ext uri="{9D8B030D-6E8A-4147-A177-3AD203B41FA5}">
                      <a16:colId xmlns:a16="http://schemas.microsoft.com/office/drawing/2014/main" val="2257108850"/>
                    </a:ext>
                  </a:extLst>
                </a:gridCol>
              </a:tblGrid>
              <a:tr h="919370">
                <a:tc>
                  <a:txBody>
                    <a:bodyPr/>
                    <a:lstStyle/>
                    <a:p>
                      <a:pPr>
                        <a:lnSpc>
                          <a:spcPct val="107000"/>
                        </a:lnSpc>
                        <a:buNone/>
                      </a:pPr>
                      <a:r>
                        <a:rPr lang="en-US" sz="2800" kern="100" dirty="0">
                          <a:effectLst/>
                        </a:rPr>
                        <a:t>What is the outcome</a:t>
                      </a:r>
                      <a:endParaRPr lang="en-GB" sz="2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0" algn="ctr" defTabSz="914400" rtl="0" eaLnBrk="1" latinLnBrk="0" hangingPunct="1">
                        <a:lnSpc>
                          <a:spcPct val="107000"/>
                        </a:lnSpc>
                        <a:buNone/>
                      </a:pPr>
                      <a:r>
                        <a:rPr lang="en-GB" sz="2800" b="1" kern="100" dirty="0">
                          <a:solidFill>
                            <a:schemeClr val="lt1"/>
                          </a:solidFill>
                          <a:effectLst/>
                          <a:latin typeface="+mn-lt"/>
                          <a:ea typeface="+mn-ea"/>
                          <a:cs typeface="+mn-cs"/>
                        </a:rPr>
                        <a:t>Yes</a:t>
                      </a:r>
                    </a:p>
                  </a:txBody>
                  <a:tcPr/>
                </a:tc>
                <a:tc>
                  <a:txBody>
                    <a:bodyPr/>
                    <a:lstStyle/>
                    <a:p>
                      <a:pPr marL="0" algn="ctr" defTabSz="914400" rtl="0" eaLnBrk="1" latinLnBrk="0" hangingPunct="1">
                        <a:lnSpc>
                          <a:spcPct val="107000"/>
                        </a:lnSpc>
                        <a:buNone/>
                      </a:pPr>
                      <a:r>
                        <a:rPr lang="en-GB" sz="2800" b="1" kern="100" dirty="0">
                          <a:solidFill>
                            <a:schemeClr val="lt1"/>
                          </a:solidFill>
                          <a:effectLst/>
                          <a:latin typeface="+mn-lt"/>
                          <a:ea typeface="+mn-ea"/>
                          <a:cs typeface="+mn-cs"/>
                        </a:rPr>
                        <a:t>No</a:t>
                      </a:r>
                    </a:p>
                  </a:txBody>
                  <a:tcPr/>
                </a:tc>
                <a:extLst>
                  <a:ext uri="{0D108BD9-81ED-4DB2-BD59-A6C34878D82A}">
                    <a16:rowId xmlns:a16="http://schemas.microsoft.com/office/drawing/2014/main" val="1274564072"/>
                  </a:ext>
                </a:extLst>
              </a:tr>
              <a:tr h="1044532">
                <a:tc>
                  <a:txBody>
                    <a:bodyPr/>
                    <a:lstStyle/>
                    <a:p>
                      <a:pPr>
                        <a:lnSpc>
                          <a:spcPct val="107000"/>
                        </a:lnSpc>
                        <a:buNone/>
                      </a:pPr>
                      <a:r>
                        <a:rPr lang="en-US" sz="1600" kern="100" dirty="0">
                          <a:effectLst/>
                        </a:rPr>
                        <a:t>﻿Does it preserve or enhance human dignity? </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It is providing access to funding which is essential in a modern society to allow economic and personal growth. In that sense yes.</a:t>
                      </a: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If there is rejection of Loan application due to inherent bias in a ML model, than it may not.</a:t>
                      </a:r>
                    </a:p>
                  </a:txBody>
                  <a:tcPr/>
                </a:tc>
                <a:extLst>
                  <a:ext uri="{0D108BD9-81ED-4DB2-BD59-A6C34878D82A}">
                    <a16:rowId xmlns:a16="http://schemas.microsoft.com/office/drawing/2014/main" val="1539576995"/>
                  </a:ext>
                </a:extLst>
              </a:tr>
              <a:tr h="1983967">
                <a:tc>
                  <a:txBody>
                    <a:bodyPr/>
                    <a:lstStyle/>
                    <a:p>
                      <a:pPr>
                        <a:lnSpc>
                          <a:spcPct val="107000"/>
                        </a:lnSpc>
                        <a:buNone/>
                      </a:pPr>
                      <a:r>
                        <a:rPr lang="en-US" sz="1600" kern="100" dirty="0">
                          <a:effectLst/>
                        </a:rPr>
                        <a:t>Does it preserve the autonomy of the human? </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GB" sz="1600" kern="100" dirty="0">
                          <a:effectLst/>
                          <a:latin typeface="Calibri" panose="020F0502020204030204" pitchFamily="34" charset="0"/>
                          <a:cs typeface="Times New Roman" panose="02020603050405020304" pitchFamily="18" charset="0"/>
                        </a:rPr>
                        <a:t>Once the user and give Free and Informed consent, Also explicitly states a user does have a right to opt out of solely automated decisions under GDPR regulations, that significantly affects them and ask for a manual review of the decision.</a:t>
                      </a:r>
                    </a:p>
                    <a:p>
                      <a:pPr>
                        <a:lnSpc>
                          <a:spcPct val="107000"/>
                        </a:lnSpc>
                        <a:buNone/>
                      </a:pPr>
                      <a:endParaRPr lang="en-GB" sz="1600" kern="100" dirty="0">
                        <a:effectLst/>
                        <a:latin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GB" sz="1600" kern="100" dirty="0">
                          <a:effectLst/>
                          <a:latin typeface="Calibri" panose="020F0502020204030204" pitchFamily="34" charset="0"/>
                          <a:cs typeface="Times New Roman" panose="02020603050405020304" pitchFamily="18" charset="0"/>
                        </a:rPr>
                        <a:t>However, also says “</a:t>
                      </a:r>
                      <a:r>
                        <a:rPr lang="en-GB" sz="1600" dirty="0"/>
                        <a:t>Sometimes, we won’t be able to agree to your request (for example, if we have a legitimate reason for not doing so or the right does not apply to the particular information we hold about you.” </a:t>
                      </a:r>
                      <a:r>
                        <a:rPr lang="en-GB" sz="1600" kern="100" dirty="0">
                          <a:solidFill>
                            <a:schemeClr val="dk1"/>
                          </a:solidFill>
                          <a:effectLst/>
                          <a:latin typeface="Calibri" panose="020F0502020204030204" pitchFamily="34" charset="0"/>
                          <a:ea typeface="+mn-ea"/>
                          <a:cs typeface="Times New Roman" panose="02020603050405020304" pitchFamily="18" charset="0"/>
                        </a:rPr>
                        <a:t>which is contradictory</a:t>
                      </a:r>
                    </a:p>
                  </a:txBody>
                  <a:tcPr/>
                </a:tc>
                <a:extLst>
                  <a:ext uri="{0D108BD9-81ED-4DB2-BD59-A6C34878D82A}">
                    <a16:rowId xmlns:a16="http://schemas.microsoft.com/office/drawing/2014/main" val="3227050475"/>
                  </a:ext>
                </a:extLst>
              </a:tr>
              <a:tr h="1053346">
                <a:tc>
                  <a:txBody>
                    <a:bodyPr/>
                    <a:lstStyle/>
                    <a:p>
                      <a:pPr>
                        <a:lnSpc>
                          <a:spcPct val="107000"/>
                        </a:lnSpc>
                        <a:buNone/>
                      </a:pPr>
                      <a:r>
                        <a:rPr lang="en-US" sz="1600" kern="100" dirty="0">
                          <a:effectLst/>
                        </a:rPr>
                        <a:t>Is the processing necessary and proportionate?</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This is open to question.</a:t>
                      </a: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Lack of disclosure of the decision making process and data used means we can not confidently answer this at this time.</a:t>
                      </a:r>
                    </a:p>
                  </a:txBody>
                  <a:tcPr/>
                </a:tc>
                <a:extLst>
                  <a:ext uri="{0D108BD9-81ED-4DB2-BD59-A6C34878D82A}">
                    <a16:rowId xmlns:a16="http://schemas.microsoft.com/office/drawing/2014/main" val="830453588"/>
                  </a:ext>
                </a:extLst>
              </a:tr>
              <a:tr h="726187">
                <a:tc>
                  <a:txBody>
                    <a:bodyPr/>
                    <a:lstStyle/>
                    <a:p>
                      <a:pPr>
                        <a:lnSpc>
                          <a:spcPct val="107000"/>
                        </a:lnSpc>
                        <a:buNone/>
                      </a:pPr>
                      <a:r>
                        <a:rPr lang="en-US" sz="1600" kern="100" dirty="0">
                          <a:effectLst/>
                        </a:rPr>
                        <a:t>Does it uphold the common good?</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Yes, once there is no discrimination and there is explainability </a:t>
                      </a:r>
                    </a:p>
                  </a:txBody>
                  <a:tcPr/>
                </a:tc>
                <a:tc>
                  <a:txBody>
                    <a:bodyPr/>
                    <a:lstStyle/>
                    <a:p>
                      <a:pPr>
                        <a:lnSpc>
                          <a:spcPct val="107000"/>
                        </a:lnSpc>
                        <a:buNone/>
                      </a:pPr>
                      <a:endParaRPr lang="en-GB" sz="1600" kern="100" dirty="0">
                        <a:effectLst/>
                        <a:latin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124463603"/>
                  </a:ext>
                </a:extLst>
              </a:tr>
            </a:tbl>
          </a:graphicData>
        </a:graphic>
      </p:graphicFrame>
      <p:sp>
        <p:nvSpPr>
          <p:cNvPr id="5" name="TextBox 4">
            <a:extLst>
              <a:ext uri="{FF2B5EF4-FFF2-40B4-BE49-F238E27FC236}">
                <a16:creationId xmlns:a16="http://schemas.microsoft.com/office/drawing/2014/main" id="{149FCE9C-E0E5-E583-1783-87433AEB7904}"/>
              </a:ext>
            </a:extLst>
          </p:cNvPr>
          <p:cNvSpPr txBox="1"/>
          <p:nvPr/>
        </p:nvSpPr>
        <p:spPr>
          <a:xfrm>
            <a:off x="8696739" y="6483603"/>
            <a:ext cx="3359427" cy="338554"/>
          </a:xfrm>
          <a:prstGeom prst="rect">
            <a:avLst/>
          </a:prstGeom>
          <a:noFill/>
        </p:spPr>
        <p:txBody>
          <a:bodyPr wrap="square" rtlCol="0">
            <a:spAutoFit/>
          </a:bodyPr>
          <a:lstStyle/>
          <a:p>
            <a:r>
              <a:rPr lang="en-US" sz="1600" dirty="0"/>
              <a:t>(O'Keefe and O’Byrne, 2018)</a:t>
            </a:r>
            <a:endParaRPr lang="en-GB" sz="1600" dirty="0"/>
          </a:p>
        </p:txBody>
      </p:sp>
    </p:spTree>
    <p:extLst>
      <p:ext uri="{BB962C8B-B14F-4D97-AF65-F5344CB8AC3E}">
        <p14:creationId xmlns:p14="http://schemas.microsoft.com/office/powerpoint/2010/main" val="2293155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CFF76-A4E0-0CB5-5A99-1CF80E8AD28D}"/>
              </a:ext>
            </a:extLst>
          </p:cNvPr>
          <p:cNvSpPr>
            <a:spLocks noGrp="1"/>
          </p:cNvSpPr>
          <p:nvPr>
            <p:ph type="title"/>
          </p:nvPr>
        </p:nvSpPr>
        <p:spPr>
          <a:xfrm>
            <a:off x="4519032" y="2709746"/>
            <a:ext cx="1948676" cy="1021615"/>
          </a:xfrm>
        </p:spPr>
        <p:txBody>
          <a:bodyPr>
            <a:normAutofit/>
          </a:bodyPr>
          <a:lstStyle/>
          <a:p>
            <a:r>
              <a:rPr lang="en-GB" dirty="0"/>
              <a:t>Privacy</a:t>
            </a:r>
          </a:p>
        </p:txBody>
      </p:sp>
    </p:spTree>
    <p:extLst>
      <p:ext uri="{BB962C8B-B14F-4D97-AF65-F5344CB8AC3E}">
        <p14:creationId xmlns:p14="http://schemas.microsoft.com/office/powerpoint/2010/main" val="1056208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F8856-8083-7D92-B82D-17C8FB0B9765}"/>
              </a:ext>
            </a:extLst>
          </p:cNvPr>
          <p:cNvSpPr>
            <a:spLocks noGrp="1"/>
          </p:cNvSpPr>
          <p:nvPr>
            <p:ph type="title"/>
          </p:nvPr>
        </p:nvSpPr>
        <p:spPr/>
        <p:txBody>
          <a:bodyPr/>
          <a:lstStyle/>
          <a:p>
            <a:r>
              <a:rPr lang="en-GB" dirty="0"/>
              <a:t>Revolut Privacy Statement</a:t>
            </a:r>
          </a:p>
        </p:txBody>
      </p:sp>
      <p:sp>
        <p:nvSpPr>
          <p:cNvPr id="3" name="Content Placeholder 2">
            <a:extLst>
              <a:ext uri="{FF2B5EF4-FFF2-40B4-BE49-F238E27FC236}">
                <a16:creationId xmlns:a16="http://schemas.microsoft.com/office/drawing/2014/main" id="{BDF84F4A-C660-38E2-39B8-315109969242}"/>
              </a:ext>
            </a:extLst>
          </p:cNvPr>
          <p:cNvSpPr>
            <a:spLocks noGrp="1"/>
          </p:cNvSpPr>
          <p:nvPr>
            <p:ph idx="1"/>
          </p:nvPr>
        </p:nvSpPr>
        <p:spPr>
          <a:xfrm>
            <a:off x="664579" y="1605706"/>
            <a:ext cx="10515600" cy="4745398"/>
          </a:xfrm>
        </p:spPr>
        <p:txBody>
          <a:bodyPr>
            <a:normAutofit fontScale="92500" lnSpcReduction="10000"/>
          </a:bodyPr>
          <a:lstStyle/>
          <a:p>
            <a:r>
              <a:rPr lang="en-GB" dirty="0"/>
              <a:t>Commitment </a:t>
            </a:r>
          </a:p>
          <a:p>
            <a:pPr lvl="1"/>
            <a:r>
              <a:rPr lang="en-GB" dirty="0"/>
              <a:t>always keep your personal data safe and private</a:t>
            </a:r>
          </a:p>
          <a:p>
            <a:pPr lvl="1"/>
            <a:r>
              <a:rPr lang="en-GB" dirty="0"/>
              <a:t>never sell your personal data</a:t>
            </a:r>
          </a:p>
          <a:p>
            <a:pPr lvl="1"/>
            <a:r>
              <a:rPr lang="en-GB" dirty="0"/>
              <a:t>allow you to manage and review your marketing choices at any time</a:t>
            </a:r>
          </a:p>
          <a:p>
            <a:endParaRPr lang="en-GB" dirty="0"/>
          </a:p>
          <a:p>
            <a:r>
              <a:rPr lang="en-GB" dirty="0"/>
              <a:t>We may also collect your personal data from other people or companies.</a:t>
            </a:r>
          </a:p>
          <a:p>
            <a:r>
              <a:rPr lang="en-GB" dirty="0"/>
              <a:t>if you are in the European Economic Area (EEA), Revolut Bank UAB is the primary </a:t>
            </a:r>
            <a:r>
              <a:rPr lang="en-GB" b="1" dirty="0"/>
              <a:t>controller</a:t>
            </a:r>
            <a:r>
              <a:rPr lang="en-GB" dirty="0"/>
              <a:t> of your personal data even if you are receiving services from one of its branches</a:t>
            </a:r>
          </a:p>
          <a:p>
            <a:r>
              <a:rPr lang="en-GB" dirty="0"/>
              <a:t>if you are in the United Kingdom, Revolut Ltd is the primary controller of your personal data</a:t>
            </a:r>
          </a:p>
          <a:p>
            <a:endParaRPr lang="en-GB" dirty="0"/>
          </a:p>
          <a:p>
            <a:r>
              <a:rPr lang="en-GB" dirty="0"/>
              <a:t>Revolut Bank UAB is located in Lithuania, this means Irish customer data is controlled via Lithuania, and as a result is may have implications for queries, complaints and investigations.</a:t>
            </a:r>
          </a:p>
          <a:p>
            <a:endParaRPr lang="en-GB" dirty="0"/>
          </a:p>
          <a:p>
            <a:pPr marL="0" indent="0">
              <a:buNone/>
            </a:pPr>
            <a:r>
              <a:rPr lang="en-GB" sz="1700" dirty="0">
                <a:hlinkClick r:id="rId3"/>
              </a:rPr>
              <a:t>From Customer Privacy Notice - https://www.revolut.com/en-IE/legal/privacy/</a:t>
            </a:r>
            <a:endParaRPr lang="en-GB" sz="1700" dirty="0"/>
          </a:p>
        </p:txBody>
      </p:sp>
    </p:spTree>
    <p:extLst>
      <p:ext uri="{BB962C8B-B14F-4D97-AF65-F5344CB8AC3E}">
        <p14:creationId xmlns:p14="http://schemas.microsoft.com/office/powerpoint/2010/main" val="3621907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7A5F2-F8ED-7B8B-8CA1-25A61D688B6A}"/>
              </a:ext>
            </a:extLst>
          </p:cNvPr>
          <p:cNvSpPr>
            <a:spLocks noGrp="1"/>
          </p:cNvSpPr>
          <p:nvPr>
            <p:ph type="title"/>
          </p:nvPr>
        </p:nvSpPr>
        <p:spPr>
          <a:xfrm>
            <a:off x="838200" y="365126"/>
            <a:ext cx="10515600" cy="803918"/>
          </a:xfrm>
        </p:spPr>
        <p:txBody>
          <a:bodyPr/>
          <a:lstStyle/>
          <a:p>
            <a:r>
              <a:rPr lang="en-GB" dirty="0"/>
              <a:t>Data Collected</a:t>
            </a:r>
          </a:p>
        </p:txBody>
      </p:sp>
      <p:sp>
        <p:nvSpPr>
          <p:cNvPr id="3" name="Content Placeholder 2">
            <a:extLst>
              <a:ext uri="{FF2B5EF4-FFF2-40B4-BE49-F238E27FC236}">
                <a16:creationId xmlns:a16="http://schemas.microsoft.com/office/drawing/2014/main" id="{136FE8F9-56C0-3A7F-741E-C8BF8E2F891E}"/>
              </a:ext>
            </a:extLst>
          </p:cNvPr>
          <p:cNvSpPr>
            <a:spLocks noGrp="1"/>
          </p:cNvSpPr>
          <p:nvPr>
            <p:ph idx="1"/>
          </p:nvPr>
        </p:nvSpPr>
        <p:spPr>
          <a:xfrm>
            <a:off x="486137" y="1504709"/>
            <a:ext cx="11122767" cy="4816578"/>
          </a:xfrm>
        </p:spPr>
        <p:txBody>
          <a:bodyPr>
            <a:normAutofit fontScale="77500" lnSpcReduction="20000"/>
          </a:bodyPr>
          <a:lstStyle/>
          <a:p>
            <a:r>
              <a:rPr lang="en-GB" dirty="0"/>
              <a:t>Personal Data they collect</a:t>
            </a:r>
          </a:p>
          <a:p>
            <a:pPr lvl="1"/>
            <a:r>
              <a:rPr lang="en-GB" dirty="0"/>
              <a:t>Information you give Revolut</a:t>
            </a:r>
          </a:p>
          <a:p>
            <a:pPr lvl="1"/>
            <a:r>
              <a:rPr lang="en-GB" dirty="0"/>
              <a:t>Information from use of revolut products or services</a:t>
            </a:r>
          </a:p>
          <a:p>
            <a:pPr lvl="1"/>
            <a:r>
              <a:rPr lang="en-GB" dirty="0"/>
              <a:t>Information about location</a:t>
            </a:r>
          </a:p>
          <a:p>
            <a:pPr lvl="1"/>
            <a:r>
              <a:rPr lang="en-GB" dirty="0"/>
              <a:t>Information from others</a:t>
            </a:r>
          </a:p>
          <a:p>
            <a:pPr lvl="1"/>
            <a:r>
              <a:rPr lang="en-GB" dirty="0"/>
              <a:t>Information from social media – due diligence checks</a:t>
            </a:r>
          </a:p>
          <a:p>
            <a:pPr lvl="1"/>
            <a:r>
              <a:rPr lang="en-GB" dirty="0"/>
              <a:t>Information from publicly available sources – media stores, directories, websites due diligence , KYC checks</a:t>
            </a:r>
          </a:p>
          <a:p>
            <a:endParaRPr lang="en-GB" dirty="0"/>
          </a:p>
          <a:p>
            <a:r>
              <a:rPr lang="en-GB" dirty="0"/>
              <a:t>Specific privacy notices for services, outlining what data the take</a:t>
            </a:r>
          </a:p>
          <a:p>
            <a:pPr lvl="1"/>
            <a:r>
              <a:rPr lang="en-GB" dirty="0"/>
              <a:t>Revolut Messenger</a:t>
            </a:r>
          </a:p>
          <a:p>
            <a:pPr lvl="1"/>
            <a:r>
              <a:rPr lang="en-GB" dirty="0"/>
              <a:t>Pay Checkout</a:t>
            </a:r>
          </a:p>
          <a:p>
            <a:pPr lvl="1"/>
            <a:r>
              <a:rPr lang="en-GB" dirty="0"/>
              <a:t>Revolut  &lt;18</a:t>
            </a:r>
          </a:p>
          <a:p>
            <a:pPr lvl="1"/>
            <a:r>
              <a:rPr lang="en-GB" dirty="0"/>
              <a:t>Tailored Ads</a:t>
            </a:r>
          </a:p>
          <a:p>
            <a:pPr lvl="1"/>
            <a:endParaRPr lang="en-GB" dirty="0"/>
          </a:p>
          <a:p>
            <a:r>
              <a:rPr lang="en-GB" dirty="0"/>
              <a:t>Use of revolut products data is used in the Loan application</a:t>
            </a:r>
          </a:p>
          <a:p>
            <a:pPr marL="0" indent="0">
              <a:buNone/>
            </a:pPr>
            <a:endParaRPr lang="en-GB" dirty="0">
              <a:hlinkClick r:id="rId3"/>
            </a:endParaRPr>
          </a:p>
          <a:p>
            <a:pPr marL="0" indent="0">
              <a:buNone/>
            </a:pPr>
            <a:r>
              <a:rPr lang="en-GB" dirty="0">
                <a:hlinkClick r:id="rId3"/>
              </a:rPr>
              <a:t>From Customer Privacy Notice - https://www.revolut.com/en-IE/legal/privacy/</a:t>
            </a:r>
            <a:endParaRPr lang="en-GB" dirty="0"/>
          </a:p>
          <a:p>
            <a:endParaRPr lang="en-GB" dirty="0"/>
          </a:p>
        </p:txBody>
      </p:sp>
    </p:spTree>
    <p:extLst>
      <p:ext uri="{BB962C8B-B14F-4D97-AF65-F5344CB8AC3E}">
        <p14:creationId xmlns:p14="http://schemas.microsoft.com/office/powerpoint/2010/main" val="4080965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EB600-8B7D-D455-DE4C-EC87B34360ED}"/>
              </a:ext>
            </a:extLst>
          </p:cNvPr>
          <p:cNvSpPr>
            <a:spLocks noGrp="1"/>
          </p:cNvSpPr>
          <p:nvPr>
            <p:ph type="title"/>
          </p:nvPr>
        </p:nvSpPr>
        <p:spPr/>
        <p:txBody>
          <a:bodyPr/>
          <a:lstStyle/>
          <a:p>
            <a:r>
              <a:rPr lang="en-GB" dirty="0"/>
              <a:t>Redress and complaint</a:t>
            </a:r>
          </a:p>
        </p:txBody>
      </p:sp>
      <p:sp>
        <p:nvSpPr>
          <p:cNvPr id="3" name="Content Placeholder 2">
            <a:extLst>
              <a:ext uri="{FF2B5EF4-FFF2-40B4-BE49-F238E27FC236}">
                <a16:creationId xmlns:a16="http://schemas.microsoft.com/office/drawing/2014/main" id="{BC73A1C6-A38A-A055-988B-6CC9FB78753F}"/>
              </a:ext>
            </a:extLst>
          </p:cNvPr>
          <p:cNvSpPr>
            <a:spLocks noGrp="1"/>
          </p:cNvSpPr>
          <p:nvPr>
            <p:ph idx="1"/>
          </p:nvPr>
        </p:nvSpPr>
        <p:spPr>
          <a:xfrm>
            <a:off x="677334" y="1470991"/>
            <a:ext cx="9102770" cy="4570371"/>
          </a:xfrm>
        </p:spPr>
        <p:txBody>
          <a:bodyPr>
            <a:normAutofit fontScale="77500" lnSpcReduction="20000"/>
          </a:bodyPr>
          <a:lstStyle/>
          <a:p>
            <a:r>
              <a:rPr lang="en-GB" sz="2200" dirty="0"/>
              <a:t>When you exercise one of your rights, or update your privacy settings in the Revolut app, it may take us up to one month to respond or implement your changes. </a:t>
            </a:r>
          </a:p>
          <a:p>
            <a:r>
              <a:rPr lang="en-GB" sz="2200" dirty="0"/>
              <a:t>Revolut will usually not charge you a fee when you exercise your rights. However, we’re allowed by law to charge a reasonable fee or refuse to act on your request if it is manifestly unfounded or excessive.</a:t>
            </a:r>
          </a:p>
          <a:p>
            <a:r>
              <a:rPr lang="en-GB" sz="2200" dirty="0"/>
              <a:t>If you’re unhappy with how we’ve handled your request you can complain to your </a:t>
            </a:r>
            <a:r>
              <a:rPr lang="en-GB" sz="2200" dirty="0">
                <a:hlinkClick r:id="rId3"/>
              </a:rPr>
              <a:t>local data protection authority</a:t>
            </a:r>
            <a:r>
              <a:rPr lang="en-GB" sz="2200" dirty="0"/>
              <a:t>. In the United Kingdom, this is the Information Commissioner’s Office (</a:t>
            </a:r>
            <a:r>
              <a:rPr lang="en-GB" sz="2200" dirty="0">
                <a:hlinkClick r:id="rId4"/>
              </a:rPr>
              <a:t>website</a:t>
            </a:r>
            <a:r>
              <a:rPr lang="en-GB" sz="2200" dirty="0"/>
              <a:t>). In the European Economic Area, our cross-border data protection authority is the Lithuanian State Data Protection Inspectorate (</a:t>
            </a:r>
            <a:r>
              <a:rPr lang="en-GB" sz="2200" dirty="0">
                <a:hlinkClick r:id="rId5"/>
              </a:rPr>
              <a:t>website</a:t>
            </a:r>
            <a:r>
              <a:rPr lang="en-GB" sz="2200" dirty="0"/>
              <a:t>)</a:t>
            </a:r>
          </a:p>
          <a:p>
            <a:endParaRPr lang="en-GB" dirty="0"/>
          </a:p>
          <a:p>
            <a:r>
              <a:rPr lang="en-GB" dirty="0"/>
              <a:t>Directing users in the EU to an institution in Lithuania may make engaging with the service more difficult than a more locally based complaints service.</a:t>
            </a:r>
          </a:p>
          <a:p>
            <a:endParaRPr lang="en-GB" dirty="0"/>
          </a:p>
          <a:p>
            <a:pPr marL="0" indent="0">
              <a:buNone/>
            </a:pPr>
            <a:endParaRPr lang="en-GB" dirty="0">
              <a:hlinkClick r:id="rId6"/>
            </a:endParaRPr>
          </a:p>
          <a:p>
            <a:pPr marL="0" indent="0">
              <a:buNone/>
            </a:pPr>
            <a:r>
              <a:rPr lang="en-GB" dirty="0">
                <a:hlinkClick r:id="rId6"/>
              </a:rPr>
              <a:t>From Customer Privacy Notice - https://www.revolut.com/en-IE/legal/privacy/</a:t>
            </a:r>
            <a:endParaRPr lang="en-GB" dirty="0"/>
          </a:p>
          <a:p>
            <a:pPr marL="0" indent="0">
              <a:buNone/>
            </a:pPr>
            <a:endParaRPr lang="en-GB" dirty="0"/>
          </a:p>
        </p:txBody>
      </p:sp>
    </p:spTree>
    <p:extLst>
      <p:ext uri="{BB962C8B-B14F-4D97-AF65-F5344CB8AC3E}">
        <p14:creationId xmlns:p14="http://schemas.microsoft.com/office/powerpoint/2010/main" val="2603211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175FE-3438-D63E-1384-55ACC602E92A}"/>
              </a:ext>
            </a:extLst>
          </p:cNvPr>
          <p:cNvSpPr>
            <a:spLocks noGrp="1"/>
          </p:cNvSpPr>
          <p:nvPr>
            <p:ph type="title"/>
          </p:nvPr>
        </p:nvSpPr>
        <p:spPr/>
        <p:txBody>
          <a:bodyPr/>
          <a:lstStyle/>
          <a:p>
            <a:r>
              <a:rPr lang="en-GB" dirty="0"/>
              <a:t>Cookies</a:t>
            </a:r>
          </a:p>
        </p:txBody>
      </p:sp>
      <p:sp>
        <p:nvSpPr>
          <p:cNvPr id="3" name="Content Placeholder 2">
            <a:extLst>
              <a:ext uri="{FF2B5EF4-FFF2-40B4-BE49-F238E27FC236}">
                <a16:creationId xmlns:a16="http://schemas.microsoft.com/office/drawing/2014/main" id="{9EB5B15A-7EAC-F669-0826-40AD429AA2AA}"/>
              </a:ext>
            </a:extLst>
          </p:cNvPr>
          <p:cNvSpPr>
            <a:spLocks noGrp="1"/>
          </p:cNvSpPr>
          <p:nvPr>
            <p:ph idx="1"/>
          </p:nvPr>
        </p:nvSpPr>
        <p:spPr/>
        <p:txBody>
          <a:bodyPr>
            <a:normAutofit/>
          </a:bodyPr>
          <a:lstStyle/>
          <a:p>
            <a:r>
              <a:rPr lang="en-GB" dirty="0"/>
              <a:t>Most of the cookies they use on their website are 'persistent' cookies</a:t>
            </a:r>
          </a:p>
          <a:p>
            <a:r>
              <a:rPr lang="en-GB" dirty="0"/>
              <a:t>3</a:t>
            </a:r>
            <a:r>
              <a:rPr lang="en-GB" baseline="30000" dirty="0"/>
              <a:t>rd</a:t>
            </a:r>
            <a:r>
              <a:rPr lang="en-GB" dirty="0"/>
              <a:t> Party Cookies they use</a:t>
            </a:r>
          </a:p>
          <a:p>
            <a:pPr lvl="1"/>
            <a:r>
              <a:rPr lang="en-GB" dirty="0"/>
              <a:t>Google ads, Google Analytics, TV squared pixels, Appsflyer, Microsoft Ads Pixel, Reddit Pixel, Tiktok pixel, Meta pixel, X (formerly twitter) pixel, IinkedIn Insights tag, Vimeo</a:t>
            </a:r>
          </a:p>
          <a:p>
            <a:r>
              <a:rPr lang="en-GB" dirty="0"/>
              <a:t>Collects information such as your IP address, browser, email client type and other similar details. We use this information to measure the performance of our email campaigns, and for analytics.</a:t>
            </a:r>
          </a:p>
        </p:txBody>
      </p:sp>
    </p:spTree>
    <p:extLst>
      <p:ext uri="{BB962C8B-B14F-4D97-AF65-F5344CB8AC3E}">
        <p14:creationId xmlns:p14="http://schemas.microsoft.com/office/powerpoint/2010/main" val="450968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F7DC-B0CD-1DC2-1010-CD59D09C8FF9}"/>
              </a:ext>
            </a:extLst>
          </p:cNvPr>
          <p:cNvSpPr>
            <a:spLocks noGrp="1"/>
          </p:cNvSpPr>
          <p:nvPr>
            <p:ph type="title"/>
          </p:nvPr>
        </p:nvSpPr>
        <p:spPr/>
        <p:txBody>
          <a:bodyPr/>
          <a:lstStyle/>
          <a:p>
            <a:r>
              <a:rPr lang="en-GB" dirty="0"/>
              <a:t>Data Privacy and Protection</a:t>
            </a:r>
          </a:p>
        </p:txBody>
      </p:sp>
      <p:sp>
        <p:nvSpPr>
          <p:cNvPr id="3" name="Content Placeholder 2">
            <a:extLst>
              <a:ext uri="{FF2B5EF4-FFF2-40B4-BE49-F238E27FC236}">
                <a16:creationId xmlns:a16="http://schemas.microsoft.com/office/drawing/2014/main" id="{8CC55560-236F-5C5E-BFF9-F58F69956804}"/>
              </a:ext>
            </a:extLst>
          </p:cNvPr>
          <p:cNvSpPr>
            <a:spLocks noGrp="1"/>
          </p:cNvSpPr>
          <p:nvPr>
            <p:ph idx="1"/>
          </p:nvPr>
        </p:nvSpPr>
        <p:spPr>
          <a:xfrm>
            <a:off x="746908" y="1653693"/>
            <a:ext cx="8596668" cy="3880773"/>
          </a:xfrm>
        </p:spPr>
        <p:txBody>
          <a:bodyPr>
            <a:normAutofit fontScale="85000" lnSpcReduction="20000"/>
          </a:bodyPr>
          <a:lstStyle/>
          <a:p>
            <a:r>
              <a:rPr lang="en-GB" dirty="0"/>
              <a:t>Data Privacy</a:t>
            </a:r>
          </a:p>
          <a:p>
            <a:pPr lvl="1"/>
            <a:r>
              <a:rPr lang="en-GB" dirty="0"/>
              <a:t>It is possible to opt out of marketing data collection through cookies</a:t>
            </a:r>
          </a:p>
          <a:p>
            <a:r>
              <a:rPr lang="en-GB" dirty="0"/>
              <a:t>Data protection</a:t>
            </a:r>
          </a:p>
          <a:p>
            <a:pPr lvl="1"/>
            <a:r>
              <a:rPr lang="en-GB" dirty="0"/>
              <a:t>No explicit details concerning encryption at rest or transit</a:t>
            </a:r>
          </a:p>
          <a:p>
            <a:pPr lvl="1"/>
            <a:r>
              <a:rPr lang="en-GB" dirty="0"/>
              <a:t>There is a risk as they engage 3</a:t>
            </a:r>
            <a:r>
              <a:rPr lang="en-GB" baseline="30000" dirty="0"/>
              <a:t>rd</a:t>
            </a:r>
            <a:r>
              <a:rPr lang="en-GB" dirty="0"/>
              <a:t> parties as part of the process to approve Loans, this is additional risk for how data is handled, is it encrypted at rest and in transit, access controls etc</a:t>
            </a:r>
          </a:p>
          <a:p>
            <a:pPr lvl="1"/>
            <a:r>
              <a:rPr lang="en-GB" dirty="0"/>
              <a:t>No reference of </a:t>
            </a:r>
            <a:r>
              <a:rPr lang="en-GB" b="1" dirty="0"/>
              <a:t>Pseudonymisation </a:t>
            </a:r>
            <a:r>
              <a:rPr lang="en-GB" dirty="0"/>
              <a:t>or</a:t>
            </a:r>
            <a:r>
              <a:rPr lang="en-GB" b="1" dirty="0"/>
              <a:t> Anonymisation</a:t>
            </a:r>
            <a:r>
              <a:rPr lang="en-GB" dirty="0"/>
              <a:t> to help protect data, particularly when third parties are involved.</a:t>
            </a:r>
          </a:p>
          <a:p>
            <a:r>
              <a:rPr lang="en-GB" dirty="0"/>
              <a:t>Fraud</a:t>
            </a:r>
          </a:p>
          <a:p>
            <a:pPr lvl="1"/>
            <a:r>
              <a:rPr lang="en-GB" dirty="0"/>
              <a:t>The increasing use of AI by criminals, in particular deepfake technology, continues to pose a challenge. Revolut is combatting this by enhancing its own Machine Learning (ML) models and also engaging its vendors to improve detection</a:t>
            </a:r>
          </a:p>
          <a:p>
            <a:pPr lvl="1"/>
            <a:r>
              <a:rPr lang="en-GB" dirty="0"/>
              <a:t>Our security capabilities include a machine learning based fraud detection system, in addition to teams formed of fraud specialists, data scientists and former law enforcement personnel.</a:t>
            </a:r>
          </a:p>
          <a:p>
            <a:pPr lvl="1"/>
            <a:r>
              <a:rPr lang="en-GB" dirty="0">
                <a:hlinkClick r:id="rId2"/>
              </a:rPr>
              <a:t>https://assets.revolut.com/pdf/annualreport2024.pdf</a:t>
            </a:r>
            <a:r>
              <a:rPr lang="en-GB" dirty="0"/>
              <a:t> </a:t>
            </a:r>
          </a:p>
          <a:p>
            <a:endParaRPr lang="en-GB" dirty="0"/>
          </a:p>
        </p:txBody>
      </p:sp>
    </p:spTree>
    <p:extLst>
      <p:ext uri="{BB962C8B-B14F-4D97-AF65-F5344CB8AC3E}">
        <p14:creationId xmlns:p14="http://schemas.microsoft.com/office/powerpoint/2010/main" val="291462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89D2F-87C0-05A0-88DC-F64E8F3F707A}"/>
              </a:ext>
            </a:extLst>
          </p:cNvPr>
          <p:cNvSpPr>
            <a:spLocks noGrp="1"/>
          </p:cNvSpPr>
          <p:nvPr>
            <p:ph type="title"/>
          </p:nvPr>
        </p:nvSpPr>
        <p:spPr>
          <a:xfrm>
            <a:off x="4038600" y="2857976"/>
            <a:ext cx="3230880" cy="1142048"/>
          </a:xfrm>
        </p:spPr>
        <p:txBody>
          <a:bodyPr>
            <a:normAutofit/>
          </a:bodyPr>
          <a:lstStyle/>
          <a:p>
            <a:r>
              <a:rPr lang="en-GB" dirty="0"/>
              <a:t>Governance</a:t>
            </a:r>
          </a:p>
        </p:txBody>
      </p:sp>
    </p:spTree>
    <p:extLst>
      <p:ext uri="{BB962C8B-B14F-4D97-AF65-F5344CB8AC3E}">
        <p14:creationId xmlns:p14="http://schemas.microsoft.com/office/powerpoint/2010/main" val="1283186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6074F-5FBB-6A59-62FF-44250331480E}"/>
              </a:ext>
            </a:extLst>
          </p:cNvPr>
          <p:cNvSpPr>
            <a:spLocks noGrp="1"/>
          </p:cNvSpPr>
          <p:nvPr>
            <p:ph type="title"/>
          </p:nvPr>
        </p:nvSpPr>
        <p:spPr>
          <a:xfrm>
            <a:off x="304800" y="241585"/>
            <a:ext cx="8343900" cy="687388"/>
          </a:xfrm>
        </p:spPr>
        <p:txBody>
          <a:bodyPr>
            <a:normAutofit/>
          </a:bodyPr>
          <a:lstStyle/>
          <a:p>
            <a:r>
              <a:rPr lang="en-GB" dirty="0"/>
              <a:t>Revolut Governance framework</a:t>
            </a:r>
          </a:p>
        </p:txBody>
      </p:sp>
      <p:pic>
        <p:nvPicPr>
          <p:cNvPr id="5" name="Content Placeholder 4">
            <a:extLst>
              <a:ext uri="{FF2B5EF4-FFF2-40B4-BE49-F238E27FC236}">
                <a16:creationId xmlns:a16="http://schemas.microsoft.com/office/drawing/2014/main" id="{3915E6AF-30A4-9D5F-D6B2-F4136FA535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77862" y="1222513"/>
            <a:ext cx="11028577" cy="4717237"/>
          </a:xfrm>
          <a:prstGeom prst="rect">
            <a:avLst/>
          </a:prstGeom>
        </p:spPr>
      </p:pic>
      <p:sp>
        <p:nvSpPr>
          <p:cNvPr id="6" name="TextBox 5">
            <a:extLst>
              <a:ext uri="{FF2B5EF4-FFF2-40B4-BE49-F238E27FC236}">
                <a16:creationId xmlns:a16="http://schemas.microsoft.com/office/drawing/2014/main" id="{B8DC7FFE-91C9-5EB6-012D-DBCBF7659248}"/>
              </a:ext>
            </a:extLst>
          </p:cNvPr>
          <p:cNvSpPr txBox="1"/>
          <p:nvPr/>
        </p:nvSpPr>
        <p:spPr>
          <a:xfrm>
            <a:off x="1251861" y="6311899"/>
            <a:ext cx="5740400" cy="369332"/>
          </a:xfrm>
          <a:prstGeom prst="rect">
            <a:avLst/>
          </a:prstGeom>
          <a:noFill/>
        </p:spPr>
        <p:txBody>
          <a:bodyPr wrap="square" rtlCol="0">
            <a:spAutoFit/>
          </a:bodyPr>
          <a:lstStyle/>
          <a:p>
            <a:r>
              <a:rPr lang="en-GB" dirty="0">
                <a:hlinkClick r:id="rId4"/>
              </a:rPr>
              <a:t>https://assets.revolut.com/pdf/annualreport2024.pdf</a:t>
            </a:r>
            <a:endParaRPr lang="en-GB" dirty="0"/>
          </a:p>
        </p:txBody>
      </p:sp>
    </p:spTree>
    <p:extLst>
      <p:ext uri="{BB962C8B-B14F-4D97-AF65-F5344CB8AC3E}">
        <p14:creationId xmlns:p14="http://schemas.microsoft.com/office/powerpoint/2010/main" val="3550294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BAC3D-4EA5-951B-EF7A-FC9DD4C96B53}"/>
              </a:ext>
            </a:extLst>
          </p:cNvPr>
          <p:cNvSpPr>
            <a:spLocks noGrp="1"/>
          </p:cNvSpPr>
          <p:nvPr>
            <p:ph type="title"/>
          </p:nvPr>
        </p:nvSpPr>
        <p:spPr>
          <a:xfrm>
            <a:off x="588818" y="238991"/>
            <a:ext cx="10300855" cy="786679"/>
          </a:xfrm>
        </p:spPr>
        <p:txBody>
          <a:bodyPr/>
          <a:lstStyle/>
          <a:p>
            <a:r>
              <a:rPr lang="en-GB" dirty="0"/>
              <a:t>Roles and titles</a:t>
            </a:r>
          </a:p>
        </p:txBody>
      </p:sp>
      <p:sp>
        <p:nvSpPr>
          <p:cNvPr id="3" name="Content Placeholder 2">
            <a:extLst>
              <a:ext uri="{FF2B5EF4-FFF2-40B4-BE49-F238E27FC236}">
                <a16:creationId xmlns:a16="http://schemas.microsoft.com/office/drawing/2014/main" id="{D4BBEA52-7D39-BFE3-5152-A897970798AC}"/>
              </a:ext>
            </a:extLst>
          </p:cNvPr>
          <p:cNvSpPr>
            <a:spLocks noGrp="1"/>
          </p:cNvSpPr>
          <p:nvPr>
            <p:ph idx="1"/>
          </p:nvPr>
        </p:nvSpPr>
        <p:spPr>
          <a:xfrm>
            <a:off x="353291" y="1184564"/>
            <a:ext cx="11563726" cy="5325565"/>
          </a:xfrm>
        </p:spPr>
        <p:txBody>
          <a:bodyPr>
            <a:normAutofit fontScale="70000" lnSpcReduction="20000"/>
          </a:bodyPr>
          <a:lstStyle/>
          <a:p>
            <a:r>
              <a:rPr lang="en-GB" dirty="0"/>
              <a:t>Management Board = 5 members</a:t>
            </a:r>
          </a:p>
          <a:p>
            <a:r>
              <a:rPr lang="en-GB" dirty="0"/>
              <a:t>Supervisory Council = 6 member</a:t>
            </a:r>
          </a:p>
          <a:p>
            <a:pPr lvl="1"/>
            <a:r>
              <a:rPr lang="en-GB" dirty="0"/>
              <a:t>There are Risk and Compliance officers on both boards but neither appear to have a data or information related titles.</a:t>
            </a:r>
          </a:p>
          <a:p>
            <a:r>
              <a:rPr lang="en-GB" dirty="0"/>
              <a:t>There are many committees listed including:</a:t>
            </a:r>
          </a:p>
          <a:p>
            <a:pPr lvl="1"/>
            <a:r>
              <a:rPr lang="en-GB" dirty="0"/>
              <a:t>Group Retail Credit Risk Committee, Group Model and Artificial Intelligence Risk Committee, Asset and Liability Committee, Group Executive Committee, Board Risk and Compliance Committee, Board Audit Committee (BAC), Remuneration Committee, Nomination Committee, </a:t>
            </a:r>
          </a:p>
          <a:p>
            <a:pPr lvl="1"/>
            <a:endParaRPr lang="en-GB" dirty="0"/>
          </a:p>
          <a:p>
            <a:r>
              <a:rPr lang="en-GB" b="1" dirty="0"/>
              <a:t>Not identifiable</a:t>
            </a:r>
          </a:p>
          <a:p>
            <a:pPr lvl="1"/>
            <a:r>
              <a:rPr lang="en-GB" b="1" dirty="0"/>
              <a:t>Chief Data Officer</a:t>
            </a:r>
          </a:p>
          <a:p>
            <a:pPr lvl="2"/>
            <a:r>
              <a:rPr lang="en-GB" dirty="0"/>
              <a:t>More insights</a:t>
            </a:r>
          </a:p>
          <a:p>
            <a:pPr lvl="1"/>
            <a:r>
              <a:rPr lang="en-GB" b="1" dirty="0"/>
              <a:t>Chief Information Officer</a:t>
            </a:r>
          </a:p>
          <a:p>
            <a:pPr lvl="2"/>
            <a:r>
              <a:rPr lang="en-GB" dirty="0"/>
              <a:t>More doing things and managing the data</a:t>
            </a:r>
          </a:p>
          <a:p>
            <a:pPr lvl="1"/>
            <a:r>
              <a:rPr lang="en-GB" b="1" dirty="0"/>
              <a:t>Stewardship</a:t>
            </a:r>
          </a:p>
          <a:p>
            <a:pPr lvl="2"/>
            <a:r>
              <a:rPr lang="en-GB" dirty="0"/>
              <a:t>No mention of stewardship in annual accounts or any other site we can find. </a:t>
            </a:r>
          </a:p>
          <a:p>
            <a:r>
              <a:rPr lang="en-GB" b="1" dirty="0"/>
              <a:t>Identifiable </a:t>
            </a:r>
          </a:p>
          <a:p>
            <a:pPr lvl="1"/>
            <a:r>
              <a:rPr lang="en-GB" dirty="0"/>
              <a:t>“Revolut has appointed a </a:t>
            </a:r>
            <a:r>
              <a:rPr lang="en-GB" b="1" dirty="0"/>
              <a:t>Data Protection Officer. </a:t>
            </a:r>
            <a:r>
              <a:rPr lang="en-GB" dirty="0"/>
              <a:t>Contact is available at </a:t>
            </a:r>
            <a:r>
              <a:rPr lang="en-GB" dirty="0">
                <a:hlinkClick r:id="rId3"/>
              </a:rPr>
              <a:t>dpo@revolut.com</a:t>
            </a:r>
            <a:r>
              <a:rPr lang="en-GB" dirty="0"/>
              <a:t>. “</a:t>
            </a:r>
          </a:p>
          <a:p>
            <a:pPr lvl="1"/>
            <a:r>
              <a:rPr lang="en-GB" dirty="0"/>
              <a:t>No other details are provided and only a single email address is provided as a means of contact. </a:t>
            </a:r>
          </a:p>
          <a:p>
            <a:pPr marL="457200" lvl="1" indent="0">
              <a:buNone/>
            </a:pPr>
            <a:endParaRPr lang="en-GB" dirty="0">
              <a:hlinkClick r:id="rId4"/>
            </a:endParaRPr>
          </a:p>
          <a:p>
            <a:pPr marL="457200" lvl="1" indent="0">
              <a:buNone/>
            </a:pPr>
            <a:endParaRPr lang="en-GB" dirty="0">
              <a:hlinkClick r:id="rId4"/>
            </a:endParaRPr>
          </a:p>
          <a:p>
            <a:pPr marL="457200" lvl="1" indent="0">
              <a:buNone/>
            </a:pPr>
            <a:r>
              <a:rPr lang="en-GB" dirty="0">
                <a:hlinkClick r:id="rId4"/>
              </a:rPr>
              <a:t>https://assets.revolut.com/pdf/annualreport2024.pdf</a:t>
            </a:r>
            <a:endParaRPr lang="en-GB" dirty="0"/>
          </a:p>
        </p:txBody>
      </p:sp>
    </p:spTree>
    <p:extLst>
      <p:ext uri="{BB962C8B-B14F-4D97-AF65-F5344CB8AC3E}">
        <p14:creationId xmlns:p14="http://schemas.microsoft.com/office/powerpoint/2010/main" val="2198737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E4A9F-E141-97C9-9DE4-E8C9C69563AD}"/>
              </a:ext>
            </a:extLst>
          </p:cNvPr>
          <p:cNvSpPr>
            <a:spLocks noGrp="1"/>
          </p:cNvSpPr>
          <p:nvPr>
            <p:ph type="title"/>
          </p:nvPr>
        </p:nvSpPr>
        <p:spPr>
          <a:xfrm>
            <a:off x="838200" y="365125"/>
            <a:ext cx="10274300" cy="612775"/>
          </a:xfrm>
        </p:spPr>
        <p:txBody>
          <a:bodyPr>
            <a:normAutofit fontScale="90000"/>
          </a:bodyPr>
          <a:lstStyle/>
          <a:p>
            <a:r>
              <a:rPr lang="en-GB" dirty="0"/>
              <a:t>Data Governance Models</a:t>
            </a:r>
          </a:p>
        </p:txBody>
      </p:sp>
      <p:sp>
        <p:nvSpPr>
          <p:cNvPr id="3" name="Content Placeholder 2">
            <a:extLst>
              <a:ext uri="{FF2B5EF4-FFF2-40B4-BE49-F238E27FC236}">
                <a16:creationId xmlns:a16="http://schemas.microsoft.com/office/drawing/2014/main" id="{978A2261-4B91-CF9C-D5CA-40F445031C63}"/>
              </a:ext>
            </a:extLst>
          </p:cNvPr>
          <p:cNvSpPr>
            <a:spLocks noGrp="1"/>
          </p:cNvSpPr>
          <p:nvPr>
            <p:ph idx="1"/>
          </p:nvPr>
        </p:nvSpPr>
        <p:spPr>
          <a:xfrm>
            <a:off x="620568" y="1139030"/>
            <a:ext cx="10709564" cy="4877305"/>
          </a:xfrm>
        </p:spPr>
        <p:txBody>
          <a:bodyPr>
            <a:normAutofit/>
          </a:bodyPr>
          <a:lstStyle/>
          <a:p>
            <a:pPr marL="0" indent="0">
              <a:buNone/>
            </a:pPr>
            <a:endParaRPr lang="en-GB" dirty="0"/>
          </a:p>
          <a:p>
            <a:r>
              <a:rPr lang="en-GB" dirty="0"/>
              <a:t>No references can be found for the following:</a:t>
            </a:r>
          </a:p>
          <a:p>
            <a:pPr lvl="1"/>
            <a:r>
              <a:rPr lang="en-GB" dirty="0"/>
              <a:t>V  Model (Ladley 2020)</a:t>
            </a:r>
          </a:p>
          <a:p>
            <a:pPr lvl="2"/>
            <a:r>
              <a:rPr lang="en-GB" dirty="0"/>
              <a:t>Separation of execution and oversight of duties related to data.</a:t>
            </a:r>
          </a:p>
          <a:p>
            <a:pPr lvl="1"/>
            <a:r>
              <a:rPr lang="en-GB" dirty="0"/>
              <a:t>3DC framework (O’Keefe and O’Brien, 2018) </a:t>
            </a:r>
          </a:p>
          <a:p>
            <a:pPr lvl="2"/>
            <a:r>
              <a:rPr lang="en-GB" dirty="0"/>
              <a:t>Doers, Definers, Deciders, Coordinators</a:t>
            </a:r>
          </a:p>
          <a:p>
            <a:pPr lvl="2"/>
            <a:r>
              <a:rPr lang="en-GB" dirty="0"/>
              <a:t>No reference to any of these in available reports.</a:t>
            </a:r>
          </a:p>
          <a:p>
            <a:pPr lvl="2"/>
            <a:r>
              <a:rPr lang="en-GB" dirty="0"/>
              <a:t>No Governance principles available</a:t>
            </a:r>
          </a:p>
          <a:p>
            <a:pPr lvl="1"/>
            <a:r>
              <a:rPr lang="en-GB" dirty="0"/>
              <a:t>Only one reference to Data Governance in 2024 annual report</a:t>
            </a:r>
          </a:p>
          <a:p>
            <a:pPr lvl="1"/>
            <a:r>
              <a:rPr lang="en-GB" dirty="0"/>
              <a:t>Nothing about ethical principles or a philosophy driving any governance strategy</a:t>
            </a:r>
          </a:p>
          <a:p>
            <a:pPr lvl="1"/>
            <a:r>
              <a:rPr lang="en-GB" dirty="0"/>
              <a:t>No references to data </a:t>
            </a:r>
            <a:r>
              <a:rPr lang="en-GB" b="1" dirty="0"/>
              <a:t>accountability</a:t>
            </a:r>
            <a:r>
              <a:rPr lang="en-GB" dirty="0"/>
              <a:t> anywhere that we can find.</a:t>
            </a:r>
          </a:p>
          <a:p>
            <a:endParaRPr lang="en-GB" dirty="0"/>
          </a:p>
        </p:txBody>
      </p:sp>
    </p:spTree>
    <p:extLst>
      <p:ext uri="{BB962C8B-B14F-4D97-AF65-F5344CB8AC3E}">
        <p14:creationId xmlns:p14="http://schemas.microsoft.com/office/powerpoint/2010/main" val="1452123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AB7FB-1682-5284-C54A-1BCCE1F43B16}"/>
              </a:ext>
            </a:extLst>
          </p:cNvPr>
          <p:cNvSpPr>
            <a:spLocks noGrp="1"/>
          </p:cNvSpPr>
          <p:nvPr>
            <p:ph type="title"/>
          </p:nvPr>
        </p:nvSpPr>
        <p:spPr/>
        <p:txBody>
          <a:bodyPr/>
          <a:lstStyle/>
          <a:p>
            <a:r>
              <a:rPr lang="en-GB" dirty="0"/>
              <a:t>Recommendations</a:t>
            </a:r>
          </a:p>
        </p:txBody>
      </p:sp>
      <p:sp>
        <p:nvSpPr>
          <p:cNvPr id="3" name="Content Placeholder 2">
            <a:extLst>
              <a:ext uri="{FF2B5EF4-FFF2-40B4-BE49-F238E27FC236}">
                <a16:creationId xmlns:a16="http://schemas.microsoft.com/office/drawing/2014/main" id="{C4DE8DEC-27A5-0852-344E-A67BEE3DA35C}"/>
              </a:ext>
            </a:extLst>
          </p:cNvPr>
          <p:cNvSpPr>
            <a:spLocks noGrp="1"/>
          </p:cNvSpPr>
          <p:nvPr>
            <p:ph idx="1"/>
          </p:nvPr>
        </p:nvSpPr>
        <p:spPr>
          <a:xfrm>
            <a:off x="661554" y="1451552"/>
            <a:ext cx="10515600" cy="4351338"/>
          </a:xfrm>
        </p:spPr>
        <p:txBody>
          <a:bodyPr>
            <a:normAutofit fontScale="92500" lnSpcReduction="20000"/>
          </a:bodyPr>
          <a:lstStyle/>
          <a:p>
            <a:pPr marL="514350" indent="-514350">
              <a:buFont typeface="+mj-lt"/>
              <a:buAutoNum type="arabicParenR"/>
            </a:pPr>
            <a:r>
              <a:rPr lang="en-GB" b="1" dirty="0"/>
              <a:t>Definition and Publication of an Ethical framework </a:t>
            </a:r>
            <a:r>
              <a:rPr lang="en-GB" dirty="0"/>
              <a:t>defining core company values and beliefs, that the company can use to help make informed decisions.</a:t>
            </a:r>
            <a:endParaRPr lang="en-GB" b="1" dirty="0"/>
          </a:p>
          <a:p>
            <a:pPr marL="514350" indent="-514350">
              <a:buFont typeface="+mj-lt"/>
              <a:buAutoNum type="arabicParenR"/>
            </a:pPr>
            <a:r>
              <a:rPr lang="en-GB" b="1" dirty="0"/>
              <a:t>Implementation of a Data Governance framework </a:t>
            </a:r>
            <a:r>
              <a:rPr lang="en-GB" dirty="0"/>
              <a:t>and some ethical/Philosophical considerations to drive decisions within that framework, with clearly defined and appropriate roles and responsibilities.</a:t>
            </a:r>
          </a:p>
          <a:p>
            <a:pPr lvl="1"/>
            <a:r>
              <a:rPr lang="en-GB" dirty="0"/>
              <a:t>At least 2 organizations use revolut data i.e. CCR, CRIF yet there is no data governance framework for how that data is managed and who’s accountable by 3</a:t>
            </a:r>
            <a:r>
              <a:rPr lang="en-GB" baseline="30000" dirty="0"/>
              <a:t>rd</a:t>
            </a:r>
            <a:r>
              <a:rPr lang="en-GB" dirty="0"/>
              <a:t> parties. A data governance strategy should be defined and implemented.</a:t>
            </a:r>
          </a:p>
          <a:p>
            <a:pPr marL="514350" indent="-514350">
              <a:buFont typeface="+mj-lt"/>
              <a:buAutoNum type="arabicParenR"/>
            </a:pPr>
            <a:r>
              <a:rPr lang="en-GB" b="1" dirty="0"/>
              <a:t>Publication of user and regulator engagements, </a:t>
            </a:r>
            <a:r>
              <a:rPr lang="en-GB" dirty="0"/>
              <a:t>statistics, reports, on complaints, resolutions, investigations etc.</a:t>
            </a:r>
          </a:p>
          <a:p>
            <a:pPr marL="514350" indent="-514350">
              <a:buFont typeface="+mj-lt"/>
              <a:buAutoNum type="arabicParenR"/>
            </a:pPr>
            <a:r>
              <a:rPr lang="en-GB" b="1" dirty="0"/>
              <a:t>Right to Challenge</a:t>
            </a:r>
            <a:r>
              <a:rPr lang="en-GB" dirty="0"/>
              <a:t>: More explicit detail on the right to challenge a decision, and more than a single email address as a point of contact.</a:t>
            </a:r>
          </a:p>
          <a:p>
            <a:pPr marL="514350" indent="-514350">
              <a:buFont typeface="+mj-lt"/>
              <a:buAutoNum type="arabicParenR"/>
            </a:pPr>
            <a:r>
              <a:rPr lang="en-GB" b="1" dirty="0"/>
              <a:t>Explainability in the ML algorithm </a:t>
            </a:r>
            <a:r>
              <a:rPr lang="en-GB" dirty="0"/>
              <a:t>used in the Loan decision. Disclosure of more detail concerning the actual data processed during the Loan making decision and any models used.</a:t>
            </a:r>
          </a:p>
          <a:p>
            <a:pPr marL="514350" indent="-514350">
              <a:buFont typeface="+mj-lt"/>
              <a:buAutoNum type="arabicParenR"/>
            </a:pPr>
            <a:r>
              <a:rPr lang="en-GB" dirty="0"/>
              <a:t>More explicit references to </a:t>
            </a:r>
            <a:r>
              <a:rPr lang="en-GB" b="1" dirty="0"/>
              <a:t>GDPR</a:t>
            </a:r>
            <a:r>
              <a:rPr lang="en-GB" dirty="0"/>
              <a:t>, </a:t>
            </a:r>
            <a:r>
              <a:rPr lang="en-GB" b="1" dirty="0"/>
              <a:t>EU AI Act</a:t>
            </a:r>
            <a:r>
              <a:rPr lang="en-GB" dirty="0"/>
              <a:t>, </a:t>
            </a:r>
            <a:r>
              <a:rPr lang="en-GB" b="1" dirty="0"/>
              <a:t>ePrivacy</a:t>
            </a:r>
            <a:r>
              <a:rPr lang="en-GB" dirty="0"/>
              <a:t> laws and with stronger language around adherence to them and how they fit into the company Data governance.</a:t>
            </a:r>
          </a:p>
          <a:p>
            <a:endParaRPr lang="en-GB" dirty="0"/>
          </a:p>
          <a:p>
            <a:endParaRPr lang="en-GB" dirty="0"/>
          </a:p>
          <a:p>
            <a:endParaRPr lang="en-GB" dirty="0"/>
          </a:p>
          <a:p>
            <a:pPr lvl="1"/>
            <a:endParaRPr lang="en-GB" dirty="0"/>
          </a:p>
          <a:p>
            <a:pPr lvl="1"/>
            <a:endParaRPr lang="en-GB" dirty="0"/>
          </a:p>
        </p:txBody>
      </p:sp>
    </p:spTree>
    <p:extLst>
      <p:ext uri="{BB962C8B-B14F-4D97-AF65-F5344CB8AC3E}">
        <p14:creationId xmlns:p14="http://schemas.microsoft.com/office/powerpoint/2010/main" val="178086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83AD9-451D-2448-D895-C89F941E3031}"/>
              </a:ext>
            </a:extLst>
          </p:cNvPr>
          <p:cNvSpPr>
            <a:spLocks noGrp="1"/>
          </p:cNvSpPr>
          <p:nvPr>
            <p:ph type="title"/>
          </p:nvPr>
        </p:nvSpPr>
        <p:spPr>
          <a:xfrm>
            <a:off x="457201" y="354735"/>
            <a:ext cx="3193473" cy="611620"/>
          </a:xfrm>
        </p:spPr>
        <p:txBody>
          <a:bodyPr>
            <a:normAutofit fontScale="90000"/>
          </a:bodyPr>
          <a:lstStyle/>
          <a:p>
            <a:r>
              <a:rPr lang="en-GB" dirty="0"/>
              <a:t>References</a:t>
            </a:r>
          </a:p>
        </p:txBody>
      </p:sp>
      <p:sp>
        <p:nvSpPr>
          <p:cNvPr id="3" name="Content Placeholder 2">
            <a:extLst>
              <a:ext uri="{FF2B5EF4-FFF2-40B4-BE49-F238E27FC236}">
                <a16:creationId xmlns:a16="http://schemas.microsoft.com/office/drawing/2014/main" id="{7F9245CD-3D6B-1A70-4211-4354EF7E392B}"/>
              </a:ext>
            </a:extLst>
          </p:cNvPr>
          <p:cNvSpPr>
            <a:spLocks noGrp="1"/>
          </p:cNvSpPr>
          <p:nvPr>
            <p:ph idx="1"/>
          </p:nvPr>
        </p:nvSpPr>
        <p:spPr>
          <a:xfrm>
            <a:off x="457201" y="1319645"/>
            <a:ext cx="10079181" cy="5257800"/>
          </a:xfrm>
        </p:spPr>
        <p:txBody>
          <a:bodyPr>
            <a:normAutofit fontScale="62500" lnSpcReduction="20000"/>
          </a:bodyPr>
          <a:lstStyle/>
          <a:p>
            <a:r>
              <a:rPr lang="en-GB" i="1" dirty="0"/>
              <a:t>About us | Revolut Ireland</a:t>
            </a:r>
            <a:r>
              <a:rPr lang="en-GB" dirty="0"/>
              <a:t>. (n.d.). Retrieved 1 March 2026, from </a:t>
            </a:r>
            <a:r>
              <a:rPr lang="en-GB" dirty="0">
                <a:hlinkClick r:id="rId3"/>
              </a:rPr>
              <a:t>https://www.revolut.com/en-IE/about/</a:t>
            </a:r>
            <a:r>
              <a:rPr lang="en-GB" dirty="0"/>
              <a:t> </a:t>
            </a:r>
          </a:p>
          <a:p>
            <a:r>
              <a:rPr lang="en-GB" dirty="0"/>
              <a:t>Annual Return. (n.d.). </a:t>
            </a:r>
            <a:r>
              <a:rPr lang="en-GB" i="1" dirty="0"/>
              <a:t>CRO</a:t>
            </a:r>
            <a:r>
              <a:rPr lang="en-GB" dirty="0"/>
              <a:t>. Retrieved 1 March 2026, from </a:t>
            </a:r>
            <a:r>
              <a:rPr lang="en-GB" dirty="0">
                <a:hlinkClick r:id="rId4"/>
              </a:rPr>
              <a:t>https://cro.ie/annual-return/</a:t>
            </a:r>
            <a:r>
              <a:rPr lang="en-GB" dirty="0"/>
              <a:t> </a:t>
            </a:r>
          </a:p>
          <a:p>
            <a:r>
              <a:rPr lang="en-GB" dirty="0"/>
              <a:t>Annual report 2024 (n.d.) from </a:t>
            </a:r>
            <a:r>
              <a:rPr lang="en-GB" u="sng" dirty="0">
                <a:hlinkClick r:id="rId5"/>
              </a:rPr>
              <a:t>https://assets.revolut.com/pdf/annualreport2024.pdf</a:t>
            </a:r>
            <a:r>
              <a:rPr lang="en-GB" dirty="0"/>
              <a:t> </a:t>
            </a:r>
          </a:p>
          <a:p>
            <a:r>
              <a:rPr lang="en-GB" i="1" dirty="0"/>
              <a:t>Automated KYC, AML and PEP Checks</a:t>
            </a:r>
            <a:r>
              <a:rPr lang="en-GB" dirty="0"/>
              <a:t>. (n.d.). Retrieved 1 March 2026, from </a:t>
            </a:r>
            <a:r>
              <a:rPr lang="en-GB" dirty="0">
                <a:hlinkClick r:id="rId6"/>
              </a:rPr>
              <a:t>https://www.crif.ie/automated-kyc-aml-and-pep-checks/</a:t>
            </a:r>
            <a:r>
              <a:rPr lang="en-GB" dirty="0"/>
              <a:t> </a:t>
            </a:r>
          </a:p>
          <a:p>
            <a:r>
              <a:rPr lang="en-GB" i="1" dirty="0"/>
              <a:t>Code of conduct | Revolut United Kingdom</a:t>
            </a:r>
            <a:r>
              <a:rPr lang="en-GB" dirty="0"/>
              <a:t>. (n.d.). Revolut. Retrieved 1 March 2026, from </a:t>
            </a:r>
            <a:r>
              <a:rPr lang="en-GB" dirty="0">
                <a:hlinkClick r:id="rId7"/>
              </a:rPr>
              <a:t>https://www.revolut.com/code-of-conduct/</a:t>
            </a:r>
            <a:r>
              <a:rPr lang="en-GB" dirty="0"/>
              <a:t> </a:t>
            </a:r>
          </a:p>
          <a:p>
            <a:r>
              <a:rPr lang="en-GB" i="1" dirty="0"/>
              <a:t>Conflict of Interest Disclosure | Revolut Ireland</a:t>
            </a:r>
            <a:r>
              <a:rPr lang="en-GB" dirty="0"/>
              <a:t>. (n.d.). Revolut. Retrieved 2 March 2026, from </a:t>
            </a:r>
            <a:r>
              <a:rPr lang="en-GB" dirty="0">
                <a:hlinkClick r:id="rId8"/>
              </a:rPr>
              <a:t>https://www.revolut.com/en-IE/legal/conflict-of-interest/</a:t>
            </a:r>
            <a:r>
              <a:rPr lang="en-GB" dirty="0"/>
              <a:t> </a:t>
            </a:r>
          </a:p>
          <a:p>
            <a:r>
              <a:rPr lang="en-GB" i="1" dirty="0"/>
              <a:t>Customer Privacy Notice | Revolut Ireland</a:t>
            </a:r>
            <a:r>
              <a:rPr lang="en-GB" dirty="0"/>
              <a:t>. (n.d.). Retrieved 2 March 2026, from </a:t>
            </a:r>
            <a:r>
              <a:rPr lang="en-GB" dirty="0">
                <a:hlinkClick r:id="rId9"/>
              </a:rPr>
              <a:t>https://www.revolut.com/en-IE/legal/privacy/</a:t>
            </a:r>
            <a:r>
              <a:rPr lang="en-GB" dirty="0"/>
              <a:t> </a:t>
            </a:r>
          </a:p>
          <a:p>
            <a:r>
              <a:rPr lang="en-GB" i="1" dirty="0"/>
              <a:t>Diversity, Equity, and Inclusion | Revolut United Kingdom</a:t>
            </a:r>
            <a:r>
              <a:rPr lang="en-GB" dirty="0"/>
              <a:t>. (n.d.). Retrieved 9 March 2026, from </a:t>
            </a:r>
            <a:r>
              <a:rPr lang="en-GB" dirty="0">
                <a:hlinkClick r:id="rId10"/>
              </a:rPr>
              <a:t>https://www.revolut.com/diversity-inclusion/</a:t>
            </a:r>
            <a:r>
              <a:rPr lang="en-GB" dirty="0"/>
              <a:t> </a:t>
            </a:r>
          </a:p>
          <a:p>
            <a:r>
              <a:rPr lang="en-GB" i="1" dirty="0"/>
              <a:t>EU Artificial Intelligence Act | Up-to-date developments and analyses of the EU AI Act</a:t>
            </a:r>
            <a:r>
              <a:rPr lang="en-GB" dirty="0"/>
              <a:t>. (n.d.). Retrieved 4 March 2026, from </a:t>
            </a:r>
            <a:r>
              <a:rPr lang="en-GB" dirty="0">
                <a:hlinkClick r:id="rId11"/>
              </a:rPr>
              <a:t>https://artificialintelligenceact.eu/</a:t>
            </a:r>
            <a:r>
              <a:rPr lang="en-GB" dirty="0"/>
              <a:t> </a:t>
            </a:r>
          </a:p>
          <a:p>
            <a:r>
              <a:rPr lang="en-GB" i="1" dirty="0"/>
              <a:t>European single access point | EUR-Lex</a:t>
            </a:r>
            <a:r>
              <a:rPr lang="en-GB" dirty="0"/>
              <a:t>. (2027, July 10). </a:t>
            </a:r>
            <a:r>
              <a:rPr lang="en-GB" dirty="0">
                <a:hlinkClick r:id="rId12"/>
              </a:rPr>
              <a:t>https://eur-lex.europa.eu/EN/legal-content/summary/european-single-access-point.html</a:t>
            </a:r>
            <a:r>
              <a:rPr lang="en-GB" dirty="0"/>
              <a:t> </a:t>
            </a:r>
          </a:p>
          <a:p>
            <a:r>
              <a:rPr lang="en-GB" i="1" dirty="0"/>
              <a:t>Financial Statements | Revolut Ireland</a:t>
            </a:r>
            <a:r>
              <a:rPr lang="en-GB" dirty="0"/>
              <a:t>. (n.d.). Retrieved 5 March 2026, from </a:t>
            </a:r>
            <a:r>
              <a:rPr lang="en-GB" dirty="0">
                <a:hlinkClick r:id="rId13"/>
              </a:rPr>
              <a:t>https://www.revolut.com/en-IE/financial-statements/</a:t>
            </a:r>
            <a:r>
              <a:rPr lang="en-GB" dirty="0"/>
              <a:t> </a:t>
            </a:r>
          </a:p>
          <a:p>
            <a:r>
              <a:rPr lang="en-GB" dirty="0"/>
              <a:t>Koch, R. (2019, May 9). Cookies, the GDPR, and the ePrivacy Directive. </a:t>
            </a:r>
            <a:r>
              <a:rPr lang="en-GB" i="1" dirty="0"/>
              <a:t>GDPR.Eu</a:t>
            </a:r>
            <a:r>
              <a:rPr lang="en-GB" dirty="0"/>
              <a:t>. </a:t>
            </a:r>
            <a:r>
              <a:rPr lang="en-GB" dirty="0">
                <a:hlinkClick r:id="rId14"/>
              </a:rPr>
              <a:t>https://gdpr.eu/cookies/</a:t>
            </a:r>
            <a:r>
              <a:rPr lang="en-GB" dirty="0"/>
              <a:t> </a:t>
            </a:r>
          </a:p>
          <a:p>
            <a:r>
              <a:rPr lang="en-GB" dirty="0"/>
              <a:t>Linsenmeier, R. (n.d.). </a:t>
            </a:r>
            <a:r>
              <a:rPr lang="en-GB" i="1" dirty="0"/>
              <a:t>A Brief Introduction to Ethical Theories and Frameworks</a:t>
            </a:r>
            <a:r>
              <a:rPr lang="en-GB" dirty="0"/>
              <a:t>.</a:t>
            </a:r>
          </a:p>
          <a:p>
            <a:r>
              <a:rPr lang="en-GB" i="1" dirty="0"/>
              <a:t>Our culture | Revolut United Kingdom</a:t>
            </a:r>
            <a:r>
              <a:rPr lang="en-GB" dirty="0"/>
              <a:t>. (n.d.). Revolut. Retrieved 7 March 2026, from </a:t>
            </a:r>
            <a:r>
              <a:rPr lang="en-GB" dirty="0">
                <a:hlinkClick r:id="rId15"/>
              </a:rPr>
              <a:t>https://www.revolut.com/our-culture/</a:t>
            </a:r>
            <a:r>
              <a:rPr lang="en-GB" dirty="0"/>
              <a:t> </a:t>
            </a:r>
          </a:p>
          <a:p>
            <a:r>
              <a:rPr lang="en-GB" i="1" dirty="0"/>
              <a:t>Personal Loans | Apply for a Loan | Revolut Ireland</a:t>
            </a:r>
            <a:r>
              <a:rPr lang="en-GB" dirty="0"/>
              <a:t>. (n.d.). Revolut. Retrieved 7 March 2026, from </a:t>
            </a:r>
            <a:r>
              <a:rPr lang="en-GB" dirty="0">
                <a:hlinkClick r:id="rId16"/>
              </a:rPr>
              <a:t>https://www.revolut.com/en-IE/personal-loans/</a:t>
            </a:r>
            <a:r>
              <a:rPr lang="en-GB" dirty="0"/>
              <a:t> </a:t>
            </a:r>
          </a:p>
          <a:p>
            <a:r>
              <a:rPr lang="en-GB" i="1" dirty="0"/>
              <a:t>Sustainability | Revolut United Kingdom</a:t>
            </a:r>
            <a:r>
              <a:rPr lang="en-GB" dirty="0"/>
              <a:t>. (n.d.). Revolut. Retrieved 9 March 2026, from </a:t>
            </a:r>
            <a:r>
              <a:rPr lang="en-GB" dirty="0">
                <a:hlinkClick r:id="rId17"/>
              </a:rPr>
              <a:t>https://www.revolut.com/sustainability/</a:t>
            </a:r>
            <a:r>
              <a:rPr lang="en-GB" dirty="0"/>
              <a:t> </a:t>
            </a:r>
          </a:p>
          <a:p>
            <a:r>
              <a:rPr lang="en-GB" i="1" dirty="0"/>
              <a:t>Tailored Lifestyle Ads and Notifications | Revolut Ireland</a:t>
            </a:r>
            <a:r>
              <a:rPr lang="en-GB" dirty="0"/>
              <a:t>. (n.d.). Revolut. Retrieved 9 March 2026, from </a:t>
            </a:r>
            <a:r>
              <a:rPr lang="en-GB" dirty="0">
                <a:hlinkClick r:id="rId18"/>
              </a:rPr>
              <a:t>https://www.revolut.com/en-IE/legal/tailored-ads-privacy-notice/</a:t>
            </a:r>
            <a:r>
              <a:rPr lang="en-GB" dirty="0"/>
              <a:t> </a:t>
            </a:r>
          </a:p>
          <a:p>
            <a:endParaRPr lang="en-GB" dirty="0"/>
          </a:p>
        </p:txBody>
      </p:sp>
    </p:spTree>
    <p:extLst>
      <p:ext uri="{BB962C8B-B14F-4D97-AF65-F5344CB8AC3E}">
        <p14:creationId xmlns:p14="http://schemas.microsoft.com/office/powerpoint/2010/main" val="3748831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7FF-C88A-FB2D-945D-FC1C4C12BE32}"/>
              </a:ext>
            </a:extLst>
          </p:cNvPr>
          <p:cNvSpPr>
            <a:spLocks noGrp="1"/>
          </p:cNvSpPr>
          <p:nvPr>
            <p:ph type="title"/>
          </p:nvPr>
        </p:nvSpPr>
        <p:spPr/>
        <p:txBody>
          <a:bodyPr/>
          <a:lstStyle/>
          <a:p>
            <a:r>
              <a:rPr lang="en-GB" dirty="0"/>
              <a:t>Use of Generative AI</a:t>
            </a:r>
          </a:p>
        </p:txBody>
      </p:sp>
      <p:sp>
        <p:nvSpPr>
          <p:cNvPr id="3" name="Content Placeholder 2">
            <a:extLst>
              <a:ext uri="{FF2B5EF4-FFF2-40B4-BE49-F238E27FC236}">
                <a16:creationId xmlns:a16="http://schemas.microsoft.com/office/drawing/2014/main" id="{68E6A029-EF4C-5977-599E-686555BBFE7C}"/>
              </a:ext>
            </a:extLst>
          </p:cNvPr>
          <p:cNvSpPr>
            <a:spLocks noGrp="1"/>
          </p:cNvSpPr>
          <p:nvPr>
            <p:ph idx="1"/>
          </p:nvPr>
        </p:nvSpPr>
        <p:spPr/>
        <p:txBody>
          <a:bodyPr/>
          <a:lstStyle/>
          <a:p>
            <a:r>
              <a:rPr lang="en-GB" dirty="0"/>
              <a:t>AI was used a search engine to look for specific terms for the company, primarily around items I could not find for re-assurance I wasn’t missing something obvious.</a:t>
            </a:r>
          </a:p>
          <a:p>
            <a:pPr lvl="1"/>
            <a:r>
              <a:rPr lang="en-GB" dirty="0"/>
              <a:t>E.g. I could find no reference to Chief Data or Information Officers in revolut, to ensure I wasn’t missing them, I asked chatgpt to also search for those titles or roles in Revolut.</a:t>
            </a:r>
          </a:p>
          <a:p>
            <a:r>
              <a:rPr lang="en-GB" dirty="0"/>
              <a:t>No items, including text, graphics or otherwise was created using Gen AI.</a:t>
            </a:r>
          </a:p>
          <a:p>
            <a:r>
              <a:rPr lang="en-GB" dirty="0"/>
              <a:t>This was the only way it was used.</a:t>
            </a:r>
          </a:p>
        </p:txBody>
      </p:sp>
    </p:spTree>
    <p:extLst>
      <p:ext uri="{BB962C8B-B14F-4D97-AF65-F5344CB8AC3E}">
        <p14:creationId xmlns:p14="http://schemas.microsoft.com/office/powerpoint/2010/main" val="1258566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9AF20-3A4E-B108-894C-3A9CF68F348D}"/>
              </a:ext>
            </a:extLst>
          </p:cNvPr>
          <p:cNvSpPr>
            <a:spLocks noGrp="1"/>
          </p:cNvSpPr>
          <p:nvPr>
            <p:ph type="title"/>
          </p:nvPr>
        </p:nvSpPr>
        <p:spPr>
          <a:xfrm>
            <a:off x="4255420" y="2768600"/>
            <a:ext cx="2572762" cy="1320800"/>
          </a:xfrm>
        </p:spPr>
        <p:txBody>
          <a:bodyPr/>
          <a:lstStyle/>
          <a:p>
            <a:r>
              <a:rPr lang="en-GB" dirty="0"/>
              <a:t>Thank You</a:t>
            </a:r>
          </a:p>
        </p:txBody>
      </p:sp>
    </p:spTree>
    <p:extLst>
      <p:ext uri="{BB962C8B-B14F-4D97-AF65-F5344CB8AC3E}">
        <p14:creationId xmlns:p14="http://schemas.microsoft.com/office/powerpoint/2010/main" val="21923286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733</TotalTime>
  <Words>4059</Words>
  <Application>Microsoft Office PowerPoint</Application>
  <PresentationFormat>Widescreen</PresentationFormat>
  <Paragraphs>309</Paragraphs>
  <Slides>28</Slides>
  <Notes>22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28</vt:i4>
      </vt:variant>
    </vt:vector>
  </HeadingPairs>
  <TitlesOfParts>
    <vt:vector size="35" baseType="lpstr">
      <vt:lpstr>Arial</vt:lpstr>
      <vt:lpstr>Calibri</vt:lpstr>
      <vt:lpstr>Calibri Light</vt:lpstr>
      <vt:lpstr>Trebuchet MS</vt:lpstr>
      <vt:lpstr>Wingdings 3</vt:lpstr>
      <vt:lpstr>Facet</vt:lpstr>
      <vt:lpstr>1_Facet</vt:lpstr>
      <vt:lpstr>     Data Management DATA9911 CA1   Student name = eamonn kelly Student number = D24127620 Date = Mar 2026</vt:lpstr>
      <vt:lpstr>Data Science Domain</vt:lpstr>
      <vt:lpstr>Revolut</vt:lpstr>
      <vt:lpstr>Product  / Service = Revolut Personal Loans</vt:lpstr>
      <vt:lpstr>PowerPoint Presentation</vt:lpstr>
      <vt:lpstr>Ethics</vt:lpstr>
      <vt:lpstr>Ethical Frameworks</vt:lpstr>
      <vt:lpstr>Culture : 5 Values  - 1 Mission</vt:lpstr>
      <vt:lpstr>Regulator engagement</vt:lpstr>
      <vt:lpstr>Risk Management</vt:lpstr>
      <vt:lpstr>Decision Making Principles</vt:lpstr>
      <vt:lpstr>Ethical frameworks</vt:lpstr>
      <vt:lpstr>Ethics statement from 2024 report</vt:lpstr>
      <vt:lpstr>First Principles Ethical Test</vt:lpstr>
      <vt:lpstr>Privacy</vt:lpstr>
      <vt:lpstr>Revolut Privacy Statement</vt:lpstr>
      <vt:lpstr>Data Collected</vt:lpstr>
      <vt:lpstr>Redress and complaint</vt:lpstr>
      <vt:lpstr>Cookies</vt:lpstr>
      <vt:lpstr>Data Privacy and Protection</vt:lpstr>
      <vt:lpstr>Governance</vt:lpstr>
      <vt:lpstr>Revolut Governance framework</vt:lpstr>
      <vt:lpstr>Roles and titles</vt:lpstr>
      <vt:lpstr>Data Governance Models</vt:lpstr>
      <vt:lpstr>Recommendations</vt:lpstr>
      <vt:lpstr>References</vt:lpstr>
      <vt:lpstr>Use of Generative AI</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Eamonn Kelly</dc:creator>
  <cp:lastModifiedBy>Eamonn Kelly</cp:lastModifiedBy>
  <cp:revision>213</cp:revision>
  <dcterms:created xsi:type="dcterms:W3CDTF">2026-03-09T02:21:30Z</dcterms:created>
  <dcterms:modified xsi:type="dcterms:W3CDTF">2026-03-09T14:34:42Z</dcterms:modified>
</cp:coreProperties>
</file>