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41" r:id="rId2"/>
  </p:sldMasterIdLst>
  <p:notesMasterIdLst>
    <p:notesMasterId r:id="rId31"/>
  </p:notesMasterIdLst>
  <p:sldIdLst>
    <p:sldId id="295" r:id="rId3"/>
    <p:sldId id="258" r:id="rId4"/>
    <p:sldId id="259" r:id="rId5"/>
    <p:sldId id="260" r:id="rId6"/>
    <p:sldId id="256" r:id="rId7"/>
    <p:sldId id="261" r:id="rId8"/>
    <p:sldId id="257" r:id="rId9"/>
    <p:sldId id="264" r:id="rId10"/>
    <p:sldId id="268" r:id="rId11"/>
    <p:sldId id="269" r:id="rId12"/>
    <p:sldId id="270" r:id="rId13"/>
    <p:sldId id="262" r:id="rId14"/>
    <p:sldId id="281" r:id="rId15"/>
    <p:sldId id="263" r:id="rId16"/>
    <p:sldId id="272" r:id="rId17"/>
    <p:sldId id="265" r:id="rId18"/>
    <p:sldId id="267" r:id="rId19"/>
    <p:sldId id="275" r:id="rId20"/>
    <p:sldId id="274" r:id="rId21"/>
    <p:sldId id="273" r:id="rId22"/>
    <p:sldId id="276" r:id="rId23"/>
    <p:sldId id="282" r:id="rId24"/>
    <p:sldId id="278" r:id="rId25"/>
    <p:sldId id="279" r:id="rId26"/>
    <p:sldId id="271" r:id="rId27"/>
    <p:sldId id="283" r:id="rId28"/>
    <p:sldId id="284" r:id="rId29"/>
    <p:sldId id="29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amonn Kelly" initials="EK" lastIdx="1" clrIdx="0">
    <p:extLst>
      <p:ext uri="{19B8F6BF-5375-455C-9EA6-DF929625EA0E}">
        <p15:presenceInfo xmlns:p15="http://schemas.microsoft.com/office/powerpoint/2012/main" userId="5c7e30ce3439703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631" autoAdjust="0"/>
    <p:restoredTop sz="83860" autoAdjust="0"/>
  </p:normalViewPr>
  <p:slideViewPr>
    <p:cSldViewPr snapToGrid="0">
      <p:cViewPr varScale="1">
        <p:scale>
          <a:sx n="96" d="100"/>
          <a:sy n="96" d="100"/>
        </p:scale>
        <p:origin x="3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10</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404555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12</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292665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14</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16</a:t>
            </a:fld>
            <a:endParaRPr lang="en-GB" dirty="0"/>
          </a:p>
        </p:txBody>
      </p:sp>
    </p:spTree>
    <p:extLst>
      <p:ext uri="{BB962C8B-B14F-4D97-AF65-F5344CB8AC3E}">
        <p14:creationId xmlns:p14="http://schemas.microsoft.com/office/powerpoint/2010/main" val="1394914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17</a:t>
            </a:fld>
            <a:endParaRPr lang="en-GB" dirty="0"/>
          </a:p>
        </p:txBody>
      </p:sp>
    </p:spTree>
    <p:extLst>
      <p:ext uri="{BB962C8B-B14F-4D97-AF65-F5344CB8AC3E}">
        <p14:creationId xmlns:p14="http://schemas.microsoft.com/office/powerpoint/2010/main" val="965030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18</a:t>
            </a:fld>
            <a:endParaRPr lang="en-GB" dirty="0"/>
          </a:p>
        </p:txBody>
      </p:sp>
    </p:spTree>
    <p:extLst>
      <p:ext uri="{BB962C8B-B14F-4D97-AF65-F5344CB8AC3E}">
        <p14:creationId xmlns:p14="http://schemas.microsoft.com/office/powerpoint/2010/main" val="179760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20</a:t>
            </a:fld>
            <a:endParaRPr lang="en-GB" dirty="0"/>
          </a:p>
        </p:txBody>
      </p:sp>
    </p:spTree>
    <p:extLst>
      <p:ext uri="{BB962C8B-B14F-4D97-AF65-F5344CB8AC3E}">
        <p14:creationId xmlns:p14="http://schemas.microsoft.com/office/powerpoint/2010/main" val="162895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24</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3707448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27</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2488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7135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9940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897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4810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73447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09564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84487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10076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50730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380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7633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394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22059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1217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837558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43242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9152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86674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2571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098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94429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32716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45192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88878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762556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002279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875313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12719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9260332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995187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5039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F18A0D-19D7-483E-8D3A-5A9966FD8325}" type="datetimeFigureOut">
              <a:rPr lang="en-GB" smtClean="0"/>
              <a:t>09/03/2026</a:t>
            </a:fld>
            <a:endParaRPr lang="en-GB"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1679782461"/>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3/9/2026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41254240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rightspace.tudublin.ie/d2l/home/472265"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dpb.europa.eu/about-edpb/about-edpb/members_e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revolut.com/en-IE/legal/privacy/" TargetMode="External"/><Relationship Id="rId5" Type="http://schemas.openxmlformats.org/officeDocument/2006/relationships/hyperlink" Target="https://vdai.lrv.lt/en/" TargetMode="External"/><Relationship Id="rId4" Type="http://schemas.openxmlformats.org/officeDocument/2006/relationships/hyperlink" Target="https://ico.org.u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ft.com/content/412abace-dab7-4499-8d72-a7a907d0904a"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revolut.com/en-IE/legal/conflict-of-interest/" TargetMode="External"/><Relationship Id="rId13" Type="http://schemas.openxmlformats.org/officeDocument/2006/relationships/hyperlink" Target="https://www.revolut.com/en-IE/financial-statements/" TargetMode="External"/><Relationship Id="rId18" Type="http://schemas.openxmlformats.org/officeDocument/2006/relationships/hyperlink" Target="https://www.revolut.com/en-IE/legal/tailored-ads-privacy-notice/"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code-of-conduct/" TargetMode="External"/><Relationship Id="rId12" Type="http://schemas.openxmlformats.org/officeDocument/2006/relationships/hyperlink" Target="https://eur-lex.europa.eu/EN/legal-content/summary/european-single-access-point.html" TargetMode="External"/><Relationship Id="rId17" Type="http://schemas.openxmlformats.org/officeDocument/2006/relationships/hyperlink" Target="https://www.revolut.com/sustainability/" TargetMode="External"/><Relationship Id="rId2" Type="http://schemas.openxmlformats.org/officeDocument/2006/relationships/notesSlide" Target="../notesSlides/notesSlide22.xml"/><Relationship Id="rId16" Type="http://schemas.openxmlformats.org/officeDocument/2006/relationships/hyperlink" Target="https://www.revolut.com/en-IE/personal-loans/" TargetMode="External"/><Relationship Id="rId1" Type="http://schemas.openxmlformats.org/officeDocument/2006/relationships/slideLayout" Target="../slideLayouts/slideLayout2.xml"/><Relationship Id="rId6" Type="http://schemas.openxmlformats.org/officeDocument/2006/relationships/hyperlink" Target="https://www.crif.ie/automated-kyc-aml-and-pep-checks/" TargetMode="External"/><Relationship Id="rId11" Type="http://schemas.openxmlformats.org/officeDocument/2006/relationships/hyperlink" Target="https://artificialintelligenceact.eu/" TargetMode="External"/><Relationship Id="rId5" Type="http://schemas.openxmlformats.org/officeDocument/2006/relationships/hyperlink" Target="https://assets.revolut.com/pdf/annualreport2024.pdf" TargetMode="External"/><Relationship Id="rId15" Type="http://schemas.openxmlformats.org/officeDocument/2006/relationships/hyperlink" Target="https://www.revolut.com/our-culture/" TargetMode="External"/><Relationship Id="rId10" Type="http://schemas.openxmlformats.org/officeDocument/2006/relationships/hyperlink" Target="https://www.revolut.com/diversity-inclusion/" TargetMode="External"/><Relationship Id="rId4" Type="http://schemas.openxmlformats.org/officeDocument/2006/relationships/hyperlink" Target="https://cro.ie/annual-return/" TargetMode="External"/><Relationship Id="rId9" Type="http://schemas.openxmlformats.org/officeDocument/2006/relationships/hyperlink" Target="https://www.revolut.com/en-IE/legal/privacy/" TargetMode="External"/><Relationship Id="rId14" Type="http://schemas.openxmlformats.org/officeDocument/2006/relationships/hyperlink" Target="https://gdpr.eu/cookies/"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dirty="0">
                <a:cs typeface="Calibri Light"/>
              </a:rPr>
            </a:br>
            <a:r>
              <a:rPr lang="en-GB" dirty="0">
                <a:hlinkClick r:id="rId2" tooltip="Data Management DATA9911: Jan-May Academic Term 2025/26"/>
              </a:rPr>
              <a:t>Data Management DATA9911</a:t>
            </a:r>
            <a:br>
              <a:rPr lang="en-GB" dirty="0"/>
            </a:br>
            <a:r>
              <a:rPr lang="en-US" dirty="0"/>
              <a:t>CA1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Mar 2026</a:t>
            </a:r>
            <a:endParaRPr lang="en-US" sz="2200" dirty="0">
              <a:solidFill>
                <a:srgbClr val="FFFFFF"/>
              </a:solidFill>
              <a:cs typeface="Calibri Light"/>
            </a:endParaRPr>
          </a:p>
        </p:txBody>
      </p:sp>
    </p:spTree>
    <p:extLst>
      <p:ext uri="{BB962C8B-B14F-4D97-AF65-F5344CB8AC3E}">
        <p14:creationId xmlns:p14="http://schemas.microsoft.com/office/powerpoint/2010/main" val="38229007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various options. I had looked at related FinTech ESG ratings companies as part of a previous assignment in another course, so was relatively familiar with the domain space.</a:t>
            </a:r>
          </a:p>
          <a:p>
            <a:pPr lvl="1"/>
            <a:r>
              <a:rPr lang="en-GB" dirty="0"/>
              <a:t>It is very relevant and likely to be encountered more and more as bricks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lnSpcReduction="10000"/>
          </a:bodyPr>
          <a:lstStyle/>
          <a:p>
            <a:r>
              <a:rPr lang="en-GB" dirty="0"/>
              <a:t>2022</a:t>
            </a:r>
          </a:p>
          <a:p>
            <a:pPr lvl="1"/>
            <a:r>
              <a:rPr lang="en-GB" u="sng" dirty="0"/>
              <a:t>Launched Personal Loans in Ireland</a:t>
            </a:r>
            <a:r>
              <a:rPr lang="en-GB" dirty="0"/>
              <a:t>, Romania, and the US</a:t>
            </a:r>
          </a:p>
          <a:p>
            <a:r>
              <a:rPr lang="en-GB" dirty="0"/>
              <a:t>2023</a:t>
            </a:r>
          </a:p>
          <a:p>
            <a:pPr lvl="1"/>
            <a:r>
              <a:rPr lang="en-GB" dirty="0"/>
              <a:t>Launched </a:t>
            </a:r>
            <a:r>
              <a:rPr lang="en-GB" u="sng" dirty="0"/>
              <a:t>local IBANs in Ireland</a:t>
            </a:r>
            <a:r>
              <a:rPr lang="en-GB" dirty="0"/>
              <a:t>, Spain and Netherlands, and </a:t>
            </a:r>
            <a:r>
              <a:rPr lang="en-GB" u="sng" dirty="0"/>
              <a:t>business IBANs </a:t>
            </a:r>
            <a:r>
              <a:rPr lang="en-GB" dirty="0"/>
              <a:t>in France and I</a:t>
            </a:r>
            <a:r>
              <a:rPr lang="en-GB" u="sng" dirty="0"/>
              <a:t>reland</a:t>
            </a:r>
          </a:p>
          <a:p>
            <a:pPr lvl="1"/>
            <a:r>
              <a:rPr lang="en-GB" dirty="0"/>
              <a:t>Launched Personal Loans in Spain, Germany and France, and </a:t>
            </a:r>
            <a:r>
              <a:rPr lang="en-GB" u="sng" dirty="0"/>
              <a:t>Credit cards </a:t>
            </a:r>
            <a:r>
              <a:rPr lang="en-GB" dirty="0"/>
              <a:t>in Spain and</a:t>
            </a:r>
            <a:r>
              <a:rPr lang="en-GB" u="sng" dirty="0"/>
              <a:t> Ireland</a:t>
            </a:r>
          </a:p>
          <a:p>
            <a:pPr lvl="1"/>
            <a:endParaRPr lang="en-GB" dirty="0"/>
          </a:p>
          <a:p>
            <a:r>
              <a:rPr lang="en-GB" dirty="0"/>
              <a:t>2024</a:t>
            </a:r>
          </a:p>
          <a:p>
            <a:pPr lvl="1"/>
            <a:r>
              <a:rPr lang="en-GB" u="sng" dirty="0"/>
              <a:t>52.5 million customers </a:t>
            </a:r>
            <a:r>
              <a:rPr lang="en-GB" dirty="0"/>
              <a:t>held active Revolut personal accounts, marking a 38% increase from the previous year.</a:t>
            </a:r>
          </a:p>
          <a:p>
            <a:pPr lvl="1"/>
            <a:r>
              <a:rPr lang="en-GB" dirty="0"/>
              <a:t>Became most valuable private technology company in Europe at an implied </a:t>
            </a:r>
            <a:r>
              <a:rPr lang="en-GB" u="sng" dirty="0"/>
              <a:t>$45B valuation</a:t>
            </a:r>
          </a:p>
          <a:p>
            <a:endParaRPr lang="en-GB" dirty="0"/>
          </a:p>
          <a:p>
            <a:r>
              <a:rPr lang="en-GB" dirty="0"/>
              <a:t>This </a:t>
            </a:r>
            <a:r>
              <a:rPr lang="en-GB" u="sng" dirty="0"/>
              <a:t>company and product has an impact on a lot of people and as such good ethical, data protection and privacy aswell as data governance standards are essential</a:t>
            </a:r>
          </a:p>
          <a:p>
            <a:r>
              <a:rPr lang="en-GB" dirty="0"/>
              <a:t>Revolut has headquarters in London, and operates in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0" y="181706"/>
            <a:ext cx="10487181" cy="865935"/>
          </a:xfrm>
        </p:spPr>
        <p:txBody>
          <a:bodyPr>
            <a:normAutofit/>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981676"/>
            <a:ext cx="1197799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u="sng" dirty="0">
                <a:latin typeface="+mj-lt"/>
                <a:ea typeface="+mj-ea"/>
                <a:cs typeface="+mj-cs"/>
              </a:rPr>
              <a:t>Automated Lending Product  </a:t>
            </a:r>
            <a:r>
              <a:rPr lang="en-GB" altLang="en-US" sz="2400" dirty="0">
                <a:latin typeface="+mj-lt"/>
                <a:ea typeface="+mj-ea"/>
                <a:cs typeface="+mj-cs"/>
              </a:rPr>
              <a:t>–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u="sng"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a:t>
            </a:r>
            <a:r>
              <a:rPr lang="en-GB" sz="2400" u="sng" dirty="0"/>
              <a:t>should get a decision within 3 business days</a:t>
            </a:r>
            <a:r>
              <a:rPr lang="en-GB" sz="2400" dirty="0"/>
              <a:t>. </a:t>
            </a:r>
          </a:p>
          <a:p>
            <a:pPr lvl="1" eaLnBrk="0" fontAlgn="base" hangingPunct="0">
              <a:lnSpc>
                <a:spcPct val="100000"/>
              </a:lnSpc>
              <a:spcBef>
                <a:spcPct val="0"/>
              </a:spcBef>
              <a:spcAft>
                <a:spcPct val="0"/>
              </a:spcAft>
            </a:pPr>
            <a:r>
              <a:rPr lang="en-GB" sz="2000" dirty="0"/>
              <a:t>(</a:t>
            </a:r>
            <a:r>
              <a:rPr lang="en-GB" sz="2000" u="sng" dirty="0"/>
              <a:t>This contradicts later statement of instantaneous decision </a:t>
            </a:r>
            <a:r>
              <a:rPr lang="en-GB" sz="2000" dirty="0"/>
              <a:t>– </a:t>
            </a:r>
            <a:r>
              <a:rPr lang="en-GB" sz="2000" u="sng" dirty="0"/>
              <a:t>implying there may be a human review, although there is no detail of that</a:t>
            </a:r>
            <a:r>
              <a:rPr lang="en-GB" sz="2000" dirty="0"/>
              <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500937"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624718"/>
            <a:ext cx="1818193" cy="30287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274413" y="2618007"/>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869660" y="3812620"/>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340710" y="2857743"/>
            <a:ext cx="1238798"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558636" y="1218195"/>
            <a:ext cx="2451828"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92500" lnSpcReduction="1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Think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629011"/>
            <a:ext cx="10799617"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a:t>
            </a:r>
            <a:r>
              <a:rPr lang="en-US" altLang="en-US" u="sng" dirty="0">
                <a:latin typeface="Arial" panose="020B0604020202020204" pitchFamily="34" charset="0"/>
              </a:rPr>
              <a:t>no mention of how they ensure this takes place</a:t>
            </a:r>
            <a:r>
              <a:rPr lang="en-US" altLang="en-US" dirty="0">
                <a:latin typeface="Arial" panose="020B0604020202020204" pitchFamily="34" charset="0"/>
              </a:rPr>
              <a:t>.</a:t>
            </a:r>
          </a:p>
          <a:p>
            <a:pPr eaLnBrk="0" fontAlgn="base" hangingPunct="0">
              <a:lnSpc>
                <a:spcPct val="100000"/>
              </a:lnSpc>
              <a:spcBef>
                <a:spcPct val="0"/>
              </a:spcBef>
              <a:spcAft>
                <a:spcPct val="0"/>
              </a:spcAft>
            </a:pPr>
            <a:r>
              <a:rPr lang="en-US" altLang="en-US" u="sng" dirty="0">
                <a:latin typeface="Arial" panose="020B0604020202020204" pitchFamily="34" charset="0"/>
              </a:rPr>
              <a:t>No available metrics from customers or regulator queries, complaints or investigations etc. that are available to provide support for such statements. These should be made available</a:t>
            </a:r>
            <a:r>
              <a:rPr lang="en-US" altLang="en-US" dirty="0">
                <a:latin typeface="Arial" panose="020B0604020202020204" pitchFamily="34" charset="0"/>
              </a:rPr>
              <a:t>.</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417072"/>
            <a:ext cx="11305309"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sng"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a:t>
            </a:r>
            <a:r>
              <a:rPr lang="en-US" altLang="en-US" sz="2000" dirty="0">
                <a:solidFill>
                  <a:schemeClr val="tx1"/>
                </a:solidFill>
                <a:latin typeface="Arial" panose="020B0604020202020204" pitchFamily="34" charset="0"/>
              </a:rPr>
              <a:t>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lang="en-US" altLang="en-US" sz="2000" u="sng" dirty="0">
                <a:solidFill>
                  <a:schemeClr val="tx1"/>
                </a:solidFill>
                <a:latin typeface="Arial" panose="020B0604020202020204" pitchFamily="34" charset="0"/>
              </a:rPr>
              <a:t>Not sacrificing quality for speed, however the Loan service process is specifically designed for speed, there is a potential for conflict of interest in the conflicting stated objectives</a:t>
            </a:r>
            <a:r>
              <a:rPr lang="en-US" altLang="en-US" sz="2000" dirty="0">
                <a:solidFill>
                  <a:schemeClr val="tx1"/>
                </a:solidFill>
                <a:latin typeface="Arial" panose="020B0604020202020204" pitchFamily="34" charset="0"/>
              </a:rPr>
              <a:t>.</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150361"/>
            <a:ext cx="10655300" cy="5312784"/>
          </a:xfrm>
        </p:spPr>
        <p:txBody>
          <a:bodyPr>
            <a:normAutofit fontScale="70000" lnSpcReduction="20000"/>
          </a:bodyPr>
          <a:lstStyle/>
          <a:p>
            <a:r>
              <a:rPr lang="en-GB" sz="2600" dirty="0"/>
              <a:t>Customer Outcome</a:t>
            </a:r>
          </a:p>
          <a:p>
            <a:pPr lvl="1"/>
            <a:r>
              <a:rPr lang="en-GB" sz="2600" dirty="0"/>
              <a:t>Will the customer receive good outcomes based on the decision I've made?</a:t>
            </a:r>
          </a:p>
          <a:p>
            <a:r>
              <a:rPr lang="en-GB" sz="2600" dirty="0"/>
              <a:t>Honesty and integrity</a:t>
            </a:r>
          </a:p>
          <a:p>
            <a:pPr lvl="1"/>
            <a:r>
              <a:rPr lang="en-GB" sz="2600" dirty="0"/>
              <a:t>Would I feel proud of my decision if it were reported on the news?</a:t>
            </a:r>
          </a:p>
          <a:p>
            <a:r>
              <a:rPr lang="en-GB" sz="2600" dirty="0"/>
              <a:t>Compliance with laws, regulations and policies</a:t>
            </a:r>
          </a:p>
          <a:p>
            <a:pPr lvl="1"/>
            <a:r>
              <a:rPr lang="en-GB" sz="2600" dirty="0"/>
              <a:t>Do my actions comply with all regulatory and legal requirements?</a:t>
            </a:r>
          </a:p>
          <a:p>
            <a:r>
              <a:rPr lang="en-GB" sz="2600" dirty="0"/>
              <a:t>Long-term vision</a:t>
            </a:r>
          </a:p>
          <a:p>
            <a:pPr lvl="1"/>
            <a:r>
              <a:rPr lang="en-GB" sz="2600" dirty="0"/>
              <a:t>Will this decision still seem like a good idea five years from now?</a:t>
            </a:r>
          </a:p>
          <a:p>
            <a:pPr lvl="1"/>
            <a:endParaRPr lang="en-GB" dirty="0"/>
          </a:p>
          <a:p>
            <a:r>
              <a:rPr lang="en-GB" sz="2600" dirty="0"/>
              <a:t>There is a </a:t>
            </a:r>
            <a:r>
              <a:rPr lang="en-GB" sz="2600" u="sng" dirty="0"/>
              <a:t>conflicting statement concerning pride in the decision making principle</a:t>
            </a:r>
            <a:r>
              <a:rPr lang="en-GB" sz="2600" dirty="0"/>
              <a:t>, given a ML algorithm is making the decision on the Loan Product, or perhaps there is more human oversight than we are led to believe? This needs clarity.</a:t>
            </a:r>
          </a:p>
          <a:p>
            <a:r>
              <a:rPr lang="en-GB" sz="2600" u="sng" dirty="0"/>
              <a:t>No reference of explainability </a:t>
            </a:r>
            <a:r>
              <a:rPr lang="en-GB" sz="2600" dirty="0"/>
              <a:t>in the preceding values and principles may make it harder to challenge decisions that have gone against them.</a:t>
            </a:r>
          </a:p>
          <a:p>
            <a:r>
              <a:rPr lang="en-GB" sz="2400" dirty="0"/>
              <a:t>“</a:t>
            </a:r>
            <a:r>
              <a:rPr lang="en-GB" sz="2400" u="sng" dirty="0"/>
              <a:t>Depending on the Revolut products or services you use, we may make automated decisions about you. Some of these decisions are made using artificial intelligence without any initial human input. </a:t>
            </a:r>
            <a:r>
              <a:rPr lang="en-GB" sz="2400" dirty="0"/>
              <a:t>“</a:t>
            </a:r>
            <a:endParaRPr lang="en-GB" sz="2600" dirty="0"/>
          </a:p>
          <a:p>
            <a:r>
              <a:rPr lang="en-GB" dirty="0">
                <a:hlinkClick r:id="rId3"/>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30200" y="749300"/>
            <a:ext cx="11417300" cy="5981700"/>
          </a:xfrm>
        </p:spPr>
        <p:txBody>
          <a:bodyPr>
            <a:normAutofit fontScale="62500" lnSpcReduction="20000"/>
          </a:bodyPr>
          <a:lstStyle/>
          <a:p>
            <a:pPr lvl="0"/>
            <a:r>
              <a:rPr lang="en-GB" sz="2200" dirty="0"/>
              <a:t>Deontology</a:t>
            </a:r>
          </a:p>
          <a:p>
            <a:pPr lvl="1"/>
            <a:r>
              <a:rPr lang="en-GB" sz="2200" dirty="0"/>
              <a:t>There is a deontological aspect i.e. focussing on the actions not the outcome to determine right or wrong.</a:t>
            </a:r>
          </a:p>
          <a:p>
            <a:pPr lvl="0"/>
            <a:r>
              <a:rPr lang="en-GB" sz="2200" dirty="0"/>
              <a:t>Consequentialism</a:t>
            </a:r>
          </a:p>
          <a:p>
            <a:pPr lvl="1"/>
            <a:r>
              <a:rPr lang="en-GB" sz="2200" dirty="0"/>
              <a:t>Rightness or wrongness judged by the outcomes. There is an element of consequentialism in the product, </a:t>
            </a:r>
          </a:p>
          <a:p>
            <a:pPr lvl="1"/>
            <a:r>
              <a:rPr lang="en-GB" sz="2200" dirty="0"/>
              <a:t>Rightness and wrongness as defined by who, shareholders or customers?</a:t>
            </a:r>
          </a:p>
          <a:p>
            <a:pPr lvl="0"/>
            <a:r>
              <a:rPr lang="en-GB" sz="2200" dirty="0"/>
              <a:t>Bias</a:t>
            </a:r>
          </a:p>
          <a:p>
            <a:pPr lvl="1"/>
            <a:r>
              <a:rPr lang="en-GB" sz="2200" u="sng" dirty="0"/>
              <a:t>As a ML model is used, can we be certain that the training data contain no bias?</a:t>
            </a:r>
          </a:p>
          <a:p>
            <a:pPr lvl="1"/>
            <a:r>
              <a:rPr lang="en-GB" sz="2200" u="sng" dirty="0"/>
              <a:t>Was a representative sample population used in training the model?</a:t>
            </a:r>
          </a:p>
          <a:p>
            <a:pPr lvl="1"/>
            <a:r>
              <a:rPr lang="en-GB" sz="2200" u="sng" dirty="0"/>
              <a:t>Are data scientists free to collect sufficient representative data?</a:t>
            </a:r>
          </a:p>
          <a:p>
            <a:pPr lvl="0"/>
            <a:r>
              <a:rPr lang="en-GB" sz="2700" dirty="0"/>
              <a:t>Principle</a:t>
            </a:r>
            <a:r>
              <a:rPr lang="en-GB" dirty="0"/>
              <a:t> </a:t>
            </a:r>
            <a:r>
              <a:rPr lang="en-GB" sz="2700" dirty="0"/>
              <a:t>Ethics List as given by Subbian et al. ASEE 2022 (based off the Belmont principles for medical research)</a:t>
            </a:r>
          </a:p>
          <a:p>
            <a:pPr lvl="1"/>
            <a:r>
              <a:rPr lang="en-GB" sz="1900" b="1" dirty="0"/>
              <a:t>Beneficence</a:t>
            </a:r>
            <a:r>
              <a:rPr lang="en-GB" sz="1900" dirty="0"/>
              <a:t> - Do no harm + maximise the benefits – perhaps for a majority it will benefit but risk of bias in ML, and </a:t>
            </a:r>
            <a:r>
              <a:rPr lang="en-GB" sz="1900" u="sng" dirty="0"/>
              <a:t>lack of explainability </a:t>
            </a:r>
            <a:r>
              <a:rPr lang="en-GB" sz="1900" dirty="0"/>
              <a:t>may disadvantage minorities</a:t>
            </a:r>
          </a:p>
          <a:p>
            <a:pPr lvl="1"/>
            <a:r>
              <a:rPr lang="en-GB" sz="1900" b="1" dirty="0"/>
              <a:t>Nonmaleficence – </a:t>
            </a:r>
            <a:r>
              <a:rPr lang="en-GB" sz="1900" dirty="0"/>
              <a:t>avoiding actions causing harm and preventing harm – </a:t>
            </a:r>
            <a:r>
              <a:rPr lang="en-GB" sz="1900" u="sng" dirty="0"/>
              <a:t>lack of explicit details to challenge decisions </a:t>
            </a:r>
            <a:r>
              <a:rPr lang="en-GB" sz="1900" dirty="0"/>
              <a:t>may actually cause harm</a:t>
            </a:r>
          </a:p>
          <a:p>
            <a:pPr lvl="1"/>
            <a:r>
              <a:rPr lang="en-GB" sz="1900" b="1" dirty="0"/>
              <a:t>Autonomy </a:t>
            </a:r>
            <a:r>
              <a:rPr lang="en-GB" sz="1900" dirty="0"/>
              <a:t>– freedom to make decisions on your on behalf – contradictory given the use of ML in the Loan Product</a:t>
            </a:r>
          </a:p>
          <a:p>
            <a:pPr lvl="1"/>
            <a:r>
              <a:rPr lang="en-GB" sz="1900" b="1" dirty="0"/>
              <a:t>Justice </a:t>
            </a:r>
            <a:r>
              <a:rPr lang="en-GB" sz="1900" dirty="0"/>
              <a:t>- Fair and equitable treatment of people – no explicit reference to fairness or justice</a:t>
            </a:r>
          </a:p>
          <a:p>
            <a:pPr lvl="1"/>
            <a:r>
              <a:rPr lang="en-GB" sz="1900" b="1" dirty="0"/>
              <a:t>Fidelity </a:t>
            </a:r>
            <a:r>
              <a:rPr lang="en-GB" sz="1900" dirty="0"/>
              <a:t> - Honouring commitments – there is no reference to this</a:t>
            </a:r>
          </a:p>
          <a:p>
            <a:pPr lvl="1"/>
            <a:r>
              <a:rPr lang="en-GB" sz="1900" b="1" dirty="0"/>
              <a:t>Veracity</a:t>
            </a:r>
            <a:r>
              <a:rPr lang="en-GB" sz="1900" dirty="0"/>
              <a:t> – being honest – there is explicit reference to this.</a:t>
            </a:r>
          </a:p>
          <a:p>
            <a:r>
              <a:rPr lang="en-GB" sz="1900" dirty="0"/>
              <a:t>Virtue Ethics</a:t>
            </a:r>
          </a:p>
          <a:p>
            <a:pPr lvl="1"/>
            <a:r>
              <a:rPr lang="en-GB" sz="1900"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482885" y="1582221"/>
            <a:ext cx="9462499" cy="4900772"/>
          </a:xfrm>
        </p:spPr>
        <p:txBody>
          <a:bodyPr>
            <a:normAutofit fontScale="8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a:t>
            </a:r>
            <a:r>
              <a:rPr lang="en-GB" u="sng" dirty="0"/>
              <a:t>supported by rigorous due diligence assessments conducted by our third party risk team and regular reassessments of existing partnerships</a:t>
            </a:r>
            <a:r>
              <a:rPr lang="en-GB" dirty="0"/>
              <a:t>.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3"/>
              </a:rPr>
              <a:t>https://assets.revolut.com/pdf/annualreport2024.pdf</a:t>
            </a:r>
            <a:r>
              <a:rPr lang="en-GB" dirty="0"/>
              <a:t> </a:t>
            </a:r>
          </a:p>
          <a:p>
            <a:pPr marL="0" indent="0">
              <a:buNone/>
            </a:pPr>
            <a:endParaRPr lang="en-GB" dirty="0"/>
          </a:p>
          <a:p>
            <a:r>
              <a:rPr lang="en-GB" dirty="0"/>
              <a:t>Questions arising from this statement:</a:t>
            </a:r>
          </a:p>
          <a:p>
            <a:pPr lvl="1"/>
            <a:r>
              <a:rPr lang="en-GB" u="sng" dirty="0"/>
              <a:t>Lack of transparency, who is the third party risk team? </a:t>
            </a:r>
            <a:r>
              <a:rPr lang="en-GB" dirty="0"/>
              <a:t>Transparency would enhance the trust.</a:t>
            </a:r>
          </a:p>
          <a:p>
            <a:pPr lvl="1"/>
            <a:r>
              <a:rPr lang="en-GB" u="sng" dirty="0"/>
              <a:t>What are the clear protocols for reporting and addressing concerns</a:t>
            </a:r>
            <a:r>
              <a:rPr lang="en-GB" dirty="0"/>
              <a:t>, ensuring unethical behaviour is promptly identified and addressed?</a:t>
            </a:r>
          </a:p>
          <a:p>
            <a:pPr lvl="1"/>
            <a:r>
              <a:rPr lang="en-GB" u="sng"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8" y="0"/>
            <a:ext cx="5604042" cy="623701"/>
          </a:xfrm>
        </p:spPr>
        <p:txBody>
          <a:bodyPr>
            <a:normAutofit fontScale="90000"/>
          </a:bodyPr>
          <a:lstStyle/>
          <a:p>
            <a:r>
              <a:rPr lang="en-GB" dirty="0"/>
              <a:t>First Principles Ethical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1606852306"/>
              </p:ext>
            </p:extLst>
          </p:nvPr>
        </p:nvGraphicFramePr>
        <p:xfrm>
          <a:off x="220289" y="623701"/>
          <a:ext cx="11507887" cy="5859902"/>
        </p:xfrm>
        <a:graphic>
          <a:graphicData uri="http://schemas.openxmlformats.org/drawingml/2006/table">
            <a:tbl>
              <a:tblPr firstRow="1" bandRow="1">
                <a:tableStyleId>{5C22544A-7EE6-4342-B048-85BDC9FD1C3A}</a:tableStyleId>
              </a:tblPr>
              <a:tblGrid>
                <a:gridCol w="3431201">
                  <a:extLst>
                    <a:ext uri="{9D8B030D-6E8A-4147-A177-3AD203B41FA5}">
                      <a16:colId xmlns:a16="http://schemas.microsoft.com/office/drawing/2014/main" val="3674473931"/>
                    </a:ext>
                  </a:extLst>
                </a:gridCol>
                <a:gridCol w="4704869">
                  <a:extLst>
                    <a:ext uri="{9D8B030D-6E8A-4147-A177-3AD203B41FA5}">
                      <a16:colId xmlns:a16="http://schemas.microsoft.com/office/drawing/2014/main" val="320933149"/>
                    </a:ext>
                  </a:extLst>
                </a:gridCol>
                <a:gridCol w="3371817">
                  <a:extLst>
                    <a:ext uri="{9D8B030D-6E8A-4147-A177-3AD203B41FA5}">
                      <a16:colId xmlns:a16="http://schemas.microsoft.com/office/drawing/2014/main" val="2257108850"/>
                    </a:ext>
                  </a:extLst>
                </a:gridCol>
              </a:tblGrid>
              <a:tr h="91937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044532">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u="sng"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1983967">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a:t>
                      </a:r>
                      <a:r>
                        <a:rPr lang="en-GB" sz="1600" kern="100" dirty="0">
                          <a:solidFill>
                            <a:schemeClr val="dk1"/>
                          </a:solidFill>
                          <a:effectLst/>
                          <a:latin typeface="Calibri" panose="020F0502020204030204" pitchFamily="34" charset="0"/>
                          <a:ea typeface="+mn-ea"/>
                          <a:cs typeface="Times New Roman" panose="02020603050405020304" pitchFamily="18" charset="0"/>
                        </a:rPr>
                        <a:t>which is </a:t>
                      </a:r>
                      <a:r>
                        <a:rPr lang="en-GB" sz="1600" u="sng" kern="100" dirty="0">
                          <a:solidFill>
                            <a:schemeClr val="dk1"/>
                          </a:solidFill>
                          <a:effectLst/>
                          <a:latin typeface="Calibri" panose="020F0502020204030204" pitchFamily="34" charset="0"/>
                          <a:ea typeface="+mn-ea"/>
                          <a:cs typeface="Times New Roman" panose="02020603050405020304" pitchFamily="18" charset="0"/>
                        </a:rPr>
                        <a:t>contradictory</a:t>
                      </a:r>
                    </a:p>
                  </a:txBody>
                  <a:tcPr/>
                </a:tc>
                <a:extLst>
                  <a:ext uri="{0D108BD9-81ED-4DB2-BD59-A6C34878D82A}">
                    <a16:rowId xmlns:a16="http://schemas.microsoft.com/office/drawing/2014/main" val="3227050475"/>
                  </a:ext>
                </a:extLst>
              </a:tr>
              <a:tr h="105334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u="sng"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726187">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u="sng"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
        <p:nvSpPr>
          <p:cNvPr id="5" name="TextBox 4">
            <a:extLst>
              <a:ext uri="{FF2B5EF4-FFF2-40B4-BE49-F238E27FC236}">
                <a16:creationId xmlns:a16="http://schemas.microsoft.com/office/drawing/2014/main" id="{149FCE9C-E0E5-E583-1783-87433AEB7904}"/>
              </a:ext>
            </a:extLst>
          </p:cNvPr>
          <p:cNvSpPr txBox="1"/>
          <p:nvPr/>
        </p:nvSpPr>
        <p:spPr>
          <a:xfrm>
            <a:off x="8696739" y="6483603"/>
            <a:ext cx="3359427" cy="338554"/>
          </a:xfrm>
          <a:prstGeom prst="rect">
            <a:avLst/>
          </a:prstGeom>
          <a:noFill/>
        </p:spPr>
        <p:txBody>
          <a:bodyPr wrap="square" rtlCol="0">
            <a:spAutoFit/>
          </a:bodyPr>
          <a:lstStyle/>
          <a:p>
            <a:r>
              <a:rPr lang="en-US" sz="1600" dirty="0"/>
              <a:t>(O'Keefe and O’Byrne, 2018)</a:t>
            </a:r>
            <a:endParaRPr lang="en-GB" sz="1600" dirty="0"/>
          </a:p>
        </p:txBody>
      </p:sp>
    </p:spTree>
    <p:extLst>
      <p:ext uri="{BB962C8B-B14F-4D97-AF65-F5344CB8AC3E}">
        <p14:creationId xmlns:p14="http://schemas.microsoft.com/office/powerpoint/2010/main" val="229315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normAutofit/>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745398"/>
          </a:xfrm>
        </p:spPr>
        <p:txBody>
          <a:bodyPr>
            <a:normAutofit fontScale="92500" lnSpcReduction="1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a:t>
            </a:r>
            <a:r>
              <a:rPr lang="en-GB" u="sng" dirty="0"/>
              <a:t>may also collect your personal data from other people or companies.</a:t>
            </a:r>
          </a:p>
          <a:p>
            <a:r>
              <a:rPr lang="en-GB" dirty="0"/>
              <a:t>if you are in the European Economic Area (EEA), </a:t>
            </a:r>
            <a:r>
              <a:rPr lang="en-GB" u="sng" dirty="0"/>
              <a:t>Revolut Bank UAB is the primary </a:t>
            </a:r>
            <a:r>
              <a:rPr lang="en-GB" b="1" u="sng" dirty="0"/>
              <a:t>controller</a:t>
            </a:r>
            <a:r>
              <a:rPr lang="en-GB" u="sng" dirty="0"/>
              <a:t> of your personal data </a:t>
            </a:r>
            <a:r>
              <a:rPr lang="en-GB" dirty="0"/>
              <a:t>even if you are receiving services from one of its branches</a:t>
            </a:r>
          </a:p>
          <a:p>
            <a:r>
              <a:rPr lang="en-GB" dirty="0"/>
              <a:t>if you are in the United Kingdom, Revolut Ltd is the primary controller of your personal data</a:t>
            </a:r>
          </a:p>
          <a:p>
            <a:endParaRPr lang="en-GB" dirty="0"/>
          </a:p>
          <a:p>
            <a:r>
              <a:rPr lang="en-GB" u="sng" dirty="0"/>
              <a:t>Revolut Bank UAB is located in Lithuania, this means Irish customer data is controlled via Lithuania, and as a result is may have implications for queries, complaints and investigations</a:t>
            </a:r>
            <a:r>
              <a:rPr lang="en-GB" dirty="0"/>
              <a:t>.</a:t>
            </a:r>
          </a:p>
          <a:p>
            <a:endParaRPr lang="en-GB" dirty="0"/>
          </a:p>
          <a:p>
            <a:pPr marL="0" indent="0">
              <a:buNone/>
            </a:pPr>
            <a:r>
              <a:rPr lang="en-GB" sz="1700" dirty="0">
                <a:hlinkClick r:id="rId3"/>
              </a:rPr>
              <a:t>From Customer Privacy Notice - https://www.revolut.com/en-IE/legal/privacy/</a:t>
            </a:r>
            <a:endParaRPr lang="en-GB" sz="1700" dirty="0"/>
          </a:p>
        </p:txBody>
      </p:sp>
    </p:spTree>
    <p:extLst>
      <p:ext uri="{BB962C8B-B14F-4D97-AF65-F5344CB8AC3E}">
        <p14:creationId xmlns:p14="http://schemas.microsoft.com/office/powerpoint/2010/main" val="362190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1122767" cy="4816578"/>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about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a:t>
            </a:r>
            <a:r>
              <a:rPr lang="en-GB" u="sng" dirty="0"/>
              <a:t>privacy notices for services</a:t>
            </a:r>
            <a:r>
              <a:rPr lang="en-GB" dirty="0"/>
              <a:t>,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a:p>
            <a:pPr marL="0" indent="0">
              <a:buNone/>
            </a:pPr>
            <a:endParaRPr lang="en-GB" dirty="0">
              <a:hlinkClick r:id="rId3"/>
            </a:endParaRPr>
          </a:p>
          <a:p>
            <a:pPr marL="0" indent="0">
              <a:buNone/>
            </a:pPr>
            <a:r>
              <a:rPr lang="en-GB" dirty="0">
                <a:hlinkClick r:id="rId3"/>
              </a:rPr>
              <a:t>From Customer Privacy Notice - https://www.revolut.com/en-IE/legal/privacy/</a:t>
            </a:r>
            <a:endParaRPr lang="en-GB" dirty="0"/>
          </a:p>
          <a:p>
            <a:endParaRPr lang="en-GB" dirty="0"/>
          </a:p>
        </p:txBody>
      </p:sp>
    </p:spTree>
    <p:extLst>
      <p:ext uri="{BB962C8B-B14F-4D97-AF65-F5344CB8AC3E}">
        <p14:creationId xmlns:p14="http://schemas.microsoft.com/office/powerpoint/2010/main" val="408096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a:xfrm>
            <a:off x="677334" y="1470991"/>
            <a:ext cx="9102770" cy="4570371"/>
          </a:xfrm>
        </p:spPr>
        <p:txBody>
          <a:bodyPr>
            <a:normAutofit fontScale="77500" lnSpcReduction="20000"/>
          </a:bodyPr>
          <a:lstStyle/>
          <a:p>
            <a:r>
              <a:rPr lang="en-GB" sz="2200" u="sng" dirty="0"/>
              <a:t>When you exercise one of your rights, or update your privacy settings in the Revolut app, it may take us up to one month to respond or implement your changes. </a:t>
            </a:r>
          </a:p>
          <a:p>
            <a:r>
              <a:rPr lang="en-GB" sz="2200" dirty="0"/>
              <a:t>Revolut will </a:t>
            </a:r>
            <a:r>
              <a:rPr lang="en-GB" sz="2200" u="sng" dirty="0"/>
              <a:t>usually not charge you a fee when you exercise your rights</a:t>
            </a:r>
            <a:r>
              <a:rPr lang="en-GB" sz="2200" dirty="0"/>
              <a:t>.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3"/>
              </a:rPr>
              <a:t>local data protection authority</a:t>
            </a:r>
            <a:r>
              <a:rPr lang="en-GB" sz="2200" dirty="0"/>
              <a:t>. In the United Kingdom, this is the Information Commissioner’s Office (</a:t>
            </a:r>
            <a:r>
              <a:rPr lang="en-GB" sz="2200" dirty="0">
                <a:hlinkClick r:id="rId4"/>
              </a:rPr>
              <a:t>website</a:t>
            </a:r>
            <a:r>
              <a:rPr lang="en-GB" sz="2200" dirty="0"/>
              <a:t>). </a:t>
            </a:r>
            <a:r>
              <a:rPr lang="en-GB" sz="2200" u="sng" dirty="0"/>
              <a:t>In the European Economic Area, our cross-border data protection authority is the Lithuanian State Data Protection Inspectorate </a:t>
            </a:r>
            <a:r>
              <a:rPr lang="en-GB" sz="2200" dirty="0"/>
              <a:t>(</a:t>
            </a:r>
            <a:r>
              <a:rPr lang="en-GB" sz="2200" dirty="0">
                <a:hlinkClick r:id="rId5"/>
              </a:rPr>
              <a:t>website</a:t>
            </a:r>
            <a:r>
              <a:rPr lang="en-GB" sz="2200" dirty="0"/>
              <a:t>)</a:t>
            </a:r>
          </a:p>
          <a:p>
            <a:endParaRPr lang="en-GB" dirty="0"/>
          </a:p>
          <a:p>
            <a:r>
              <a:rPr lang="en-GB" sz="2300" u="sng" dirty="0"/>
              <a:t>Directing users in the EU to an institution in Lithuania may make engaging with the service more difficult than a more locally based complaints service</a:t>
            </a:r>
            <a:r>
              <a:rPr lang="en-GB" sz="2300" dirty="0"/>
              <a:t>.</a:t>
            </a:r>
          </a:p>
          <a:p>
            <a:endParaRPr lang="en-GB" dirty="0"/>
          </a:p>
          <a:p>
            <a:pPr marL="0" indent="0">
              <a:buNone/>
            </a:pPr>
            <a:endParaRPr lang="en-GB" dirty="0">
              <a:hlinkClick r:id="rId6"/>
            </a:endParaRPr>
          </a:p>
          <a:p>
            <a:pPr marL="0" indent="0">
              <a:buNone/>
            </a:pPr>
            <a:r>
              <a:rPr lang="en-GB" dirty="0">
                <a:hlinkClick r:id="rId6"/>
              </a:rPr>
              <a:t>From Customer Privacy Notice - https://www.revolut.com/en-IE/legal/privacy/</a:t>
            </a:r>
            <a:endParaRPr lang="en-GB" dirty="0"/>
          </a:p>
          <a:p>
            <a:pPr marL="0" indent="0">
              <a:buNone/>
            </a:pPr>
            <a:endParaRPr lang="en-GB" dirty="0"/>
          </a:p>
        </p:txBody>
      </p:sp>
    </p:spTree>
    <p:extLst>
      <p:ext uri="{BB962C8B-B14F-4D97-AF65-F5344CB8AC3E}">
        <p14:creationId xmlns:p14="http://schemas.microsoft.com/office/powerpoint/2010/main" val="260321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a:xfrm>
            <a:off x="746908" y="1653693"/>
            <a:ext cx="9387692" cy="4378807"/>
          </a:xfrm>
        </p:spPr>
        <p:txBody>
          <a:bodyPr>
            <a:normAutofit fontScale="92500" lnSpcReduction="20000"/>
          </a:bodyPr>
          <a:lstStyle/>
          <a:p>
            <a:r>
              <a:rPr lang="en-GB" dirty="0"/>
              <a:t>Data Privacy</a:t>
            </a:r>
          </a:p>
          <a:p>
            <a:pPr lvl="1"/>
            <a:r>
              <a:rPr lang="en-GB" dirty="0"/>
              <a:t>It </a:t>
            </a:r>
            <a:r>
              <a:rPr lang="en-GB" u="sng" dirty="0"/>
              <a:t>is possible to opt out of marketing data collection</a:t>
            </a:r>
            <a:r>
              <a:rPr lang="en-GB" dirty="0"/>
              <a:t> through cookies</a:t>
            </a:r>
          </a:p>
          <a:p>
            <a:r>
              <a:rPr lang="en-GB" dirty="0"/>
              <a:t>Data protection</a:t>
            </a:r>
          </a:p>
          <a:p>
            <a:pPr lvl="1"/>
            <a:r>
              <a:rPr lang="en-GB" u="sng" dirty="0"/>
              <a:t>No explicit details concerning encryption at rest or transit</a:t>
            </a:r>
          </a:p>
          <a:p>
            <a:pPr lvl="1"/>
            <a:r>
              <a:rPr lang="en-GB" u="sng" dirty="0"/>
              <a:t>There is a risk as they engage 3</a:t>
            </a:r>
            <a:r>
              <a:rPr lang="en-GB" u="sng" baseline="30000" dirty="0"/>
              <a:t>rd</a:t>
            </a:r>
            <a:r>
              <a:rPr lang="en-GB" u="sng" dirty="0"/>
              <a:t> parties as part of the process to approve Loans, this is additional risk for how data is handled, is it encrypted at rest and in transit, access controls etc</a:t>
            </a:r>
          </a:p>
          <a:p>
            <a:pPr lvl="1"/>
            <a:r>
              <a:rPr lang="en-GB" dirty="0"/>
              <a:t>No </a:t>
            </a:r>
            <a:r>
              <a:rPr lang="en-GB" u="sng" dirty="0"/>
              <a:t>reference of </a:t>
            </a:r>
            <a:r>
              <a:rPr lang="en-GB" b="1" u="sng" dirty="0"/>
              <a:t>Pseudonymisation </a:t>
            </a:r>
            <a:r>
              <a:rPr lang="en-GB" u="sng" dirty="0"/>
              <a:t>or</a:t>
            </a:r>
            <a:r>
              <a:rPr lang="en-GB" b="1" u="sng" dirty="0"/>
              <a:t> Anonymisation</a:t>
            </a:r>
            <a:r>
              <a:rPr lang="en-GB" u="sng" dirty="0"/>
              <a:t> to help protect data</a:t>
            </a:r>
            <a:r>
              <a:rPr lang="en-GB" dirty="0"/>
              <a:t>, particularly when third parties are involved. Probably expected due to the nature of the loan approval being specific to a single user.</a:t>
            </a:r>
          </a:p>
          <a:p>
            <a:r>
              <a:rPr lang="en-GB" dirty="0"/>
              <a:t>Fraud</a:t>
            </a:r>
          </a:p>
          <a:p>
            <a:pPr lvl="1"/>
            <a:r>
              <a:rPr lang="en-GB" dirty="0"/>
              <a:t>“The increasing use of AI by criminals, in particular deepfake technology, continues to pose a challenge. </a:t>
            </a:r>
            <a:r>
              <a:rPr lang="en-GB" u="sng" dirty="0"/>
              <a:t>Revolut is combatting this by enhancing its own Machine Learning (ML) models and also engaging its vendors to improve detection</a:t>
            </a:r>
          </a:p>
          <a:p>
            <a:pPr lvl="1"/>
            <a:r>
              <a:rPr lang="en-GB" dirty="0"/>
              <a:t>Our security </a:t>
            </a:r>
            <a:r>
              <a:rPr lang="en-GB" u="sng" dirty="0"/>
              <a:t>capabilities include a machine learning based fraud detection system</a:t>
            </a:r>
            <a:r>
              <a:rPr lang="en-GB" dirty="0"/>
              <a:t>, in addition to teams formed of fraud specialists, data scientists and former law enforcement personnel.”</a:t>
            </a:r>
          </a:p>
          <a:p>
            <a:pPr lvl="1"/>
            <a:r>
              <a:rPr lang="en-GB" dirty="0">
                <a:hlinkClick r:id="rId3"/>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normAutofit/>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7862" y="1222513"/>
            <a:ext cx="11028577" cy="4717237"/>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292100" y="1025670"/>
            <a:ext cx="11899900" cy="5593339"/>
          </a:xfrm>
        </p:spPr>
        <p:txBody>
          <a:bodyPr>
            <a:normAutofit fontScale="77500" lnSpcReduction="20000"/>
          </a:bodyPr>
          <a:lstStyle/>
          <a:p>
            <a:r>
              <a:rPr lang="en-GB" dirty="0"/>
              <a:t>Management Board = 5 members</a:t>
            </a:r>
          </a:p>
          <a:p>
            <a:r>
              <a:rPr lang="en-GB" dirty="0"/>
              <a:t>Supervisory Council = 6 member</a:t>
            </a:r>
          </a:p>
          <a:p>
            <a:pPr lvl="1"/>
            <a:r>
              <a:rPr lang="en-GB" dirty="0"/>
              <a:t>There are </a:t>
            </a:r>
            <a:r>
              <a:rPr lang="en-GB" u="sng" dirty="0"/>
              <a:t>Risk and Compliance officers on both boards but neither appear to have a data or information related titles.</a:t>
            </a:r>
          </a:p>
          <a:p>
            <a:r>
              <a:rPr lang="en-GB" dirty="0"/>
              <a:t>There are many committees listed including:</a:t>
            </a:r>
          </a:p>
          <a:p>
            <a:pPr lvl="1"/>
            <a:r>
              <a:rPr lang="en-GB" dirty="0"/>
              <a:t>Group Retail Credit Risk Committee, </a:t>
            </a:r>
            <a:r>
              <a:rPr lang="en-GB" u="sng" dirty="0"/>
              <a:t>Group Model and Artificial Intelligence Risk Committee</a:t>
            </a:r>
            <a:r>
              <a:rPr lang="en-GB" dirty="0"/>
              <a:t>, Asset and Liability Committee, Group Executive Committee, Board Risk and Compliance Committee, Board Audit Committee (BAC), Remuneration Committee, Nomination Committee, </a:t>
            </a:r>
          </a:p>
          <a:p>
            <a:pPr lvl="1"/>
            <a:endParaRPr lang="en-GB" dirty="0"/>
          </a:p>
          <a:p>
            <a:r>
              <a:rPr lang="en-GB" b="1" u="sng" dirty="0"/>
              <a:t>Not identifiable</a:t>
            </a:r>
          </a:p>
          <a:p>
            <a:pPr lvl="1"/>
            <a:r>
              <a:rPr lang="en-GB" b="1" u="sng" dirty="0"/>
              <a:t>Chief Data Officer</a:t>
            </a:r>
          </a:p>
          <a:p>
            <a:pPr lvl="2"/>
            <a:r>
              <a:rPr lang="en-GB" dirty="0"/>
              <a:t>More insights</a:t>
            </a:r>
          </a:p>
          <a:p>
            <a:pPr lvl="1"/>
            <a:r>
              <a:rPr lang="en-GB" b="1" u="sng" dirty="0"/>
              <a:t>Chief Information Officer</a:t>
            </a:r>
          </a:p>
          <a:p>
            <a:pPr lvl="2"/>
            <a:r>
              <a:rPr lang="en-GB" dirty="0"/>
              <a:t>More doing things and managing the data</a:t>
            </a:r>
          </a:p>
          <a:p>
            <a:pPr lvl="1"/>
            <a:r>
              <a:rPr lang="en-GB" b="1" u="sng"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u="sng" dirty="0"/>
              <a:t>Data Protection Officer. </a:t>
            </a:r>
            <a:r>
              <a:rPr lang="en-GB" dirty="0"/>
              <a:t>Contact is available at </a:t>
            </a:r>
            <a:r>
              <a:rPr lang="en-GB" dirty="0">
                <a:hlinkClick r:id="rId3"/>
              </a:rPr>
              <a:t>dpo@revolut.com</a:t>
            </a:r>
            <a:r>
              <a:rPr lang="en-GB" dirty="0"/>
              <a:t>. “</a:t>
            </a:r>
          </a:p>
          <a:p>
            <a:pPr lvl="1"/>
            <a:r>
              <a:rPr lang="en-GB" u="sng" dirty="0"/>
              <a:t>No other details are provided and only a single email address is provided as a means of contact. </a:t>
            </a:r>
            <a:endParaRPr lang="en-GB" u="sng"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lnSpcReduction="10000"/>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u="sng" dirty="0"/>
              <a:t>Only one reference to Data Governance </a:t>
            </a:r>
            <a:r>
              <a:rPr lang="en-GB" dirty="0"/>
              <a:t>in 2024 annual report</a:t>
            </a:r>
          </a:p>
          <a:p>
            <a:pPr lvl="1"/>
            <a:r>
              <a:rPr lang="en-GB" u="sng" dirty="0"/>
              <a:t>Nothing about ethical principles or a philosophy driving any governance strategy</a:t>
            </a:r>
          </a:p>
          <a:p>
            <a:pPr lvl="1"/>
            <a:r>
              <a:rPr lang="en-GB" u="sng" dirty="0"/>
              <a:t>No references to data </a:t>
            </a:r>
            <a:r>
              <a:rPr lang="en-GB" b="1" u="sng" dirty="0"/>
              <a:t>accountability</a:t>
            </a:r>
            <a:r>
              <a:rPr lang="en-GB" u="sng" dirty="0"/>
              <a:t> anywhere that I can find.</a:t>
            </a:r>
          </a:p>
          <a:p>
            <a:pPr lvl="1"/>
            <a:r>
              <a:rPr lang="en-GB" dirty="0"/>
              <a:t>Reference to a fine of </a:t>
            </a:r>
            <a:r>
              <a:rPr lang="en-GB" u="sng" dirty="0"/>
              <a:t>€3.5M fine by Bank of Lithuania regulator due to violations and shortcomings in the monitoring of business relationships and transactions i.e. KYC / AML related</a:t>
            </a:r>
          </a:p>
          <a:p>
            <a:pPr marL="457200" lvl="1" indent="0">
              <a:buNone/>
            </a:pPr>
            <a:r>
              <a:rPr lang="en-GB" dirty="0">
                <a:hlinkClick r:id="rId3"/>
              </a:rPr>
              <a:t>https://www.ft.com/content/412abace-dab7-4499-8d72-a7a907d0904a</a:t>
            </a:r>
            <a:endParaRPr lang="en-GB" dirty="0"/>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730346" cy="4796848"/>
          </a:xfrm>
        </p:spPr>
        <p:txBody>
          <a:bodyPr>
            <a:normAutofit lnSpcReduction="10000"/>
          </a:bodyPr>
          <a:lstStyle/>
          <a:p>
            <a:pPr marL="514350" indent="-514350">
              <a:buFont typeface="+mj-lt"/>
              <a:buAutoNum type="arabicParenR"/>
            </a:pPr>
            <a:r>
              <a:rPr lang="en-GB" b="1" u="sng"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u="sng" dirty="0"/>
              <a:t>Implementation of a Data Governance framework </a:t>
            </a:r>
            <a:r>
              <a:rPr lang="en-GB" dirty="0"/>
              <a:t>and some ethical/Philosophical considerations to drive decisions within that framework, with clearly defined and appropriate roles and responsibilities.</a:t>
            </a:r>
          </a:p>
          <a:p>
            <a:pPr lvl="1"/>
            <a:r>
              <a:rPr lang="en-GB" u="sng" dirty="0"/>
              <a:t>At least 2 organizations use revolut data i.e. CCR, CRIF yet there is no data governance framework for how that data is managed and who’s accountable by 3</a:t>
            </a:r>
            <a:r>
              <a:rPr lang="en-GB" u="sng" baseline="30000" dirty="0"/>
              <a:t>rd</a:t>
            </a:r>
            <a:r>
              <a:rPr lang="en-GB" u="sng" dirty="0"/>
              <a:t> parties</a:t>
            </a:r>
            <a:r>
              <a:rPr lang="en-GB" dirty="0"/>
              <a:t>. A data governance strategy should be defined and implemented.</a:t>
            </a:r>
          </a:p>
          <a:p>
            <a:pPr marL="514350" indent="-514350">
              <a:buFont typeface="+mj-lt"/>
              <a:buAutoNum type="arabicParenR"/>
            </a:pPr>
            <a:r>
              <a:rPr lang="en-GB" b="1" u="sng" dirty="0"/>
              <a:t>Publication of user and regulator engagements, </a:t>
            </a:r>
            <a:r>
              <a:rPr lang="en-GB" u="sng" dirty="0"/>
              <a:t>statistics, reports, on complaints, resolutions, investigations etc.</a:t>
            </a:r>
          </a:p>
          <a:p>
            <a:pPr marL="514350" indent="-514350">
              <a:buFont typeface="+mj-lt"/>
              <a:buAutoNum type="arabicParenR"/>
            </a:pPr>
            <a:r>
              <a:rPr lang="en-GB" b="1" dirty="0"/>
              <a:t>Right to Challenge</a:t>
            </a:r>
            <a:r>
              <a:rPr lang="en-GB" dirty="0"/>
              <a:t>: </a:t>
            </a:r>
            <a:r>
              <a:rPr lang="en-GB" u="sng" dirty="0"/>
              <a:t>More explicit detail on the right to challenge a decision, and more than a single email address as a point of contact.</a:t>
            </a:r>
          </a:p>
          <a:p>
            <a:pPr marL="514350" indent="-514350">
              <a:buFont typeface="+mj-lt"/>
              <a:buAutoNum type="arabicParenR"/>
            </a:pPr>
            <a:r>
              <a:rPr lang="en-GB" b="1" u="sng" dirty="0"/>
              <a:t>Explainability in the ML algorithm </a:t>
            </a:r>
            <a:r>
              <a:rPr lang="en-GB" u="sng" dirty="0"/>
              <a:t>used in the Loan decision</a:t>
            </a:r>
            <a:r>
              <a:rPr lang="en-GB" dirty="0"/>
              <a:t>. Disclosure of more detail concerning the actual data processed during the Loan making decision and any models used.</a:t>
            </a:r>
          </a:p>
          <a:p>
            <a:pPr marL="514350" indent="-514350">
              <a:buFont typeface="+mj-lt"/>
              <a:buAutoNum type="arabicParenR"/>
            </a:pPr>
            <a:r>
              <a:rPr lang="en-GB" u="sng" dirty="0"/>
              <a:t>More explicit references to </a:t>
            </a:r>
            <a:r>
              <a:rPr lang="en-GB" b="1" u="sng" dirty="0"/>
              <a:t>GDPR</a:t>
            </a:r>
            <a:r>
              <a:rPr lang="en-GB" u="sng" dirty="0"/>
              <a:t>, </a:t>
            </a:r>
            <a:r>
              <a:rPr lang="en-GB" b="1" u="sng" dirty="0"/>
              <a:t>EU AI Act</a:t>
            </a:r>
            <a:r>
              <a:rPr lang="en-GB" u="sng" dirty="0"/>
              <a:t>, </a:t>
            </a:r>
            <a:r>
              <a:rPr lang="en-GB" b="1" u="sng" dirty="0"/>
              <a:t>ePrivacy</a:t>
            </a:r>
            <a:r>
              <a:rPr lang="en-GB" u="sng" dirty="0"/>
              <a:t> laws </a:t>
            </a:r>
            <a:r>
              <a:rPr lang="en-GB" dirty="0"/>
              <a:t>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625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dirty="0"/>
              <a:t>Annual report 2024 (n.d.) from </a:t>
            </a:r>
            <a:r>
              <a:rPr lang="en-GB" u="sng" dirty="0">
                <a:hlinkClick r:id="rId5"/>
              </a:rPr>
              <a:t>https://assets.revolut.com/pdf/annualreport2024.pdf</a:t>
            </a:r>
            <a:r>
              <a:rPr lang="en-GB" dirty="0"/>
              <a:t> </a:t>
            </a:r>
          </a:p>
          <a:p>
            <a:r>
              <a:rPr lang="en-GB" i="1" dirty="0"/>
              <a:t>Automated KYC, AML and PEP Checks</a:t>
            </a:r>
            <a:r>
              <a:rPr lang="en-GB" dirty="0"/>
              <a:t>. (n.d.). Retrieved 1 March 2026, from </a:t>
            </a:r>
            <a:r>
              <a:rPr lang="en-GB" dirty="0">
                <a:hlinkClick r:id="rId6"/>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7"/>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8"/>
              </a:rPr>
              <a:t>https://www.revolut.com/en-IE/legal/conflict-of-interest/</a:t>
            </a:r>
            <a:r>
              <a:rPr lang="en-GB" dirty="0"/>
              <a:t> </a:t>
            </a:r>
          </a:p>
          <a:p>
            <a:r>
              <a:rPr lang="en-GB" i="1" dirty="0"/>
              <a:t>Customer Privacy Notice | Revolut Ireland</a:t>
            </a:r>
            <a:r>
              <a:rPr lang="en-GB" dirty="0"/>
              <a:t>. (n.d.). Retrieved 2 March 2026, from </a:t>
            </a:r>
            <a:r>
              <a:rPr lang="en-GB" dirty="0">
                <a:hlinkClick r:id="rId9"/>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10"/>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1"/>
              </a:rPr>
              <a:t>https://artificialintelligenceact.eu/</a:t>
            </a:r>
            <a:r>
              <a:rPr lang="en-GB" dirty="0"/>
              <a:t> </a:t>
            </a:r>
          </a:p>
          <a:p>
            <a:r>
              <a:rPr lang="en-GB" i="1" dirty="0"/>
              <a:t>European single access point | EUR-Lex</a:t>
            </a:r>
            <a:r>
              <a:rPr lang="en-GB" dirty="0"/>
              <a:t>. (2027, July 10). </a:t>
            </a:r>
            <a:r>
              <a:rPr lang="en-GB" dirty="0">
                <a:hlinkClick r:id="rId12"/>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3"/>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4"/>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5"/>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6"/>
              </a:rPr>
              <a:t>https://www.revolut.com/en-IE/personal-loans/</a:t>
            </a:r>
            <a:r>
              <a:rPr lang="en-GB" dirty="0"/>
              <a:t> </a:t>
            </a:r>
          </a:p>
          <a:p>
            <a:r>
              <a:rPr lang="en-GB" i="1" dirty="0"/>
              <a:t>Sustainability | Revolut United Kingdom</a:t>
            </a:r>
            <a:r>
              <a:rPr lang="en-GB" dirty="0"/>
              <a:t>. (n.d.). Revolut. Retrieved 9 March 2026, from </a:t>
            </a:r>
            <a:r>
              <a:rPr lang="en-GB" dirty="0">
                <a:hlinkClick r:id="rId17"/>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8"/>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AF20-3A4E-B108-894C-3A9CF68F348D}"/>
              </a:ext>
            </a:extLst>
          </p:cNvPr>
          <p:cNvSpPr>
            <a:spLocks noGrp="1"/>
          </p:cNvSpPr>
          <p:nvPr>
            <p:ph type="title"/>
          </p:nvPr>
        </p:nvSpPr>
        <p:spPr>
          <a:xfrm>
            <a:off x="4255420" y="2768600"/>
            <a:ext cx="2572762" cy="1320800"/>
          </a:xfrm>
        </p:spPr>
        <p:txBody>
          <a:bodyPr/>
          <a:lstStyle/>
          <a:p>
            <a:r>
              <a:rPr lang="en-GB" dirty="0"/>
              <a:t>Thank You</a:t>
            </a:r>
          </a:p>
        </p:txBody>
      </p:sp>
    </p:spTree>
    <p:extLst>
      <p:ext uri="{BB962C8B-B14F-4D97-AF65-F5344CB8AC3E}">
        <p14:creationId xmlns:p14="http://schemas.microsoft.com/office/powerpoint/2010/main" val="2192328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4525</TotalTime>
  <Words>4124</Words>
  <Application>Microsoft Office PowerPoint</Application>
  <PresentationFormat>Widescreen</PresentationFormat>
  <Paragraphs>311</Paragraphs>
  <Slides>28</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Calibri Light</vt:lpstr>
      <vt:lpstr>Trebuchet MS</vt:lpstr>
      <vt:lpstr>Wingdings 3</vt:lpstr>
      <vt:lpstr>Facet</vt:lpstr>
      <vt:lpstr>1_Facet</vt:lpstr>
      <vt:lpstr>     Data Management DATA9911 CA1   Student name = eamonn kelly Student number = D24127620 Date = Mar 2026</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Ethical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223</cp:revision>
  <dcterms:created xsi:type="dcterms:W3CDTF">2026-03-09T02:21:30Z</dcterms:created>
  <dcterms:modified xsi:type="dcterms:W3CDTF">2026-03-12T08:28:20Z</dcterms:modified>
</cp:coreProperties>
</file>