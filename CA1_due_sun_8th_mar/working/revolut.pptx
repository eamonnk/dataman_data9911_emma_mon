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8" r:id="rId2"/>
    <p:sldId id="259" r:id="rId3"/>
    <p:sldId id="260" r:id="rId4"/>
    <p:sldId id="256" r:id="rId5"/>
    <p:sldId id="261" r:id="rId6"/>
    <p:sldId id="257" r:id="rId7"/>
    <p:sldId id="264" r:id="rId8"/>
    <p:sldId id="268" r:id="rId9"/>
    <p:sldId id="269" r:id="rId10"/>
    <p:sldId id="270" r:id="rId11"/>
    <p:sldId id="262" r:id="rId12"/>
    <p:sldId id="263" r:id="rId13"/>
    <p:sldId id="272" r:id="rId14"/>
    <p:sldId id="265" r:id="rId15"/>
    <p:sldId id="267" r:id="rId16"/>
    <p:sldId id="275" r:id="rId17"/>
    <p:sldId id="274" r:id="rId18"/>
    <p:sldId id="273" r:id="rId19"/>
    <p:sldId id="276" r:id="rId20"/>
    <p:sldId id="266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073" autoAdjust="0"/>
    <p:restoredTop sz="95274" autoAdjust="0"/>
  </p:normalViewPr>
  <p:slideViewPr>
    <p:cSldViewPr snapToGrid="0">
      <p:cViewPr varScale="1">
        <p:scale>
          <a:sx n="84" d="100"/>
          <a:sy n="84" d="100"/>
        </p:scale>
        <p:origin x="102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4426AD-2966-4B48-9BEB-E96F02492DFC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5FC9EB-517E-4638-8DCB-DA2EAE9F01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6212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dpo@revolut.com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FC9EB-517E-4638-8DCB-DA2EAE9F014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513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Group is exposed to retail credit risk relating from unsecured personal loans, credit cards, and BNPL products across Australia, France, Germany, Ireland,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retail lending non-performing loa debt sales were carried out in Romania, Lithuania, Poland, Spain and Ireland with associated write-off of the transferred exposure.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FC9EB-517E-4638-8DCB-DA2EAE9F014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626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32E24-CF99-6BC6-9F05-2944B6873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0A47D8-F96A-1992-F13D-C99671E15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4C99E-DA3A-F60C-C594-A7112001B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Group is exposed to retail credit risk relating from unsecured personal loans, credit cards, and BNPL products across Australia, France, Germany, Ireland,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retail lending non-performing loan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debt sales were carried out in Romania, Lithuania,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Poland, Spain and Ireland with associated write-off of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transferred exposure.</a:t>
            </a:r>
          </a:p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2ECEB-32B3-30D0-C767-C943DF50B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FC9EB-517E-4638-8DCB-DA2EAE9F014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1505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loan above €500, the lender must access the Central Credit Register (CCR)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CCR does not provide a score capable of summarising their report, nor does it provide a predictive risk assessment of the applicant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pro_le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is available in many other markets where Revolut operates. which allowed to validate its ability to rank incoming applications by expected risk,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agging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credit requests that have a higher probability to end up in arrears.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comparative analysis against the ‘old’ ICB Score was also possible, which showed a high degree of consistency between the two models — something that facilitated adoption from past ICB Score users.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Goal was minimum manual interaction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In the UK the main credit-reference agencies Revolut uses are: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TransUnion (www.transunion.com);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Equifax (www.equifax.com); and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FC9EB-517E-4638-8DCB-DA2EAE9F014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2111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FC9EB-517E-4638-8DCB-DA2EAE9F014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3311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FC9EB-517E-4638-8DCB-DA2EAE9F014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994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hlinkClick r:id="rId3"/>
              </a:rPr>
              <a:t>dpo@revolut.com</a:t>
            </a:r>
            <a:r>
              <a:rPr lang="en-GB" dirty="0"/>
              <a:t>.  Is not a named Individual</a:t>
            </a:r>
          </a:p>
          <a:p>
            <a:r>
              <a:rPr lang="en-GB" dirty="0"/>
              <a:t>https://www.revolut.com/code-of-conduct/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FC9EB-517E-4638-8DCB-DA2EAE9F014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9329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FC9EB-517E-4638-8DCB-DA2EAE9F014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8627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FC9EB-517E-4638-8DCB-DA2EAE9F014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254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FC9EB-517E-4638-8DCB-DA2EAE9F014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56290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FC9EB-517E-4638-8DCB-DA2EAE9F014D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137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1BE3E-1468-39EC-F12C-8B317AEA8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D61201-2BA3-A595-DB79-89E6B74E6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DAF72-1091-9868-B8C2-C147E9F4D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8A0D-19D7-483E-8D3A-5A9966FD8325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9BE6D-659F-A422-47CB-21BD05287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9B283-8D74-10E7-2A12-690BA8725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344D-39BF-46A3-ACFD-CC813BE92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189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77F5E-7D5D-F0DF-8682-D4D19F9D5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8B12A-EED8-78F4-0832-2866B260A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9EE89-74DC-6978-D96D-C90FCE16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8A0D-19D7-483E-8D3A-5A9966FD8325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DD82F-391A-4CB2-A013-1147DA86A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8462F-8A83-0D41-C566-F60814605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344D-39BF-46A3-ACFD-CC813BE92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4385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8F68D-E7CB-AFCE-EC75-C420994F9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10247-ED01-19CE-ACD1-2C4ADFACA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40759-324F-FE88-6F89-78615717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8A0D-19D7-483E-8D3A-5A9966FD8325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6FA63-1453-ED65-5D85-D76E8A70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59EAA-594F-C116-9DD2-B57BEB83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344D-39BF-46A3-ACFD-CC813BE92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391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B07F-D7EF-2DF1-867E-E42D1D540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8401C-BBFB-FDC1-49C9-703D6F498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A78183-6265-8BEE-CC6B-CA8D9694A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4E747-4882-6601-512B-DC899E54A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8A0D-19D7-483E-8D3A-5A9966FD8325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27179-DDC4-E66D-E90A-9CA34ACB1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79586-511E-B3FE-EAFD-5EDEC017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344D-39BF-46A3-ACFD-CC813BE92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522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C4FD6-CB1C-4C2D-BE2F-357DC1CDB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83406-28A2-DF98-4A68-DA4471C11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682AD-B239-9678-D856-B8A1ACCC5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CC1E52-9358-5733-2A1A-4C1F068D26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90DF67-8587-1452-F801-1397C4F8B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F47393-4240-C072-DF4D-980A9D537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8A0D-19D7-483E-8D3A-5A9966FD8325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01C620-5360-6644-DC8C-D54237310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06604C-A3F7-C189-14B3-98B516A0B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344D-39BF-46A3-ACFD-CC813BE92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62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B10C4-13DA-599F-F00D-85016B0CC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D1F2A3-6E1B-9610-DDE0-5A3C7F635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8A0D-19D7-483E-8D3A-5A9966FD8325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874F21-D167-F2D4-C0ED-7201FBC28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FB2D15-223F-8DAF-9D62-B4A6A37BA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344D-39BF-46A3-ACFD-CC813BE92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2040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A07B9C-5E0D-E1BC-117D-EA6131200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8A0D-19D7-483E-8D3A-5A9966FD8325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96680D-1C50-BF70-5615-5B93BBDD2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6F886-9BBB-D547-E218-B96F2C1C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344D-39BF-46A3-ACFD-CC813BE92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112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AA32-E567-FC57-215B-2E40DE639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B9E27-CDA4-DFC1-11F6-43A000B7A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736FCA-D716-A9C5-D852-65FB3B427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32AFF-20FA-585C-53CB-E243DE253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8A0D-19D7-483E-8D3A-5A9966FD8325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4F4E2-618E-62E5-87DD-8EEDB892B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1E7E3-1AAF-DFD9-D038-9DA5815B3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344D-39BF-46A3-ACFD-CC813BE92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3522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FBF67-64A0-2A0C-6922-7C69A702E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4E9571-84B4-A3CB-DB06-76BBF9A231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D6B47-FC76-2BBE-993E-1265D2358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0F864-B726-E23E-F7C9-FCF098DFA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8A0D-19D7-483E-8D3A-5A9966FD8325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19116-6ACC-34B9-95E1-6887B5716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9AD32-043D-7C26-2A9B-CFAD8E398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344D-39BF-46A3-ACFD-CC813BE92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0454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6A652-988D-C700-84BD-C2CA468E6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C241EF-B847-097E-03B2-0536A3C3F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CC980-09A9-E767-5A8D-2FDFFAC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8A0D-19D7-483E-8D3A-5A9966FD8325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CADB6-F691-4D9B-5575-5EE3FDC0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60E7D-7EFF-0E41-E32B-D02259F19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344D-39BF-46A3-ACFD-CC813BE92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0239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B5FF97-8112-05D3-7239-C6C160DF6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6E1A7-3705-01B4-4C02-68BB3F734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C7572-D92D-476D-ED19-2685BF71A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8A0D-19D7-483E-8D3A-5A9966FD8325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9EBDD-9492-0BA0-7A73-A0356A110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F9E6F-2087-DC97-E240-53B70AF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344D-39BF-46A3-ACFD-CC813BE92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824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EFDFC5-2EDE-95EE-EBEF-9165A7DD1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AC84A-FC55-B5CF-FED0-1B91DA992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83415-A08B-964C-3DC8-601EC8650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18A0D-19D7-483E-8D3A-5A9966FD8325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D385-974E-DAE0-F710-B07B807D09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B93DC-9CF9-B45C-789E-163484E849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0344D-39BF-46A3-ACFD-CC813BE92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8284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ssets.revolut.com/pdf/annualreport2024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volut.com/our-culture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revolut.com/legal/privacy/" TargetMode="External"/><Relationship Id="rId4" Type="http://schemas.openxmlformats.org/officeDocument/2006/relationships/hyperlink" Target="https://www.revolut.com/code-of-conduct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volut.com/code-of-conduct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volut.com/code-of-conduct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volut.com/code-of-conduct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hs.gov/ohrp/regulations-and-policy/belmont-report/read-the-belmont-report/index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ccormick.northwestern.edu/research/engineering-education-research-center/documents/events/insight-xiii/ethics-frameworks-and-philosophies-edit.pdf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ico.org.uk/" TargetMode="External"/><Relationship Id="rId2" Type="http://schemas.openxmlformats.org/officeDocument/2006/relationships/hyperlink" Target="https://edpb.europa.eu/about-edpb/about-edpb/members_e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vdai.lrv.lt/en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mailto:dpo@revolut.com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46CD7-10F4-E5F6-04AD-98CA1D6E2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Science Doman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A378C-5B7A-4A72-1578-BD407FC56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398494"/>
            <a:ext cx="11348197" cy="5094381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Fintech – Revolut</a:t>
            </a:r>
          </a:p>
          <a:p>
            <a:pPr lvl="1"/>
            <a:r>
              <a:rPr lang="en-GB" dirty="0"/>
              <a:t>I chose this after looking at other options. It is very relevant and likely to be encountered more and more as brick and mortar banks are reducing their presence or access. </a:t>
            </a:r>
          </a:p>
          <a:p>
            <a:pPr lvl="1"/>
            <a:r>
              <a:rPr lang="en-GB" dirty="0"/>
              <a:t>People are having more and more engagement with companies like these, on-line only,  in a number of areas.</a:t>
            </a:r>
          </a:p>
          <a:p>
            <a:pPr lvl="1"/>
            <a:r>
              <a:rPr lang="en-GB" dirty="0"/>
              <a:t>Consumers requiring faster transactions and approvals for loans. </a:t>
            </a:r>
          </a:p>
          <a:p>
            <a:pPr lvl="1"/>
            <a:r>
              <a:rPr lang="en-GB" dirty="0"/>
              <a:t>This increase in speed required the addition of more automation and the assessment of various amounts of data</a:t>
            </a:r>
          </a:p>
          <a:p>
            <a:pPr lvl="1"/>
            <a:r>
              <a:rPr lang="en-GB" dirty="0"/>
              <a:t>GDPR Personal financial data is present and processed, and needs to be done so quickly and efficiently, without prejudice or bias.</a:t>
            </a:r>
          </a:p>
          <a:p>
            <a:pPr lvl="1"/>
            <a:r>
              <a:rPr lang="en-GB" dirty="0"/>
              <a:t>How can this be achieved whilst providing explainability, transparency and accountability?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5807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A89F9-454A-C033-1387-194855D06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636" y="0"/>
            <a:ext cx="9829800" cy="865935"/>
          </a:xfrm>
        </p:spPr>
        <p:txBody>
          <a:bodyPr/>
          <a:lstStyle/>
          <a:p>
            <a:r>
              <a:rPr lang="en-GB" dirty="0"/>
              <a:t>Revolut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6286F-55E4-9F5B-3EF7-AB6C96C88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6" y="853330"/>
            <a:ext cx="11331387" cy="5776911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2022</a:t>
            </a:r>
          </a:p>
          <a:p>
            <a:pPr lvl="1"/>
            <a:r>
              <a:rPr lang="en-GB" dirty="0"/>
              <a:t>Launched Personal Loans in Ireland, Romania, and the US</a:t>
            </a:r>
          </a:p>
          <a:p>
            <a:r>
              <a:rPr lang="en-GB" dirty="0"/>
              <a:t>2023</a:t>
            </a:r>
          </a:p>
          <a:p>
            <a:pPr lvl="1"/>
            <a:r>
              <a:rPr lang="en-GB" dirty="0"/>
              <a:t>Launched local IBANs in Ireland, Spain and Netherlands, and business IBANs in France and Ireland</a:t>
            </a:r>
          </a:p>
          <a:p>
            <a:pPr lvl="1"/>
            <a:r>
              <a:rPr lang="en-GB" dirty="0"/>
              <a:t>Launched Personal Loans in Spain, Germany and France, and Credit cards in Spain and Ireland</a:t>
            </a:r>
          </a:p>
          <a:p>
            <a:pPr lvl="1"/>
            <a:endParaRPr lang="en-GB" dirty="0"/>
          </a:p>
          <a:p>
            <a:r>
              <a:rPr lang="en-GB" dirty="0"/>
              <a:t>2024</a:t>
            </a:r>
          </a:p>
          <a:p>
            <a:pPr lvl="1"/>
            <a:r>
              <a:rPr lang="en-GB" dirty="0"/>
              <a:t>52.5 million customers held active Revolut personal accounts, marking a 38% increase from the previous year.</a:t>
            </a:r>
          </a:p>
          <a:p>
            <a:pPr lvl="1"/>
            <a:r>
              <a:rPr lang="en-GB" dirty="0"/>
              <a:t>Became most valuable private technology company in Europe at an implied $45B valuation</a:t>
            </a:r>
          </a:p>
          <a:p>
            <a:endParaRPr lang="en-GB" dirty="0"/>
          </a:p>
          <a:p>
            <a:r>
              <a:rPr lang="en-GB" dirty="0"/>
              <a:t>This company and product has an impact on a lot of people and as such good ethical, data protection and privacy aswell as data governance standards are essential</a:t>
            </a:r>
          </a:p>
          <a:p>
            <a:pPr lvl="1"/>
            <a:endParaRPr lang="en-GB" dirty="0"/>
          </a:p>
          <a:p>
            <a:pPr lvl="1"/>
            <a:r>
              <a:rPr lang="en-GB" dirty="0">
                <a:hlinkClick r:id="rId3"/>
              </a:rPr>
              <a:t>https://assets.revolut.com/pdf/annualreport2024.pdf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9280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780B6-D9C6-414C-FD9D-6615B4CE0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46F7C-C50F-04AE-F812-FA9DF243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01" y="181706"/>
            <a:ext cx="9829800" cy="865935"/>
          </a:xfrm>
        </p:spPr>
        <p:txBody>
          <a:bodyPr/>
          <a:lstStyle/>
          <a:p>
            <a:r>
              <a:rPr lang="en-GB" dirty="0"/>
              <a:t>Product  / Service = </a:t>
            </a:r>
            <a:r>
              <a:rPr lang="en-GB" b="1" dirty="0"/>
              <a:t>Revolut Personal Loans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CFE691D-D680-2008-42D6-BCCBAA70A1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4010" y="1135564"/>
            <a:ext cx="1197799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altLang="en-US" sz="2400" dirty="0">
                <a:latin typeface="+mj-lt"/>
                <a:ea typeface="+mj-ea"/>
                <a:cs typeface="+mj-cs"/>
              </a:rPr>
              <a:t>Automated Lending Product  –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altLang="en-US" sz="2400" dirty="0">
                <a:latin typeface="+mj-lt"/>
                <a:ea typeface="+mj-ea"/>
                <a:cs typeface="+mj-cs"/>
              </a:rPr>
              <a:t>Conditions of application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altLang="en-US" sz="2000" dirty="0">
                <a:latin typeface="+mj-lt"/>
                <a:ea typeface="+mj-ea"/>
                <a:cs typeface="+mj-cs"/>
              </a:rPr>
              <a:t>full resident in the Republic of Ireland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altLang="en-US" sz="2000" dirty="0">
                <a:latin typeface="+mj-lt"/>
                <a:ea typeface="+mj-ea"/>
                <a:cs typeface="+mj-cs"/>
              </a:rPr>
              <a:t> at least 18 years old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altLang="en-US" sz="2000" dirty="0">
                <a:latin typeface="+mj-lt"/>
                <a:ea typeface="+mj-ea"/>
                <a:cs typeface="+mj-cs"/>
              </a:rPr>
              <a:t>permanently live in a registered address in Ireland and the address linked to your Revolut account is up-to-date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altLang="en-US" sz="2000" dirty="0">
                <a:latin typeface="+mj-lt"/>
                <a:ea typeface="+mj-ea"/>
                <a:cs typeface="+mj-cs"/>
              </a:rPr>
              <a:t>An </a:t>
            </a:r>
            <a:r>
              <a:rPr lang="en-GB" altLang="en-US" sz="2000" b="1" dirty="0">
                <a:latin typeface="+mj-lt"/>
                <a:ea typeface="+mj-ea"/>
                <a:cs typeface="+mj-cs"/>
              </a:rPr>
              <a:t>active Revolut customer for at least 30 days </a:t>
            </a:r>
            <a:r>
              <a:rPr lang="en-GB" altLang="en-US" sz="2000" dirty="0">
                <a:latin typeface="+mj-lt"/>
                <a:ea typeface="+mj-ea"/>
                <a:cs typeface="+mj-cs"/>
              </a:rPr>
              <a:t>and have no information missing from your account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altLang="en-US" sz="2000" dirty="0">
                <a:latin typeface="+mj-lt"/>
                <a:ea typeface="+mj-ea"/>
                <a:cs typeface="+mj-cs"/>
              </a:rPr>
              <a:t>employed in Ireland and have your income paid directly into your Revolut, AIB, Bank of Ireland, or Permanent TSB account. You'll need to have received at least 3 consecutive months of income payments from the same employer in the linked bank account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altLang="en-US" sz="2000" dirty="0">
                <a:latin typeface="+mj-lt"/>
                <a:ea typeface="+mj-ea"/>
                <a:cs typeface="+mj-cs"/>
              </a:rPr>
              <a:t>Irish or UK mobile phone number linked to your Revolut account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altLang="en-US" sz="2000" dirty="0">
                <a:latin typeface="+mj-lt"/>
                <a:ea typeface="+mj-ea"/>
                <a:cs typeface="+mj-cs"/>
              </a:rPr>
              <a:t>no negative balances in your Revolut account and no overdue commitments to third parties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GB" sz="24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400" dirty="0"/>
              <a:t>You should get a decision within 3 business days.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000" dirty="0"/>
              <a:t>(This contradicts later statement of instantaneous decision – implying there may be a human review, although there is no detail of that)</a:t>
            </a:r>
            <a:endParaRPr lang="en-US" altLang="en-US" sz="20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42632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312353-4E6C-A9EB-BC89-84029EEA4421}"/>
              </a:ext>
            </a:extLst>
          </p:cNvPr>
          <p:cNvSpPr/>
          <p:nvPr/>
        </p:nvSpPr>
        <p:spPr>
          <a:xfrm>
            <a:off x="228780" y="3339613"/>
            <a:ext cx="1417359" cy="2807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1. Customer submits loan  application via banking app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88DC424-FE60-4B52-FAF5-74DA73EE8166}"/>
              </a:ext>
            </a:extLst>
          </p:cNvPr>
          <p:cNvSpPr/>
          <p:nvPr/>
        </p:nvSpPr>
        <p:spPr>
          <a:xfrm rot="20617663">
            <a:off x="3687092" y="3311996"/>
            <a:ext cx="929385" cy="2855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9A79A6-3298-29BA-6FD0-A77C3EC9B6A8}"/>
              </a:ext>
            </a:extLst>
          </p:cNvPr>
          <p:cNvSpPr/>
          <p:nvPr/>
        </p:nvSpPr>
        <p:spPr>
          <a:xfrm>
            <a:off x="6225262" y="2705639"/>
            <a:ext cx="1818193" cy="2912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5. CCR send customer data to CRIF and  CRIF combines it with  their own assessment to provide a probabilistic 3 digit score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B28336-A71D-2C0B-5CC6-B6564DF44C83}"/>
              </a:ext>
            </a:extLst>
          </p:cNvPr>
          <p:cNvSpPr/>
          <p:nvPr/>
        </p:nvSpPr>
        <p:spPr>
          <a:xfrm>
            <a:off x="4486915" y="453681"/>
            <a:ext cx="3534976" cy="1384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4. CCR – current exposure and past repayment history of applicant – no scoring , just a credit history 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FE5979E-B386-BFE0-9FB7-A17A60AF580E}"/>
              </a:ext>
            </a:extLst>
          </p:cNvPr>
          <p:cNvSpPr/>
          <p:nvPr/>
        </p:nvSpPr>
        <p:spPr>
          <a:xfrm rot="16200000">
            <a:off x="5123697" y="1969845"/>
            <a:ext cx="660595" cy="5793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6530455-C862-FF62-AC5B-4AE76422A92B}"/>
              </a:ext>
            </a:extLst>
          </p:cNvPr>
          <p:cNvSpPr/>
          <p:nvPr/>
        </p:nvSpPr>
        <p:spPr>
          <a:xfrm rot="5400000">
            <a:off x="6696217" y="1987300"/>
            <a:ext cx="660597" cy="5793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0C974F-089C-68CF-5211-6AFE54D60AE5}"/>
              </a:ext>
            </a:extLst>
          </p:cNvPr>
          <p:cNvSpPr/>
          <p:nvPr/>
        </p:nvSpPr>
        <p:spPr>
          <a:xfrm>
            <a:off x="9282253" y="2874391"/>
            <a:ext cx="2722341" cy="35570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6. This three digit score allows Revolut’s system to calculate a probability of default instantaneously. --Assume sue of probabilistic ML model Naïve Bayes perhaps.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83A7490-E836-F396-8C9F-214D6F5CFC43}"/>
              </a:ext>
            </a:extLst>
          </p:cNvPr>
          <p:cNvSpPr/>
          <p:nvPr/>
        </p:nvSpPr>
        <p:spPr>
          <a:xfrm rot="1868926">
            <a:off x="8022798" y="3170606"/>
            <a:ext cx="1185211" cy="4943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59E450-C44A-F6A1-D1EA-227A4B17F739}"/>
              </a:ext>
            </a:extLst>
          </p:cNvPr>
          <p:cNvSpPr txBox="1"/>
          <p:nvPr/>
        </p:nvSpPr>
        <p:spPr>
          <a:xfrm>
            <a:off x="8458133" y="2683648"/>
            <a:ext cx="1125047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Via API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2C0A9D7-1841-FC08-D63E-3D368B66A17A}"/>
              </a:ext>
            </a:extLst>
          </p:cNvPr>
          <p:cNvSpPr/>
          <p:nvPr/>
        </p:nvSpPr>
        <p:spPr>
          <a:xfrm flipH="1">
            <a:off x="1900878" y="5653500"/>
            <a:ext cx="7150417" cy="5359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036E6DF-3D67-ABD3-A059-6DB34393A897}"/>
              </a:ext>
            </a:extLst>
          </p:cNvPr>
          <p:cNvSpPr/>
          <p:nvPr/>
        </p:nvSpPr>
        <p:spPr>
          <a:xfrm flipV="1">
            <a:off x="1955843" y="3791112"/>
            <a:ext cx="384867" cy="2228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EC7C01-7699-A3F0-B4AD-FEB6E22A7976}"/>
              </a:ext>
            </a:extLst>
          </p:cNvPr>
          <p:cNvSpPr/>
          <p:nvPr/>
        </p:nvSpPr>
        <p:spPr>
          <a:xfrm>
            <a:off x="2458372" y="2857743"/>
            <a:ext cx="1093915" cy="21325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2. Revolut Internal Checks – as outlined earlier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A14071-96BC-AD0C-DC8D-87097D7DC199}"/>
              </a:ext>
            </a:extLst>
          </p:cNvPr>
          <p:cNvSpPr txBox="1"/>
          <p:nvPr/>
        </p:nvSpPr>
        <p:spPr>
          <a:xfrm>
            <a:off x="1955844" y="1129935"/>
            <a:ext cx="20546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Assume pre-processing checks are done prior to next step but can’t find details of those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039E70-7150-8376-113D-BA8175FE3B75}"/>
              </a:ext>
            </a:extLst>
          </p:cNvPr>
          <p:cNvSpPr txBox="1"/>
          <p:nvPr/>
        </p:nvSpPr>
        <p:spPr>
          <a:xfrm>
            <a:off x="3658412" y="2902356"/>
            <a:ext cx="1125047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Via API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91CF46E-AB3B-ED41-8495-CCBD310AE69B}"/>
              </a:ext>
            </a:extLst>
          </p:cNvPr>
          <p:cNvSpPr/>
          <p:nvPr/>
        </p:nvSpPr>
        <p:spPr>
          <a:xfrm>
            <a:off x="4693906" y="2705639"/>
            <a:ext cx="1391413" cy="29304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3. CRIF send customer data to Central Credit  Rating (CCR) service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7B3DBD-9F11-45A8-1743-AC4FCB036B8F}"/>
              </a:ext>
            </a:extLst>
          </p:cNvPr>
          <p:cNvSpPr txBox="1"/>
          <p:nvPr/>
        </p:nvSpPr>
        <p:spPr>
          <a:xfrm>
            <a:off x="4012197" y="6201487"/>
            <a:ext cx="331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Decision relayed to customer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16B09D-EF89-AB08-E871-51B3FDCA4B0A}"/>
              </a:ext>
            </a:extLst>
          </p:cNvPr>
          <p:cNvSpPr txBox="1"/>
          <p:nvPr/>
        </p:nvSpPr>
        <p:spPr>
          <a:xfrm>
            <a:off x="228779" y="63327"/>
            <a:ext cx="4258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Product Process Flow</a:t>
            </a:r>
          </a:p>
        </p:txBody>
      </p:sp>
    </p:spTree>
    <p:extLst>
      <p:ext uri="{BB962C8B-B14F-4D97-AF65-F5344CB8AC3E}">
        <p14:creationId xmlns:p14="http://schemas.microsoft.com/office/powerpoint/2010/main" val="1255767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23678-97E2-3997-725A-4EAAEDF9E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5306" y="3059083"/>
            <a:ext cx="2004753" cy="1198952"/>
          </a:xfrm>
        </p:spPr>
        <p:txBody>
          <a:bodyPr/>
          <a:lstStyle/>
          <a:p>
            <a:r>
              <a:rPr lang="en-GB" dirty="0"/>
              <a:t>Ethics</a:t>
            </a:r>
          </a:p>
        </p:txBody>
      </p:sp>
    </p:spTree>
    <p:extLst>
      <p:ext uri="{BB962C8B-B14F-4D97-AF65-F5344CB8AC3E}">
        <p14:creationId xmlns:p14="http://schemas.microsoft.com/office/powerpoint/2010/main" val="569097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20E98-9DA7-A213-1C37-D0C65EF37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Ethical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3F92F-F45C-1BD1-0172-816EAF26C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is no Ethical framework referenced or available. </a:t>
            </a:r>
          </a:p>
          <a:p>
            <a:r>
              <a:rPr lang="en-GB" dirty="0"/>
              <a:t>All ethics are inferred from other documentation.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9124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519CE-A7D4-9CE1-EEF8-665B6CDB0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101687"/>
            <a:ext cx="10515600" cy="1325563"/>
          </a:xfrm>
        </p:spPr>
        <p:txBody>
          <a:bodyPr/>
          <a:lstStyle/>
          <a:p>
            <a:r>
              <a:rPr lang="en-GB" dirty="0"/>
              <a:t>Culture : 5 Values  - 1 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23E12-EE59-A532-D58F-C216B7806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68538"/>
            <a:ext cx="10515600" cy="723814"/>
          </a:xfrm>
        </p:spPr>
        <p:txBody>
          <a:bodyPr>
            <a:normAutofit fontScale="77500" lnSpcReduction="20000"/>
          </a:bodyPr>
          <a:lstStyle/>
          <a:p>
            <a:r>
              <a:rPr lang="en-GB" dirty="0">
                <a:hlinkClick r:id="rId3"/>
              </a:rPr>
              <a:t>https://www.revolut.com/our-culture/</a:t>
            </a:r>
            <a:r>
              <a:rPr lang="en-GB" dirty="0"/>
              <a:t> </a:t>
            </a:r>
            <a:r>
              <a:rPr lang="en-GB" dirty="0">
                <a:hlinkClick r:id="rId4"/>
              </a:rPr>
              <a:t>https://www.revolut.com/code-of-conduct/</a:t>
            </a:r>
            <a:r>
              <a:rPr lang="en-GB" dirty="0"/>
              <a:t> </a:t>
            </a:r>
          </a:p>
          <a:p>
            <a:r>
              <a:rPr lang="en-GB" dirty="0">
                <a:hlinkClick r:id="rId5"/>
              </a:rPr>
              <a:t>https://www.revolut.com/legal/privacy/</a:t>
            </a:r>
            <a:r>
              <a:rPr lang="en-GB" dirty="0"/>
              <a:t>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688F59-4AD9-F21B-A0C9-B583E366E86B}"/>
              </a:ext>
            </a:extLst>
          </p:cNvPr>
          <p:cNvSpPr txBox="1">
            <a:spLocks/>
          </p:cNvSpPr>
          <p:nvPr/>
        </p:nvSpPr>
        <p:spPr>
          <a:xfrm>
            <a:off x="182881" y="1205042"/>
            <a:ext cx="10515600" cy="2619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GB" dirty="0"/>
              <a:t>Never Settle – strive for excellence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Dream team – be brilliant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Thin Deeper – Logic, reason and common sense prevail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Get it Done – we care about results, results </a:t>
            </a:r>
            <a:r>
              <a:rPr lang="en-GB" dirty="0" err="1"/>
              <a:t>ortienated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Deliver WOW – build great products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B03F79-1BAF-D897-7C9D-DC3141903A05}"/>
              </a:ext>
            </a:extLst>
          </p:cNvPr>
          <p:cNvSpPr txBox="1">
            <a:spLocks/>
          </p:cNvSpPr>
          <p:nvPr/>
        </p:nvSpPr>
        <p:spPr>
          <a:xfrm>
            <a:off x="0" y="3824158"/>
            <a:ext cx="11820698" cy="214437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These are workforce performance values, and while not ethical in nature give an insight into what the prevailing work culture emphasises, which </a:t>
            </a:r>
            <a:r>
              <a:rPr lang="en-GB" dirty="0" err="1"/>
              <a:t>ometimes</a:t>
            </a:r>
            <a:r>
              <a:rPr lang="en-GB" dirty="0"/>
              <a:t> can e counter to what is listed as customer values, </a:t>
            </a:r>
          </a:p>
          <a:p>
            <a:pPr lvl="1"/>
            <a:r>
              <a:rPr lang="en-GB" dirty="0"/>
              <a:t>E.g. if shareholders are the primary driver pf policy is there a potential conflict of interest in complying with customer protections whilst also maximising profit and customer numbers.</a:t>
            </a:r>
          </a:p>
        </p:txBody>
      </p:sp>
    </p:spTree>
    <p:extLst>
      <p:ext uri="{BB962C8B-B14F-4D97-AF65-F5344CB8AC3E}">
        <p14:creationId xmlns:p14="http://schemas.microsoft.com/office/powerpoint/2010/main" val="222631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7F48B-CF70-A96E-1599-209D2F849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182" y="0"/>
            <a:ext cx="10515599" cy="1025670"/>
          </a:xfrm>
        </p:spPr>
        <p:txBody>
          <a:bodyPr/>
          <a:lstStyle/>
          <a:p>
            <a:r>
              <a:rPr lang="en-GB" dirty="0"/>
              <a:t>Regulator engagement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72FC52-D62E-C590-B2CB-6320C961C9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4182" y="1241801"/>
            <a:ext cx="10799617" cy="538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 with integrity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 to deliver good consumer outcomes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 with due skill, care and diligence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 open and co-operative with regulators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Observe proper standards of market conduct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There is no mention of how they ensure this takes place.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No available metrics from customers or regulator queries, complaints or investigations </a:t>
            </a:r>
            <a:r>
              <a:rPr lang="en-US" altLang="en-US" dirty="0" err="1">
                <a:latin typeface="Arial" panose="020B0604020202020204" pitchFamily="34" charset="0"/>
              </a:rPr>
              <a:t>etc</a:t>
            </a:r>
            <a:r>
              <a:rPr lang="en-US" altLang="en-US" dirty="0">
                <a:latin typeface="Arial" panose="020B0604020202020204" pitchFamily="34" charset="0"/>
              </a:rPr>
              <a:t> that are available to provide support for such statements. These should be made available.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https://www.revolut.com/code-of-conduct/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846309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98418-3675-8B4F-EE69-41D45387C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0"/>
            <a:ext cx="10515600" cy="723476"/>
          </a:xfrm>
        </p:spPr>
        <p:txBody>
          <a:bodyPr/>
          <a:lstStyle/>
          <a:p>
            <a:r>
              <a:rPr lang="en-GB" dirty="0"/>
              <a:t>Risk Management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944EDD-297E-91DF-8F9B-3A748F042C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3345" y="1032351"/>
            <a:ext cx="11305309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have the skills and knowledge to perform our roles competently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understand the compliance rules and laws that apply to us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drive responsible and sustainable growth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don’t sacrifice quality for speed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make sure all staff complete mandatory training modules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States they understand the compliance rules and laws that apply but not explicitly that the ensure stringent adherence</a:t>
            </a:r>
            <a:r>
              <a:rPr lang="en-US" altLang="en-US" sz="2000" dirty="0">
                <a:latin typeface="Arial" panose="020B0604020202020204" pitchFamily="34" charset="0"/>
              </a:rPr>
              <a:t>. The language is weak in that regards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listing of what training they refer to, if </a:t>
            </a:r>
            <a:r>
              <a:rPr lang="en-US" altLang="en-US" sz="2000" dirty="0">
                <a:latin typeface="Arial" panose="020B0604020202020204" pitchFamily="34" charset="0"/>
              </a:rPr>
              <a:t>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in-house or externally qualified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sacrificing quality for speed, however the Loan service process is specifically designed for sp</a:t>
            </a:r>
            <a:r>
              <a:rPr lang="en-US" altLang="en-US" sz="2000" dirty="0">
                <a:latin typeface="Arial" panose="020B0604020202020204" pitchFamily="34" charset="0"/>
              </a:rPr>
              <a:t>eed, there is a potential for conflict of interest in the conflicting stated objectives.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https://www.revolut.com/code-of-conduct/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8598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E79F6-5791-E49F-AA84-F2B9C97F5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 Making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8E102-AC74-F537-B920-9B686CD80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Customer Outcome</a:t>
            </a:r>
          </a:p>
          <a:p>
            <a:pPr lvl="1"/>
            <a:r>
              <a:rPr lang="en-GB" dirty="0"/>
              <a:t>Will the customer receive good outcomes based on the decision I've made?</a:t>
            </a:r>
          </a:p>
          <a:p>
            <a:r>
              <a:rPr lang="en-GB" dirty="0"/>
              <a:t>Honesty and integrity</a:t>
            </a:r>
          </a:p>
          <a:p>
            <a:pPr lvl="1"/>
            <a:r>
              <a:rPr lang="en-GB" dirty="0"/>
              <a:t>Would I feel proud of my decision if it were reported on the news?</a:t>
            </a:r>
          </a:p>
          <a:p>
            <a:r>
              <a:rPr lang="en-GB" dirty="0"/>
              <a:t>Compliance with laws, regulations and policies</a:t>
            </a:r>
          </a:p>
          <a:p>
            <a:pPr lvl="1"/>
            <a:r>
              <a:rPr lang="en-GB" dirty="0"/>
              <a:t>Do my actions comply with all regulatory and legal requirements?</a:t>
            </a:r>
          </a:p>
          <a:p>
            <a:r>
              <a:rPr lang="en-GB" dirty="0"/>
              <a:t>Long-term vision</a:t>
            </a:r>
          </a:p>
          <a:p>
            <a:pPr lvl="1"/>
            <a:r>
              <a:rPr lang="en-GB" dirty="0"/>
              <a:t>Will this decision still seem like a good idea five years from now?</a:t>
            </a:r>
          </a:p>
          <a:p>
            <a:pPr lvl="1"/>
            <a:endParaRPr lang="en-GB" dirty="0"/>
          </a:p>
          <a:p>
            <a:r>
              <a:rPr lang="en-GB" sz="2600" dirty="0"/>
              <a:t>There is a </a:t>
            </a:r>
            <a:r>
              <a:rPr lang="en-GB" sz="2600" dirty="0" err="1"/>
              <a:t>conflilcting</a:t>
            </a:r>
            <a:r>
              <a:rPr lang="en-GB" sz="2600" dirty="0"/>
              <a:t> statement concerning pride in the decision making principle, given a ML algorithm is making the decision on the Loan Product, or perhaps there is more human oversight than we are led to believe? This needs clarity.</a:t>
            </a:r>
          </a:p>
          <a:p>
            <a:r>
              <a:rPr lang="en-GB" sz="2600" dirty="0"/>
              <a:t>No reference of explainability at all in the </a:t>
            </a:r>
            <a:r>
              <a:rPr lang="en-GB" sz="2600" dirty="0" err="1"/>
              <a:t>prrceeding</a:t>
            </a:r>
            <a:r>
              <a:rPr lang="en-GB" sz="2600" dirty="0"/>
              <a:t> values and principles also denies a customer of their rights to query any refusal decision.</a:t>
            </a:r>
          </a:p>
          <a:p>
            <a:r>
              <a:rPr lang="en-GB" dirty="0">
                <a:hlinkClick r:id="rId2"/>
              </a:rPr>
              <a:t>https://www.revolut.com/code-of-conduct/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8089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111C6-BB86-F3DC-6135-3F8E89C0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/>
              <a:t>Ethical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07979-AD1C-F147-34E4-DDAAD8A1C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330" y="1165860"/>
            <a:ext cx="11333365" cy="5463540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en-GB" dirty="0"/>
              <a:t>Deontology</a:t>
            </a:r>
          </a:p>
          <a:p>
            <a:pPr lvl="1"/>
            <a:r>
              <a:rPr lang="en-GB" dirty="0"/>
              <a:t>There is no deontological aspect i.e. focussing on the actions not the outcome to determine right or wrong.</a:t>
            </a:r>
          </a:p>
          <a:p>
            <a:pPr lvl="0"/>
            <a:r>
              <a:rPr lang="en-GB" dirty="0"/>
              <a:t>Consequentialism</a:t>
            </a:r>
          </a:p>
          <a:p>
            <a:pPr lvl="1"/>
            <a:r>
              <a:rPr lang="en-GB" dirty="0"/>
              <a:t>Rightness or wrongness judged by the outcomes. There is an element of consequentialism in the product, </a:t>
            </a:r>
          </a:p>
          <a:p>
            <a:pPr lvl="1"/>
            <a:r>
              <a:rPr lang="en-GB" dirty="0"/>
              <a:t>Rightness and wrongness as defined by who, shareholders or customers?</a:t>
            </a:r>
          </a:p>
          <a:p>
            <a:pPr lvl="0"/>
            <a:r>
              <a:rPr lang="en-GB" dirty="0"/>
              <a:t>Bias</a:t>
            </a:r>
          </a:p>
          <a:p>
            <a:pPr lvl="1"/>
            <a:r>
              <a:rPr lang="en-GB" dirty="0"/>
              <a:t>As a ML model is used, can we be certain that the training data contain no bias?</a:t>
            </a:r>
          </a:p>
          <a:p>
            <a:pPr lvl="1"/>
            <a:r>
              <a:rPr lang="en-GB" dirty="0"/>
              <a:t>Was a representative sample population used in training the model?</a:t>
            </a:r>
          </a:p>
          <a:p>
            <a:pPr lvl="1"/>
            <a:r>
              <a:rPr lang="en-GB" dirty="0"/>
              <a:t>Are data scientists free to collect sufficient representative data?</a:t>
            </a:r>
          </a:p>
          <a:p>
            <a:pPr lvl="0"/>
            <a:r>
              <a:rPr lang="en-GB" dirty="0"/>
              <a:t>Principle </a:t>
            </a:r>
            <a:r>
              <a:rPr lang="en-GB" sz="2700" dirty="0"/>
              <a:t>Ethics List as given by </a:t>
            </a:r>
            <a:r>
              <a:rPr lang="en-GB" sz="2700" dirty="0" err="1"/>
              <a:t>Subbian</a:t>
            </a:r>
            <a:r>
              <a:rPr lang="en-GB" sz="2700" dirty="0"/>
              <a:t> et al. ASEE 2022 (based off the Belmont principles for </a:t>
            </a:r>
            <a:r>
              <a:rPr lang="en-GB" sz="2700" dirty="0" err="1"/>
              <a:t>medicial</a:t>
            </a:r>
            <a:r>
              <a:rPr lang="en-GB" sz="2700" dirty="0"/>
              <a:t> research)</a:t>
            </a:r>
          </a:p>
          <a:p>
            <a:pPr lvl="1"/>
            <a:r>
              <a:rPr lang="en-GB" dirty="0"/>
              <a:t>Beneficence - Do no harm + maximise the benefits – perhaps for a majority it will benefit but risk of bias in ML, and lack of explainability may disadvantage minorities</a:t>
            </a:r>
          </a:p>
          <a:p>
            <a:pPr lvl="1"/>
            <a:r>
              <a:rPr lang="en-GB" dirty="0"/>
              <a:t>Nonmaleficence – avoiding actions causing harm and preventing harm – lack of explicit to challenge decisions  may actually cause harm</a:t>
            </a:r>
          </a:p>
          <a:p>
            <a:pPr lvl="1"/>
            <a:r>
              <a:rPr lang="en-GB" dirty="0"/>
              <a:t>Autonomy – freedom to make decisions on your on behalf – contradictory given the use of ML in the Loan Product</a:t>
            </a:r>
          </a:p>
          <a:p>
            <a:pPr lvl="1"/>
            <a:r>
              <a:rPr lang="en-GB" dirty="0"/>
              <a:t>Justice - Fair and equitable treatment of people – no explicit reference to fairness or justice</a:t>
            </a:r>
          </a:p>
          <a:p>
            <a:pPr lvl="1"/>
            <a:r>
              <a:rPr lang="en-GB" dirty="0"/>
              <a:t>Fidelity  - Honouring commitments – there is no reference to this</a:t>
            </a:r>
          </a:p>
          <a:p>
            <a:pPr lvl="1"/>
            <a:r>
              <a:rPr lang="en-GB" dirty="0"/>
              <a:t>Veracity – being honest – there is explicit reference to this.</a:t>
            </a:r>
          </a:p>
          <a:p>
            <a:r>
              <a:rPr lang="en-GB" dirty="0"/>
              <a:t>Virtue Ethics</a:t>
            </a:r>
          </a:p>
          <a:p>
            <a:pPr lvl="1"/>
            <a:r>
              <a:rPr lang="en-GB" dirty="0"/>
              <a:t>There is a mention of Honesty and Integrity in their decision making principles, so there is an element of virtue ethics</a:t>
            </a:r>
          </a:p>
          <a:p>
            <a:r>
              <a:rPr lang="en-GB" dirty="0">
                <a:hlinkClick r:id="rId3"/>
              </a:rPr>
              <a:t>https://www.hhs.gov/ohrp/regulations-and-policy/belmont-report/read-the-belmont-report/index.html</a:t>
            </a:r>
            <a:r>
              <a:rPr lang="en-GB" dirty="0"/>
              <a:t> </a:t>
            </a:r>
          </a:p>
          <a:p>
            <a:r>
              <a:rPr lang="en-US" u="sng" dirty="0">
                <a:hlinkClick r:id="rId4"/>
              </a:rPr>
              <a:t>https://www.mccormick.northwestern.edu/research/engineering-education-research-center/documents/events/insight-xiii/ethics-frameworks-and-philosophies-edit.pdf</a:t>
            </a:r>
            <a:r>
              <a:rPr lang="en-US" dirty="0"/>
              <a:t>   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4047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2DEA3-966E-B91B-0F83-9B88ECB40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287" y="70338"/>
            <a:ext cx="4793840" cy="623701"/>
          </a:xfrm>
        </p:spPr>
        <p:txBody>
          <a:bodyPr>
            <a:normAutofit fontScale="90000"/>
          </a:bodyPr>
          <a:lstStyle/>
          <a:p>
            <a:r>
              <a:rPr lang="en-GB" dirty="0"/>
              <a:t>First principles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936CC6-B3C9-D6BA-00E4-5EDFE38F65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9461416"/>
              </p:ext>
            </p:extLst>
          </p:nvPr>
        </p:nvGraphicFramePr>
        <p:xfrm>
          <a:off x="220287" y="694039"/>
          <a:ext cx="11751425" cy="6103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3815">
                  <a:extLst>
                    <a:ext uri="{9D8B030D-6E8A-4147-A177-3AD203B41FA5}">
                      <a16:colId xmlns:a16="http://schemas.microsoft.com/office/drawing/2014/main" val="3674473931"/>
                    </a:ext>
                  </a:extLst>
                </a:gridCol>
                <a:gridCol w="4804436">
                  <a:extLst>
                    <a:ext uri="{9D8B030D-6E8A-4147-A177-3AD203B41FA5}">
                      <a16:colId xmlns:a16="http://schemas.microsoft.com/office/drawing/2014/main" val="320933149"/>
                    </a:ext>
                  </a:extLst>
                </a:gridCol>
                <a:gridCol w="3443174">
                  <a:extLst>
                    <a:ext uri="{9D8B030D-6E8A-4147-A177-3AD203B41FA5}">
                      <a16:colId xmlns:a16="http://schemas.microsoft.com/office/drawing/2014/main" val="2257108850"/>
                    </a:ext>
                  </a:extLst>
                </a:gridCol>
              </a:tblGrid>
              <a:tr h="8584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2800" kern="100" dirty="0">
                          <a:effectLst/>
                        </a:rPr>
                        <a:t>What is the outcome</a:t>
                      </a:r>
                      <a:endParaRPr lang="en-GB" sz="28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n-GB" sz="28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n-GB" sz="28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564072"/>
                  </a:ext>
                </a:extLst>
              </a:tr>
              <a:tr h="123474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﻿Does it preserve or enhance human dignity? </a:t>
                      </a:r>
                      <a:endParaRPr lang="en-GB" sz="16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GB" sz="1600" kern="1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It is providing access to funding which is essential in a modern society to allow economic and personal growth. In that sense yes.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GB" sz="1600" kern="1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If there is rejection of Loan application du to inherent bias in a ML model, than it may not.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576995"/>
                  </a:ext>
                </a:extLst>
              </a:tr>
              <a:tr h="18968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Does it preserve the autonomy of the human? </a:t>
                      </a:r>
                      <a:endParaRPr lang="en-GB" sz="16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kern="1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Once the user and give Free and Informed consent, Also explicitly states a user does have a right to opt out of solely automated decisions under GDPR regulations, that significantly affects them and ask for a manual review. Of the decision.</a:t>
                      </a:r>
                    </a:p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GB" sz="16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kern="1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However, also says “</a:t>
                      </a:r>
                      <a:r>
                        <a:rPr lang="en-GB" sz="1600" dirty="0"/>
                        <a:t>Sometimes, we won’t be able to agree to your request (for example, if we have a legitimate reason for not doing so or the right does not apply to the particular information we hold about you.” which is contradictory</a:t>
                      </a:r>
                      <a:endParaRPr lang="en-GB" sz="16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050475"/>
                  </a:ext>
                </a:extLst>
              </a:tr>
              <a:tr h="12451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Is the processing necessary and proportionate?</a:t>
                      </a:r>
                      <a:endParaRPr lang="en-GB" sz="16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GB" sz="1600" kern="1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This is open to question.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GB" sz="1600" kern="1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Lack of disclosure of the decision making process and data used means we can not confidently answer this at this time.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453588"/>
                  </a:ext>
                </a:extLst>
              </a:tr>
              <a:tr h="8584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Does it uphold the common good?</a:t>
                      </a:r>
                      <a:endParaRPr lang="en-GB" sz="16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GB" sz="1600" kern="1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Yes, once there is no discrimination and there is explainability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GB" sz="16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463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3155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CFF76-A4E0-0CB5-5A99-1CF80E8AD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9032" y="2709746"/>
            <a:ext cx="1948676" cy="1021615"/>
          </a:xfrm>
        </p:spPr>
        <p:txBody>
          <a:bodyPr/>
          <a:lstStyle/>
          <a:p>
            <a:r>
              <a:rPr lang="en-GB" dirty="0"/>
              <a:t>Privacy</a:t>
            </a:r>
          </a:p>
        </p:txBody>
      </p:sp>
    </p:spTree>
    <p:extLst>
      <p:ext uri="{BB962C8B-B14F-4D97-AF65-F5344CB8AC3E}">
        <p14:creationId xmlns:p14="http://schemas.microsoft.com/office/powerpoint/2010/main" val="1056208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F8856-8083-7D92-B82D-17C8FB0B9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Revolut Privacy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84F4A-C660-38E2-39B8-315109969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579" y="1605706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Commitment </a:t>
            </a:r>
          </a:p>
          <a:p>
            <a:pPr lvl="1"/>
            <a:r>
              <a:rPr lang="en-GB" dirty="0"/>
              <a:t>always keep your personal data safe and private</a:t>
            </a:r>
          </a:p>
          <a:p>
            <a:pPr lvl="1"/>
            <a:r>
              <a:rPr lang="en-GB" dirty="0"/>
              <a:t>never sell your personal data</a:t>
            </a:r>
          </a:p>
          <a:p>
            <a:pPr lvl="1"/>
            <a:r>
              <a:rPr lang="en-GB" dirty="0"/>
              <a:t>allow you to manage and review your marketing choices at any time</a:t>
            </a:r>
          </a:p>
          <a:p>
            <a:endParaRPr lang="en-GB" dirty="0"/>
          </a:p>
          <a:p>
            <a:r>
              <a:rPr lang="en-GB" dirty="0"/>
              <a:t>We may also collect your personal data from other people or companies.</a:t>
            </a:r>
          </a:p>
          <a:p>
            <a:r>
              <a:rPr lang="en-GB" dirty="0"/>
              <a:t>if you are in the European Economic Area (EEA), Revolut Bank UAB is the primary </a:t>
            </a:r>
            <a:r>
              <a:rPr lang="en-GB" b="1" dirty="0"/>
              <a:t>controller</a:t>
            </a:r>
            <a:r>
              <a:rPr lang="en-GB" dirty="0"/>
              <a:t> of your personal data even if you are receiving services from one of its branches</a:t>
            </a:r>
          </a:p>
          <a:p>
            <a:r>
              <a:rPr lang="en-GB" dirty="0"/>
              <a:t>if you are in the United Kingdom, Revolut Ltd is the primary controller of your personal data</a:t>
            </a:r>
          </a:p>
          <a:p>
            <a:endParaRPr lang="en-GB" dirty="0"/>
          </a:p>
          <a:p>
            <a:r>
              <a:rPr lang="en-GB" dirty="0"/>
              <a:t>Revolut Bank UAB is locate din Lithuania, this means Irish customer data is controlled via Lithuania. His may have implications for queries, complaints and investigations.</a:t>
            </a:r>
          </a:p>
        </p:txBody>
      </p:sp>
    </p:spTree>
    <p:extLst>
      <p:ext uri="{BB962C8B-B14F-4D97-AF65-F5344CB8AC3E}">
        <p14:creationId xmlns:p14="http://schemas.microsoft.com/office/powerpoint/2010/main" val="3621907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7A5F2-F8ED-7B8B-8CA1-25A61D688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3918"/>
          </a:xfrm>
        </p:spPr>
        <p:txBody>
          <a:bodyPr/>
          <a:lstStyle/>
          <a:p>
            <a:r>
              <a:rPr lang="en-GB" dirty="0"/>
              <a:t>Data Collected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FE8F9-56C0-3A7F-741E-C8BF8E2F8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137" y="1504709"/>
            <a:ext cx="10867663" cy="4672254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Personal Data they collect</a:t>
            </a:r>
          </a:p>
          <a:p>
            <a:pPr lvl="1"/>
            <a:r>
              <a:rPr lang="en-GB" dirty="0"/>
              <a:t>Information you give Revolut</a:t>
            </a:r>
          </a:p>
          <a:p>
            <a:pPr lvl="1"/>
            <a:r>
              <a:rPr lang="en-GB" dirty="0"/>
              <a:t>Information from use of revolut products or services</a:t>
            </a:r>
          </a:p>
          <a:p>
            <a:pPr lvl="1"/>
            <a:r>
              <a:rPr lang="en-GB" dirty="0"/>
              <a:t>Information abuot location</a:t>
            </a:r>
          </a:p>
          <a:p>
            <a:pPr lvl="1"/>
            <a:r>
              <a:rPr lang="en-GB" dirty="0"/>
              <a:t>Information from others</a:t>
            </a:r>
          </a:p>
          <a:p>
            <a:pPr lvl="1"/>
            <a:r>
              <a:rPr lang="en-GB" dirty="0"/>
              <a:t>Information from social media – due diligence checks</a:t>
            </a:r>
          </a:p>
          <a:p>
            <a:pPr lvl="1"/>
            <a:r>
              <a:rPr lang="en-GB" dirty="0"/>
              <a:t>Information from publicly available sources – media stores, directories, websites due diligence , KYC checks</a:t>
            </a:r>
          </a:p>
          <a:p>
            <a:endParaRPr lang="en-GB" dirty="0"/>
          </a:p>
          <a:p>
            <a:r>
              <a:rPr lang="en-GB" dirty="0"/>
              <a:t>Specific privacy notices for services, outlining what data the take</a:t>
            </a:r>
          </a:p>
          <a:p>
            <a:pPr lvl="1"/>
            <a:r>
              <a:rPr lang="en-GB" dirty="0"/>
              <a:t>Revolut Messenger</a:t>
            </a:r>
          </a:p>
          <a:p>
            <a:pPr lvl="1"/>
            <a:r>
              <a:rPr lang="en-GB" dirty="0"/>
              <a:t>Pay Checkout</a:t>
            </a:r>
          </a:p>
          <a:p>
            <a:pPr lvl="1"/>
            <a:r>
              <a:rPr lang="en-GB" dirty="0"/>
              <a:t>Revolut  &lt;18</a:t>
            </a:r>
          </a:p>
          <a:p>
            <a:pPr lvl="1"/>
            <a:r>
              <a:rPr lang="en-GB" dirty="0"/>
              <a:t>Tailored Ads</a:t>
            </a:r>
          </a:p>
          <a:p>
            <a:pPr lvl="1"/>
            <a:endParaRPr lang="en-GB" dirty="0"/>
          </a:p>
          <a:p>
            <a:r>
              <a:rPr lang="en-GB" dirty="0"/>
              <a:t>Use of revolut products data is used in the Loan application</a:t>
            </a:r>
          </a:p>
        </p:txBody>
      </p:sp>
    </p:spTree>
    <p:extLst>
      <p:ext uri="{BB962C8B-B14F-4D97-AF65-F5344CB8AC3E}">
        <p14:creationId xmlns:p14="http://schemas.microsoft.com/office/powerpoint/2010/main" val="4080965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EB600-8B7D-D455-DE4C-EC87B3436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Redress and complaint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3A1C6-A38A-A055-988B-6CC9FB787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2200" dirty="0"/>
              <a:t>When you exercise one of your rights, or update your privacy settings in the Revolut app, it may take us up to one month to respond or implement your changes. </a:t>
            </a:r>
          </a:p>
          <a:p>
            <a:r>
              <a:rPr lang="en-GB" sz="2200" dirty="0"/>
              <a:t>Revolut will usually not charge you a fee when you exercise your rights. However, we’re allowed by law to charge a reasonable fee or refuse to act on your request if it is manifestly unfounded or excessive.</a:t>
            </a:r>
          </a:p>
          <a:p>
            <a:r>
              <a:rPr lang="en-GB" sz="2200" dirty="0"/>
              <a:t>If you’re unhappy with how we’ve handled your request you can complain to your </a:t>
            </a:r>
            <a:r>
              <a:rPr lang="en-GB" sz="2200" dirty="0">
                <a:hlinkClick r:id="rId2"/>
              </a:rPr>
              <a:t>local data protection authority</a:t>
            </a:r>
            <a:r>
              <a:rPr lang="en-GB" sz="2200" dirty="0"/>
              <a:t>. In the United Kingdom, this is the Information Commissioner’s Office (</a:t>
            </a:r>
            <a:r>
              <a:rPr lang="en-GB" sz="2200" dirty="0">
                <a:hlinkClick r:id="rId3"/>
              </a:rPr>
              <a:t>website</a:t>
            </a:r>
            <a:r>
              <a:rPr lang="en-GB" sz="2200" dirty="0"/>
              <a:t>). In the European Economic Area, our cross-border data protection authority is the Lithuanian State Data Protection Inspectorate (</a:t>
            </a:r>
            <a:r>
              <a:rPr lang="en-GB" sz="2200" dirty="0">
                <a:hlinkClick r:id="rId4"/>
              </a:rPr>
              <a:t>website</a:t>
            </a:r>
            <a:r>
              <a:rPr lang="en-GB" sz="2200" dirty="0"/>
              <a:t>)</a:t>
            </a:r>
          </a:p>
          <a:p>
            <a:endParaRPr lang="en-GB" dirty="0"/>
          </a:p>
          <a:p>
            <a:r>
              <a:rPr lang="en-GB" dirty="0"/>
              <a:t>Directing users in the EU to an institution in Lithuania may make engaging with the service more difficult than a local service and may put up barriers to doing so.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3211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75FE-3438-D63E-1384-55ACC602E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Cookies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5B15A-7EAC-F669-0826-40AD429AA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Most of the cookies they use on their website are 'persistent' cookies</a:t>
            </a:r>
          </a:p>
          <a:p>
            <a:r>
              <a:rPr lang="en-GB" dirty="0"/>
              <a:t>3</a:t>
            </a:r>
            <a:r>
              <a:rPr lang="en-GB" baseline="30000" dirty="0"/>
              <a:t>rd</a:t>
            </a:r>
            <a:r>
              <a:rPr lang="en-GB" dirty="0"/>
              <a:t> Party Cookies they use</a:t>
            </a:r>
          </a:p>
          <a:p>
            <a:pPr lvl="1"/>
            <a:r>
              <a:rPr lang="en-GB" dirty="0"/>
              <a:t>Google ads, Google Analytics, TV squared pixels, </a:t>
            </a:r>
            <a:r>
              <a:rPr lang="en-GB" dirty="0" err="1"/>
              <a:t>Appsflyer,Microsoft</a:t>
            </a:r>
            <a:r>
              <a:rPr lang="en-GB" dirty="0"/>
              <a:t> Ads Pixel, Reddit Pixel, </a:t>
            </a:r>
            <a:r>
              <a:rPr lang="en-GB" dirty="0" err="1"/>
              <a:t>Tiktok</a:t>
            </a:r>
            <a:r>
              <a:rPr lang="en-GB" dirty="0"/>
              <a:t> pixel, Meta pixel, X (formerly twitter) pixel, </a:t>
            </a:r>
            <a:r>
              <a:rPr lang="en-GB" dirty="0" err="1"/>
              <a:t>InkedIn</a:t>
            </a:r>
            <a:r>
              <a:rPr lang="en-GB" dirty="0"/>
              <a:t> Insights tag, Vimeo</a:t>
            </a:r>
          </a:p>
          <a:p>
            <a:r>
              <a:rPr lang="en-GB" dirty="0"/>
              <a:t>Collects information such as your IP address, browser, email client type and other similar details. We use this information to measure the performance of our email campaigns, and for analytics.</a:t>
            </a:r>
          </a:p>
        </p:txBody>
      </p:sp>
    </p:spTree>
    <p:extLst>
      <p:ext uri="{BB962C8B-B14F-4D97-AF65-F5344CB8AC3E}">
        <p14:creationId xmlns:p14="http://schemas.microsoft.com/office/powerpoint/2010/main" val="450968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F7DC-B0CD-1DC2-1010-CD59D09C8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Privacy and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55560-236F-5C5E-BFF9-F58F69956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 Privacy</a:t>
            </a:r>
          </a:p>
          <a:p>
            <a:pPr lvl="1"/>
            <a:r>
              <a:rPr lang="en-GB" dirty="0"/>
              <a:t>It is possible to opt out of marketing data collection through cookies</a:t>
            </a:r>
          </a:p>
          <a:p>
            <a:r>
              <a:rPr lang="en-GB" dirty="0"/>
              <a:t>Data protection</a:t>
            </a:r>
          </a:p>
          <a:p>
            <a:pPr lvl="1"/>
            <a:r>
              <a:rPr lang="en-GB" dirty="0"/>
              <a:t>No reference to encryption at rest of transit</a:t>
            </a:r>
          </a:p>
          <a:p>
            <a:pPr lvl="1"/>
            <a:r>
              <a:rPr lang="en-GB" dirty="0"/>
              <a:t>There is a risk as they engage 3</a:t>
            </a:r>
            <a:r>
              <a:rPr lang="en-GB" baseline="30000" dirty="0"/>
              <a:t>rd</a:t>
            </a:r>
            <a:r>
              <a:rPr lang="en-GB" dirty="0"/>
              <a:t> parties as part of the process to approve Loans, this is additional risk for how data is handled, is it encrypted at rest and in transit, access controls etc</a:t>
            </a:r>
          </a:p>
          <a:p>
            <a:pPr lvl="1"/>
            <a:r>
              <a:rPr lang="en-GB" dirty="0"/>
              <a:t>No reference of </a:t>
            </a:r>
            <a:r>
              <a:rPr lang="en-GB" b="1" dirty="0"/>
              <a:t>Pseudonymisation or Anonymisation</a:t>
            </a:r>
            <a:r>
              <a:rPr lang="en-GB" dirty="0"/>
              <a:t> to help protect data, particularly when third parties are involved.</a:t>
            </a:r>
          </a:p>
          <a:p>
            <a:endParaRPr lang="en-GB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462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89D2F-87C0-05A0-88DC-F64E8F3F7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2857976"/>
            <a:ext cx="3230880" cy="1142048"/>
          </a:xfrm>
        </p:spPr>
        <p:txBody>
          <a:bodyPr/>
          <a:lstStyle/>
          <a:p>
            <a:r>
              <a:rPr lang="en-GB" dirty="0"/>
              <a:t>Governance</a:t>
            </a:r>
          </a:p>
        </p:txBody>
      </p:sp>
    </p:spTree>
    <p:extLst>
      <p:ext uri="{BB962C8B-B14F-4D97-AF65-F5344CB8AC3E}">
        <p14:creationId xmlns:p14="http://schemas.microsoft.com/office/powerpoint/2010/main" val="1283186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60F35-AAAA-BD0D-66C8-2BF5B206D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A3E93-D06E-3B57-2F58-5C0AC516F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Customer privacy notice does not have an explicit  reference to GDPR or any GDPR articles contained in it.</a:t>
            </a:r>
          </a:p>
          <a:p>
            <a:r>
              <a:rPr lang="en-GB" dirty="0"/>
              <a:t>There is a single contact point always listed for many types of queries </a:t>
            </a:r>
            <a:r>
              <a:rPr lang="en-GB" dirty="0">
                <a:hlinkClick r:id="rId2"/>
              </a:rPr>
              <a:t>dpo@revolut.com</a:t>
            </a:r>
            <a:r>
              <a:rPr lang="en-GB" dirty="0"/>
              <a:t>. </a:t>
            </a:r>
          </a:p>
          <a:p>
            <a:pPr lvl="1"/>
            <a:r>
              <a:rPr lang="en-GB" dirty="0"/>
              <a:t>“Revolut has appointed a Data Protection Officer. Contact is available at </a:t>
            </a:r>
            <a:r>
              <a:rPr lang="en-GB" dirty="0">
                <a:hlinkClick r:id="rId2"/>
              </a:rPr>
              <a:t>dpo@revolut.com</a:t>
            </a:r>
            <a:r>
              <a:rPr lang="en-GB" dirty="0"/>
              <a:t>. “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5428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AB7FB-1682-5284-C54A-1BCCE1F43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Recommendatins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E8DEC-27A5-0852-344E-A67BEE3DA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Publication of an Ethical framework defining core company values and beliefs, that the company can use to help make informed decisions.</a:t>
            </a:r>
          </a:p>
          <a:p>
            <a:r>
              <a:rPr lang="en-GB" dirty="0"/>
              <a:t>More explicit references to GDPR and with stronger language around adherence to it.</a:t>
            </a:r>
          </a:p>
          <a:p>
            <a:r>
              <a:rPr lang="en-GB" dirty="0"/>
              <a:t>Explainability in the ML algorithm used in the Loan decision. Disclosure of more detail concerning the actual data processed during the Loan making decision.</a:t>
            </a:r>
          </a:p>
          <a:p>
            <a:r>
              <a:rPr lang="en-GB" dirty="0"/>
              <a:t>More explicit detail on the right to challenge a decision and more than a single email address ass a point of contact.</a:t>
            </a:r>
          </a:p>
          <a:p>
            <a:r>
              <a:rPr lang="en-GB" dirty="0"/>
              <a:t>Publication of user and regulator engagements, statistics, reports, on complaints, resolutions, investigations etc.</a:t>
            </a:r>
          </a:p>
        </p:txBody>
      </p:sp>
    </p:spTree>
    <p:extLst>
      <p:ext uri="{BB962C8B-B14F-4D97-AF65-F5344CB8AC3E}">
        <p14:creationId xmlns:p14="http://schemas.microsoft.com/office/powerpoint/2010/main" val="178086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2589</Words>
  <Application>Microsoft Office PowerPoint</Application>
  <PresentationFormat>Widescreen</PresentationFormat>
  <Paragraphs>216</Paragraphs>
  <Slides>21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Data Science Doman</vt:lpstr>
      <vt:lpstr>Revolut</vt:lpstr>
      <vt:lpstr>Product  / Service = Revolut Personal Loans</vt:lpstr>
      <vt:lpstr>PowerPoint Presentation</vt:lpstr>
      <vt:lpstr>Ethics</vt:lpstr>
      <vt:lpstr>Ethical Frameworks</vt:lpstr>
      <vt:lpstr>Culture : 5 Values  - 1 Mission</vt:lpstr>
      <vt:lpstr>Regulator engagement</vt:lpstr>
      <vt:lpstr>Risk Management</vt:lpstr>
      <vt:lpstr>Decision Making Principles</vt:lpstr>
      <vt:lpstr>Ethical frameworks</vt:lpstr>
      <vt:lpstr>First principles Test</vt:lpstr>
      <vt:lpstr>Privacy</vt:lpstr>
      <vt:lpstr>Revolut Privacy Statement</vt:lpstr>
      <vt:lpstr>Data Collected</vt:lpstr>
      <vt:lpstr>Redress and complaint</vt:lpstr>
      <vt:lpstr>Cookies</vt:lpstr>
      <vt:lpstr>Data Privacy and Protection</vt:lpstr>
      <vt:lpstr>Governance</vt:lpstr>
      <vt:lpstr>Governance</vt:lpstr>
      <vt:lpstr>Recommendatins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Eamonn Kelly</dc:creator>
  <cp:lastModifiedBy>Eamonn Kelly</cp:lastModifiedBy>
  <cp:revision>101</cp:revision>
  <dcterms:created xsi:type="dcterms:W3CDTF">2026-03-09T02:21:30Z</dcterms:created>
  <dcterms:modified xsi:type="dcterms:W3CDTF">2026-03-09T07:19:18Z</dcterms:modified>
</cp:coreProperties>
</file>